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handoutMasterIdLst>
    <p:handoutMasterId r:id="rId29"/>
  </p:handoutMasterIdLst>
  <p:sldIdLst>
    <p:sldId id="273" r:id="rId5"/>
    <p:sldId id="277" r:id="rId6"/>
    <p:sldId id="302" r:id="rId7"/>
    <p:sldId id="280" r:id="rId8"/>
    <p:sldId id="281" r:id="rId9"/>
    <p:sldId id="284" r:id="rId10"/>
    <p:sldId id="301" r:id="rId11"/>
    <p:sldId id="303" r:id="rId12"/>
    <p:sldId id="304" r:id="rId13"/>
    <p:sldId id="305" r:id="rId14"/>
    <p:sldId id="311" r:id="rId15"/>
    <p:sldId id="306" r:id="rId16"/>
    <p:sldId id="307" r:id="rId17"/>
    <p:sldId id="312" r:id="rId18"/>
    <p:sldId id="308" r:id="rId19"/>
    <p:sldId id="309" r:id="rId20"/>
    <p:sldId id="279" r:id="rId21"/>
    <p:sldId id="294" r:id="rId22"/>
    <p:sldId id="276" r:id="rId23"/>
    <p:sldId id="295" r:id="rId24"/>
    <p:sldId id="310" r:id="rId25"/>
    <p:sldId id="300" r:id="rId26"/>
    <p:sldId id="297" r:id="rId27"/>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224" userDrawn="1">
          <p15:clr>
            <a:srgbClr val="A4A3A4"/>
          </p15:clr>
        </p15:guide>
        <p15:guide id="3" pos="7368" userDrawn="1">
          <p15:clr>
            <a:srgbClr val="A4A3A4"/>
          </p15:clr>
        </p15:guide>
        <p15:guide id="4" pos="312" userDrawn="1">
          <p15:clr>
            <a:srgbClr val="A4A3A4"/>
          </p15:clr>
        </p15:guide>
        <p15:guide id="6" orient="horz" pos="2856" userDrawn="1">
          <p15:clr>
            <a:srgbClr val="A4A3A4"/>
          </p15:clr>
        </p15:guide>
        <p15:guide id="7" pos="5928" userDrawn="1">
          <p15:clr>
            <a:srgbClr val="A4A3A4"/>
          </p15:clr>
        </p15:guide>
        <p15:guide id="8" pos="6168" userDrawn="1">
          <p15:clr>
            <a:srgbClr val="A4A3A4"/>
          </p15:clr>
        </p15:guide>
        <p15:guide id="9" pos="1512" userDrawn="1">
          <p15:clr>
            <a:srgbClr val="A4A3A4"/>
          </p15:clr>
        </p15:guide>
        <p15:guide id="10" orient="horz" pos="264" userDrawn="1">
          <p15:clr>
            <a:srgbClr val="A4A3A4"/>
          </p15:clr>
        </p15:guide>
        <p15:guide id="11" pos="2496" userDrawn="1">
          <p15:clr>
            <a:srgbClr val="A4A3A4"/>
          </p15:clr>
        </p15:guide>
        <p15:guide id="12" pos="2688" userDrawn="1">
          <p15:clr>
            <a:srgbClr val="A4A3A4"/>
          </p15:clr>
        </p15:guide>
        <p15:guide id="13" pos="4536" userDrawn="1">
          <p15:clr>
            <a:srgbClr val="A4A3A4"/>
          </p15:clr>
        </p15:guide>
        <p15:guide id="14" pos="4008" userDrawn="1">
          <p15:clr>
            <a:srgbClr val="A4A3A4"/>
          </p15:clr>
        </p15:guide>
        <p15:guide id="15" pos="4944" userDrawn="1">
          <p15:clr>
            <a:srgbClr val="A4A3A4"/>
          </p15:clr>
        </p15:guide>
        <p15:guide id="16" pos="5136" userDrawn="1">
          <p15:clr>
            <a:srgbClr val="A4A3A4"/>
          </p15:clr>
        </p15:guide>
        <p15:guide id="17" orient="horz" pos="1584" userDrawn="1">
          <p15:clr>
            <a:srgbClr val="A4A3A4"/>
          </p15:clr>
        </p15:guide>
        <p15:guide id="18" orient="horz" pos="2736" userDrawn="1">
          <p15:clr>
            <a:srgbClr val="A4A3A4"/>
          </p15:clr>
        </p15:guide>
        <p15:guide id="19" orient="horz" pos="3648" userDrawn="1">
          <p15:clr>
            <a:srgbClr val="A4A3A4"/>
          </p15:clr>
        </p15:guide>
        <p15:guide id="20" orient="horz" pos="864" userDrawn="1">
          <p15:clr>
            <a:srgbClr val="A4A3A4"/>
          </p15:clr>
        </p15:guide>
        <p15:guide id="21" orient="horz" pos="3984" userDrawn="1">
          <p15:clr>
            <a:srgbClr val="A4A3A4"/>
          </p15:clr>
        </p15:guide>
        <p15:guide id="22" pos="456" userDrawn="1">
          <p15:clr>
            <a:srgbClr val="A4A3A4"/>
          </p15:clr>
        </p15:guide>
        <p15:guide id="23" pos="7248" userDrawn="1">
          <p15:clr>
            <a:srgbClr val="A4A3A4"/>
          </p15:clr>
        </p15:guide>
        <p15:guide id="24" orient="horz" pos="1920" userDrawn="1">
          <p15:clr>
            <a:srgbClr val="A4A3A4"/>
          </p15:clr>
        </p15:guide>
        <p15:guide id="25" orient="horz" pos="2256" userDrawn="1">
          <p15:clr>
            <a:srgbClr val="A4A3A4"/>
          </p15:clr>
        </p15:guide>
        <p15:guide id="26" pos="7176" userDrawn="1">
          <p15:clr>
            <a:srgbClr val="A4A3A4"/>
          </p15:clr>
        </p15:guide>
        <p15:guide id="27" orient="horz" pos="1704" userDrawn="1">
          <p15:clr>
            <a:srgbClr val="A4A3A4"/>
          </p15:clr>
        </p15:guide>
        <p15:guide id="28" pos="4176" userDrawn="1">
          <p15:clr>
            <a:srgbClr val="A4A3A4"/>
          </p15:clr>
        </p15:guide>
        <p15:guide id="29" orient="horz" pos="2592" userDrawn="1">
          <p15:clr>
            <a:srgbClr val="A4A3A4"/>
          </p15:clr>
        </p15:guide>
        <p15:guide id="30" pos="6912" userDrawn="1">
          <p15:clr>
            <a:srgbClr val="A4A3A4"/>
          </p15:clr>
        </p15:guide>
        <p15:guide id="31" pos="355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8284"/>
    <a:srgbClr val="D8BEB2"/>
    <a:srgbClr val="753F2D"/>
    <a:srgbClr val="5E3324"/>
    <a:srgbClr val="8A4C34"/>
    <a:srgbClr val="815550"/>
    <a:srgbClr val="A3573E"/>
    <a:srgbClr val="E7E6E6"/>
    <a:srgbClr val="C28D6D"/>
    <a:srgbClr val="D298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82"/>
    <p:restoredTop sz="96327"/>
  </p:normalViewPr>
  <p:slideViewPr>
    <p:cSldViewPr snapToGrid="0">
      <p:cViewPr varScale="1">
        <p:scale>
          <a:sx n="84" d="100"/>
          <a:sy n="84" d="100"/>
        </p:scale>
        <p:origin x="318" y="54"/>
      </p:cViewPr>
      <p:guideLst>
        <p:guide orient="horz" pos="1224"/>
        <p:guide pos="7368"/>
        <p:guide pos="312"/>
        <p:guide orient="horz" pos="2856"/>
        <p:guide pos="5928"/>
        <p:guide pos="6168"/>
        <p:guide pos="1512"/>
        <p:guide orient="horz" pos="264"/>
        <p:guide pos="2496"/>
        <p:guide pos="2688"/>
        <p:guide pos="4536"/>
        <p:guide pos="4008"/>
        <p:guide pos="4944"/>
        <p:guide pos="5136"/>
        <p:guide orient="horz" pos="1584"/>
        <p:guide orient="horz" pos="2736"/>
        <p:guide orient="horz" pos="3648"/>
        <p:guide orient="horz" pos="864"/>
        <p:guide orient="horz" pos="3984"/>
        <p:guide pos="456"/>
        <p:guide pos="7248"/>
        <p:guide orient="horz" pos="1920"/>
        <p:guide orient="horz" pos="2256"/>
        <p:guide pos="7176"/>
        <p:guide orient="horz" pos="1704"/>
        <p:guide pos="4176"/>
        <p:guide orient="horz" pos="2592"/>
        <p:guide pos="6912"/>
        <p:guide pos="3552"/>
      </p:guideLst>
    </p:cSldViewPr>
  </p:slideViewPr>
  <p:notesTextViewPr>
    <p:cViewPr>
      <p:scale>
        <a:sx n="1" d="1"/>
        <a:sy n="1" d="1"/>
      </p:scale>
      <p:origin x="0" y="0"/>
    </p:cViewPr>
  </p:notesText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UTOSH KAR" userId="62d58b8dd1f5f27d" providerId="LiveId" clId="{02F0863D-18FC-4DAC-AB78-C7F77E1AD674}"/>
    <pc:docChg chg="custSel modSld">
      <pc:chgData name="ASHUTOSH KAR" userId="62d58b8dd1f5f27d" providerId="LiveId" clId="{02F0863D-18FC-4DAC-AB78-C7F77E1AD674}" dt="2026-09-25T01:20:51.895" v="4" actId="14100"/>
      <pc:docMkLst>
        <pc:docMk/>
      </pc:docMkLst>
      <pc:sldChg chg="addSp delSp modSp mod">
        <pc:chgData name="ASHUTOSH KAR" userId="62d58b8dd1f5f27d" providerId="LiveId" clId="{02F0863D-18FC-4DAC-AB78-C7F77E1AD674}" dt="2026-09-25T01:20:51.895" v="4" actId="14100"/>
        <pc:sldMkLst>
          <pc:docMk/>
          <pc:sldMk cId="2279016110" sldId="310"/>
        </pc:sldMkLst>
        <pc:picChg chg="add mod">
          <ac:chgData name="ASHUTOSH KAR" userId="62d58b8dd1f5f27d" providerId="LiveId" clId="{02F0863D-18FC-4DAC-AB78-C7F77E1AD674}" dt="2026-09-25T01:20:51.895" v="4" actId="14100"/>
          <ac:picMkLst>
            <pc:docMk/>
            <pc:sldMk cId="2279016110" sldId="310"/>
            <ac:picMk id="4" creationId="{6E1B23A3-D1D2-37FC-8647-432BD59C8EA3}"/>
          </ac:picMkLst>
        </pc:picChg>
        <pc:picChg chg="del">
          <ac:chgData name="ASHUTOSH KAR" userId="62d58b8dd1f5f27d" providerId="LiveId" clId="{02F0863D-18FC-4DAC-AB78-C7F77E1AD674}" dt="2026-09-25T01:20:30.673" v="0" actId="478"/>
          <ac:picMkLst>
            <pc:docMk/>
            <pc:sldMk cId="2279016110" sldId="310"/>
            <ac:picMk id="5" creationId="{83ADEF3F-C1D3-C28F-BAD1-FCE740363DDB}"/>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62d58b8dd1f5f27d/Desktop/IT%20TICKET%20ANALYSIS_PROJECT%20DATA_NS%20AFTER%20FEEDBAC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Chrome%20Download\IT%20TICKET%20ANALYSIS_PROJECT%20DATA_N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Chrome%20Download\IT%20TICKET%20ANALYSIS_PROJECT%20DATA_N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Chrome%20Download\IT%20TICKET%20ANALYSIS_PROJECT%20DATA_N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62d58b8dd1f5f27d/Desktop/IT%20TICKET%20ANALYSIS_PROJECT%20DATA_NS%20AFTER%20FEEDBACK.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Chrome%20Download\IT%20TICKET%20ANALYSIS_PROJECT%20DATA_N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Chrome%20Download\IT%20TICKET%20ANALYSIS_PROJECT%20DATA_N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62d58b8dd1f5f27d/Desktop/IT%20TICKET%20ANALYSIS_PROJECT%20DATA_NS%20AFTER%20FEEDBACK.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D:\Chrome%20Download\IT%20TICKET%20ANALYSIS_PROJECT%20DATA_N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D:\Chrome%20Download\IT%20TICKET%20ANALYSIS_PROJECT%20DATA_NS.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ANALYSIS_PROJECT DATA_NS AFTER FEEDBACK.xlsx] Q&amp;A!YEAR WISE TICKET COUNT</c:name>
    <c:fmtId val="17"/>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u="sng"/>
              <a:t>YEAR WISE TICKET COUNT</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9.1064869341580396E-2"/>
          <c:y val="0.21257895182457032"/>
          <c:w val="0.83009835654696384"/>
          <c:h val="0.54791296249259169"/>
        </c:manualLayout>
      </c:layout>
      <c:barChart>
        <c:barDir val="col"/>
        <c:grouping val="clustered"/>
        <c:varyColors val="0"/>
        <c:ser>
          <c:idx val="0"/>
          <c:order val="0"/>
          <c:tx>
            <c:strRef>
              <c:f>' Q&amp;A'!$E$74</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multiLvlStrRef>
              <c:f>' Q&amp;A'!$B$75:$D$100</c:f>
              <c:multiLvlStrCache>
                <c:ptCount val="20"/>
                <c:lvl>
                  <c:pt idx="0">
                    <c:v>Qtr1</c:v>
                  </c:pt>
                  <c:pt idx="1">
                    <c:v>Qtr2</c:v>
                  </c:pt>
                  <c:pt idx="2">
                    <c:v>Qtr3</c:v>
                  </c:pt>
                  <c:pt idx="3">
                    <c:v>Qtr4</c:v>
                  </c:pt>
                  <c:pt idx="4">
                    <c:v>Qtr1</c:v>
                  </c:pt>
                  <c:pt idx="5">
                    <c:v>Qtr2</c:v>
                  </c:pt>
                  <c:pt idx="6">
                    <c:v>Qtr3</c:v>
                  </c:pt>
                  <c:pt idx="7">
                    <c:v>Qtr4</c:v>
                  </c:pt>
                  <c:pt idx="8">
                    <c:v>Qtr1</c:v>
                  </c:pt>
                  <c:pt idx="9">
                    <c:v>Qtr2</c:v>
                  </c:pt>
                  <c:pt idx="10">
                    <c:v>Qtr3</c:v>
                  </c:pt>
                  <c:pt idx="11">
                    <c:v>Qtr4</c:v>
                  </c:pt>
                  <c:pt idx="12">
                    <c:v>Qtr1</c:v>
                  </c:pt>
                  <c:pt idx="13">
                    <c:v>Qtr2</c:v>
                  </c:pt>
                  <c:pt idx="14">
                    <c:v>Qtr3</c:v>
                  </c:pt>
                  <c:pt idx="15">
                    <c:v>Qtr4</c:v>
                  </c:pt>
                  <c:pt idx="16">
                    <c:v>Qtr1</c:v>
                  </c:pt>
                  <c:pt idx="17">
                    <c:v>Qtr2</c:v>
                  </c:pt>
                  <c:pt idx="18">
                    <c:v>Qtr3</c:v>
                  </c:pt>
                  <c:pt idx="19">
                    <c:v>Qtr4</c:v>
                  </c:pt>
                </c:lvl>
                <c:lvl>
                  <c:pt idx="0">
                    <c:v>2016</c:v>
                  </c:pt>
                  <c:pt idx="4">
                    <c:v>2017</c:v>
                  </c:pt>
                  <c:pt idx="8">
                    <c:v>2018</c:v>
                  </c:pt>
                  <c:pt idx="12">
                    <c:v>2019</c:v>
                  </c:pt>
                  <c:pt idx="16">
                    <c:v>2020</c:v>
                  </c:pt>
                </c:lvl>
              </c:multiLvlStrCache>
            </c:multiLvlStrRef>
          </c:cat>
          <c:val>
            <c:numRef>
              <c:f>' Q&amp;A'!$E$75:$E$100</c:f>
              <c:numCache>
                <c:formatCode>General</c:formatCode>
                <c:ptCount val="20"/>
                <c:pt idx="0">
                  <c:v>3276</c:v>
                </c:pt>
                <c:pt idx="1">
                  <c:v>3265</c:v>
                </c:pt>
                <c:pt idx="2">
                  <c:v>3252</c:v>
                </c:pt>
                <c:pt idx="3">
                  <c:v>3258</c:v>
                </c:pt>
                <c:pt idx="4">
                  <c:v>3559</c:v>
                </c:pt>
                <c:pt idx="5">
                  <c:v>3834</c:v>
                </c:pt>
                <c:pt idx="6">
                  <c:v>3717</c:v>
                </c:pt>
                <c:pt idx="7">
                  <c:v>3805</c:v>
                </c:pt>
                <c:pt idx="8">
                  <c:v>4266</c:v>
                </c:pt>
                <c:pt idx="9">
                  <c:v>4936</c:v>
                </c:pt>
                <c:pt idx="10">
                  <c:v>4927</c:v>
                </c:pt>
                <c:pt idx="11">
                  <c:v>4825</c:v>
                </c:pt>
                <c:pt idx="12">
                  <c:v>5114</c:v>
                </c:pt>
                <c:pt idx="13">
                  <c:v>5152</c:v>
                </c:pt>
                <c:pt idx="14">
                  <c:v>5646</c:v>
                </c:pt>
                <c:pt idx="15">
                  <c:v>5578</c:v>
                </c:pt>
                <c:pt idx="16">
                  <c:v>7156</c:v>
                </c:pt>
                <c:pt idx="17">
                  <c:v>7012</c:v>
                </c:pt>
                <c:pt idx="18">
                  <c:v>7236</c:v>
                </c:pt>
                <c:pt idx="19">
                  <c:v>7684</c:v>
                </c:pt>
              </c:numCache>
            </c:numRef>
          </c:val>
          <c:extLst>
            <c:ext xmlns:c16="http://schemas.microsoft.com/office/drawing/2014/chart" uri="{C3380CC4-5D6E-409C-BE32-E72D297353CC}">
              <c16:uniqueId val="{00000000-A417-43B5-9B9D-04B9CDEDDB41}"/>
            </c:ext>
          </c:extLst>
        </c:ser>
        <c:dLbls>
          <c:showLegendKey val="0"/>
          <c:showVal val="0"/>
          <c:showCatName val="0"/>
          <c:showSerName val="0"/>
          <c:showPercent val="0"/>
          <c:showBubbleSize val="0"/>
        </c:dLbls>
        <c:gapWidth val="100"/>
        <c:overlap val="-24"/>
        <c:axId val="718379423"/>
        <c:axId val="718369823"/>
      </c:barChart>
      <c:catAx>
        <c:axId val="71837942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18369823"/>
        <c:crosses val="autoZero"/>
        <c:auto val="1"/>
        <c:lblAlgn val="ctr"/>
        <c:lblOffset val="100"/>
        <c:noMultiLvlLbl val="0"/>
      </c:catAx>
      <c:valAx>
        <c:axId val="718369823"/>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18379423"/>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9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ANALYSIS_PROJECT DATA_NS.xlsx]SUBJECTIVE QUESTIONS!PivotTable1</c:name>
    <c:fmtId val="21"/>
  </c:pivotSource>
  <c:chart>
    <c:title>
      <c:tx>
        <c:rich>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Count of Tickets By</a:t>
            </a:r>
            <a:r>
              <a:rPr lang="en-US" baseline="0" dirty="0"/>
              <a:t> </a:t>
            </a:r>
            <a:r>
              <a:rPr lang="en-US" dirty="0"/>
              <a:t>Request Category</a:t>
            </a:r>
          </a:p>
        </c:rich>
      </c:tx>
      <c:overlay val="0"/>
      <c:spPr>
        <a:noFill/>
        <a:ln>
          <a:noFill/>
        </a:ln>
        <a:effectLst/>
      </c:spPr>
      <c:txPr>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94513164373738"/>
          <c:y val="0.10311338568753572"/>
          <c:w val="0.8452210696074316"/>
          <c:h val="0.74429684959060782"/>
        </c:manualLayout>
      </c:layout>
      <c:barChart>
        <c:barDir val="col"/>
        <c:grouping val="clustered"/>
        <c:varyColors val="0"/>
        <c:ser>
          <c:idx val="0"/>
          <c:order val="0"/>
          <c:tx>
            <c:strRef>
              <c:f>'SUBJECTIVE QUESTIONS'!$B$4</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'SUBJECTIVE QUESTIONS'!$A$5:$A$9</c:f>
              <c:strCache>
                <c:ptCount val="4"/>
                <c:pt idx="0">
                  <c:v>Hardware</c:v>
                </c:pt>
                <c:pt idx="1">
                  <c:v>Login Access</c:v>
                </c:pt>
                <c:pt idx="2">
                  <c:v>Software</c:v>
                </c:pt>
                <c:pt idx="3">
                  <c:v>System</c:v>
                </c:pt>
              </c:strCache>
            </c:strRef>
          </c:cat>
          <c:val>
            <c:numRef>
              <c:f>'SUBJECTIVE QUESTIONS'!$B$5:$B$9</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0-55AC-4336-938E-7116DCA6C3C9}"/>
            </c:ext>
          </c:extLst>
        </c:ser>
        <c:dLbls>
          <c:showLegendKey val="0"/>
          <c:showVal val="0"/>
          <c:showCatName val="0"/>
          <c:showSerName val="0"/>
          <c:showPercent val="0"/>
          <c:showBubbleSize val="0"/>
        </c:dLbls>
        <c:gapWidth val="100"/>
        <c:overlap val="-24"/>
        <c:axId val="370589408"/>
        <c:axId val="370581248"/>
      </c:barChart>
      <c:catAx>
        <c:axId val="370589408"/>
        <c:scaling>
          <c:orientation val="minMax"/>
        </c:scaling>
        <c:delete val="0"/>
        <c:axPos val="b"/>
        <c:numFmt formatCode="General" sourceLinked="1"/>
        <c:majorTickMark val="out"/>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370581248"/>
        <c:crosses val="autoZero"/>
        <c:auto val="1"/>
        <c:lblAlgn val="ctr"/>
        <c:lblOffset val="100"/>
        <c:noMultiLvlLbl val="0"/>
      </c:catAx>
      <c:valAx>
        <c:axId val="370581248"/>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370589408"/>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4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w="57150">
      <a:solidFill>
        <a:srgbClr val="0070C0"/>
      </a:solidFill>
    </a:ln>
    <a:effectLst/>
  </c:spPr>
  <c:txPr>
    <a:bodyPr/>
    <a:lstStyle/>
    <a:p>
      <a:pPr>
        <a:defRPr sz="1400" baseline="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ANALYSIS_PROJECT DATA_NS.xlsx]SUBJECTIVE QUESTIONS!PivotTable13</c:name>
    <c:fmtId val="65"/>
  </c:pivotSource>
  <c:chart>
    <c:title>
      <c:tx>
        <c:rich>
          <a:bodyPr rot="0" spcFirstLastPara="1" vertOverflow="ellipsis" vert="horz" wrap="square" anchor="ctr" anchorCtr="1"/>
          <a:lstStyle/>
          <a:p>
            <a:pPr>
              <a:defRPr sz="1680" b="1" i="0" u="none" strike="noStrike" kern="1200" spc="100" baseline="0">
                <a:ln w="6350">
                  <a:solidFill>
                    <a:schemeClr val="bg1"/>
                  </a:solidFill>
                </a:ln>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Ticket Volume by Resolution Time</a:t>
            </a:r>
          </a:p>
        </c:rich>
      </c:tx>
      <c:layout>
        <c:manualLayout>
          <c:xMode val="edge"/>
          <c:yMode val="edge"/>
          <c:x val="0.22178120844473165"/>
          <c:y val="2.1337168240623879E-2"/>
        </c:manualLayout>
      </c:layout>
      <c:overlay val="0"/>
      <c:spPr>
        <a:noFill/>
        <a:ln>
          <a:noFill/>
        </a:ln>
        <a:effectLst/>
      </c:spPr>
      <c:txPr>
        <a:bodyPr rot="0" spcFirstLastPara="1" vertOverflow="ellipsis" vert="horz" wrap="square" anchor="ctr" anchorCtr="1"/>
        <a:lstStyle/>
        <a:p>
          <a:pPr>
            <a:defRPr sz="1680" b="1" i="0" u="none" strike="noStrike" kern="1200" spc="100" baseline="0">
              <a:ln w="6350">
                <a:solidFill>
                  <a:schemeClr val="bg1"/>
                </a:solidFill>
              </a:ln>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'SUBJECTIVE QUESTIONS'!$B$261</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'SUBJECTIVE QUESTIONS'!$A$262:$A$265</c:f>
              <c:strCache>
                <c:ptCount val="3"/>
                <c:pt idx="0">
                  <c:v>0-9</c:v>
                </c:pt>
                <c:pt idx="1">
                  <c:v>10-19</c:v>
                </c:pt>
                <c:pt idx="2">
                  <c:v>20-29</c:v>
                </c:pt>
              </c:strCache>
            </c:strRef>
          </c:cat>
          <c:val>
            <c:numRef>
              <c:f>'SUBJECTIVE QUESTIONS'!$B$262:$B$265</c:f>
              <c:numCache>
                <c:formatCode>General</c:formatCode>
                <c:ptCount val="3"/>
                <c:pt idx="0">
                  <c:v>83695</c:v>
                </c:pt>
                <c:pt idx="1">
                  <c:v>13799</c:v>
                </c:pt>
                <c:pt idx="2">
                  <c:v>4</c:v>
                </c:pt>
              </c:numCache>
            </c:numRef>
          </c:val>
          <c:extLst>
            <c:ext xmlns:c16="http://schemas.microsoft.com/office/drawing/2014/chart" uri="{C3380CC4-5D6E-409C-BE32-E72D297353CC}">
              <c16:uniqueId val="{00000000-FB06-4DE5-9DC9-7BF795B7F06A}"/>
            </c:ext>
          </c:extLst>
        </c:ser>
        <c:dLbls>
          <c:showLegendKey val="0"/>
          <c:showVal val="0"/>
          <c:showCatName val="0"/>
          <c:showSerName val="0"/>
          <c:showPercent val="0"/>
          <c:showBubbleSize val="0"/>
        </c:dLbls>
        <c:gapWidth val="100"/>
        <c:axId val="1685272527"/>
        <c:axId val="1685274447"/>
      </c:barChart>
      <c:catAx>
        <c:axId val="1685272527"/>
        <c:scaling>
          <c:orientation val="minMax"/>
        </c:scaling>
        <c:delete val="0"/>
        <c:axPos val="b"/>
        <c:title>
          <c:tx>
            <c:rich>
              <a:bodyPr rot="0" spcFirstLastPara="1" vertOverflow="ellipsis" vert="horz" wrap="square" anchor="ctr" anchorCtr="1"/>
              <a:lstStyle/>
              <a:p>
                <a:pPr>
                  <a:defRPr sz="1400" b="1" i="0" u="none" strike="noStrike" kern="1200" cap="all" baseline="0">
                    <a:ln w="6350">
                      <a:solidFill>
                        <a:schemeClr val="bg1"/>
                      </a:solidFill>
                    </a:ln>
                    <a:solidFill>
                      <a:schemeClr val="lt1">
                        <a:lumMod val="85000"/>
                      </a:schemeClr>
                    </a:solidFill>
                    <a:latin typeface="+mn-lt"/>
                    <a:ea typeface="+mn-ea"/>
                    <a:cs typeface="+mn-cs"/>
                  </a:defRPr>
                </a:pPr>
                <a:r>
                  <a:rPr lang="en-US"/>
                  <a:t>RESOLUTION DAYS</a:t>
                </a:r>
              </a:p>
            </c:rich>
          </c:tx>
          <c:layout>
            <c:manualLayout>
              <c:xMode val="edge"/>
              <c:yMode val="edge"/>
              <c:x val="0.38019023540717561"/>
              <c:y val="0.95001978717302071"/>
            </c:manualLayout>
          </c:layout>
          <c:overlay val="0"/>
          <c:spPr>
            <a:noFill/>
            <a:ln>
              <a:noFill/>
            </a:ln>
            <a:effectLst/>
          </c:spPr>
          <c:txPr>
            <a:bodyPr rot="0" spcFirstLastPara="1" vertOverflow="ellipsis" vert="horz" wrap="square" anchor="ctr" anchorCtr="1"/>
            <a:lstStyle/>
            <a:p>
              <a:pPr>
                <a:defRPr sz="1400" b="1" i="0" u="none" strike="noStrike" kern="1200" cap="all" baseline="0">
                  <a:ln w="6350">
                    <a:solidFill>
                      <a:schemeClr val="bg1"/>
                    </a:solidFill>
                  </a:ln>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400" b="0" i="0" u="none" strike="noStrike" kern="1200" baseline="0">
                <a:ln w="6350">
                  <a:solidFill>
                    <a:schemeClr val="bg1"/>
                  </a:solidFill>
                </a:ln>
                <a:solidFill>
                  <a:schemeClr val="lt1">
                    <a:lumMod val="85000"/>
                  </a:schemeClr>
                </a:solidFill>
                <a:latin typeface="+mn-lt"/>
                <a:ea typeface="+mn-ea"/>
                <a:cs typeface="+mn-cs"/>
              </a:defRPr>
            </a:pPr>
            <a:endParaRPr lang="en-US"/>
          </a:p>
        </c:txPr>
        <c:crossAx val="1685274447"/>
        <c:crosses val="autoZero"/>
        <c:auto val="1"/>
        <c:lblAlgn val="ctr"/>
        <c:lblOffset val="100"/>
        <c:noMultiLvlLbl val="0"/>
      </c:catAx>
      <c:valAx>
        <c:axId val="1685274447"/>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400" b="1" i="0" u="none" strike="noStrike" kern="1200" cap="all" baseline="0">
                    <a:ln w="6350">
                      <a:solidFill>
                        <a:schemeClr val="bg1"/>
                      </a:solidFill>
                    </a:ln>
                    <a:solidFill>
                      <a:schemeClr val="lt1">
                        <a:lumMod val="85000"/>
                      </a:schemeClr>
                    </a:solidFill>
                    <a:latin typeface="+mn-lt"/>
                    <a:ea typeface="+mn-ea"/>
                    <a:cs typeface="+mn-cs"/>
                  </a:defRPr>
                </a:pPr>
                <a:r>
                  <a:rPr lang="en-US" sz="1800" dirty="0">
                    <a:latin typeface="Calibri" panose="020F0502020204030204" pitchFamily="34" charset="0"/>
                    <a:ea typeface="Calibri" panose="020F0502020204030204" pitchFamily="34" charset="0"/>
                    <a:cs typeface="Calibri" panose="020F0502020204030204" pitchFamily="34" charset="0"/>
                  </a:rPr>
                  <a:t>CONT OF TICKET</a:t>
                </a:r>
              </a:p>
            </c:rich>
          </c:tx>
          <c:layout>
            <c:manualLayout>
              <c:xMode val="edge"/>
              <c:yMode val="edge"/>
              <c:x val="4.5055133565930338E-3"/>
              <c:y val="0.32758368973712698"/>
            </c:manualLayout>
          </c:layout>
          <c:overlay val="0"/>
          <c:spPr>
            <a:noFill/>
            <a:ln>
              <a:noFill/>
            </a:ln>
            <a:effectLst/>
          </c:spPr>
          <c:txPr>
            <a:bodyPr rot="-5400000" spcFirstLastPara="1" vertOverflow="ellipsis" vert="horz" wrap="square" anchor="ctr" anchorCtr="1"/>
            <a:lstStyle/>
            <a:p>
              <a:pPr>
                <a:defRPr sz="1400" b="1" i="0" u="none" strike="noStrike" kern="1200" cap="all" baseline="0">
                  <a:ln w="6350">
                    <a:solidFill>
                      <a:schemeClr val="bg1"/>
                    </a:solidFill>
                  </a:ln>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ln w="6350">
                  <a:solidFill>
                    <a:schemeClr val="bg1"/>
                  </a:solidFill>
                </a:ln>
                <a:solidFill>
                  <a:schemeClr val="lt1">
                    <a:lumMod val="85000"/>
                  </a:schemeClr>
                </a:solidFill>
                <a:latin typeface="+mn-lt"/>
                <a:ea typeface="+mn-ea"/>
                <a:cs typeface="+mn-cs"/>
              </a:defRPr>
            </a:pPr>
            <a:endParaRPr lang="en-US"/>
          </a:p>
        </c:txPr>
        <c:crossAx val="1685272527"/>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400" b="0" i="0" u="none" strike="noStrike" kern="1200" baseline="0">
                <a:ln w="6350">
                  <a:solidFill>
                    <a:schemeClr val="bg1"/>
                  </a:solidFill>
                </a:ln>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w="47625">
      <a:solidFill>
        <a:srgbClr val="00B050"/>
      </a:solidFill>
    </a:ln>
    <a:effectLst/>
  </c:spPr>
  <c:txPr>
    <a:bodyPr/>
    <a:lstStyle/>
    <a:p>
      <a:pPr>
        <a:defRPr sz="1400" baseline="0">
          <a:ln w="6350">
            <a:solidFill>
              <a:schemeClr val="bg1"/>
            </a:solidFill>
          </a:ln>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ANALYSIS_PROJECT DATA_NS.xlsx]SUBJECTIVE QUESTIONS!PivotTable8</c:name>
    <c:fmtId val="79"/>
  </c:pivotSource>
  <c:chart>
    <c:title>
      <c:tx>
        <c:rich>
          <a:bodyPr rot="0" spcFirstLastPara="1" vertOverflow="ellipsis" vert="horz" wrap="square" anchor="ctr" anchorCtr="1"/>
          <a:lstStyle/>
          <a:p>
            <a:pPr>
              <a:defRPr sz="1400" b="1" i="0" u="none" strike="noStrike" kern="1200" cap="none" baseline="0">
                <a:ln w="3175">
                  <a:solidFill>
                    <a:schemeClr val="accent4"/>
                  </a:solidFill>
                </a:ln>
                <a:solidFill>
                  <a:schemeClr val="lt1">
                    <a:lumMod val="85000"/>
                  </a:schemeClr>
                </a:solidFill>
                <a:latin typeface="+mn-lt"/>
                <a:ea typeface="+mn-ea"/>
                <a:cs typeface="+mn-cs"/>
              </a:defRPr>
            </a:pPr>
            <a:r>
              <a:rPr lang="en-US"/>
              <a:t>Satisfaction Rate over</a:t>
            </a:r>
            <a:r>
              <a:rPr lang="en-US" baseline="0"/>
              <a:t> Years.</a:t>
            </a:r>
            <a:endParaRPr lang="en-US"/>
          </a:p>
        </c:rich>
      </c:tx>
      <c:overlay val="0"/>
      <c:spPr>
        <a:noFill/>
        <a:ln>
          <a:noFill/>
        </a:ln>
        <a:effectLst/>
      </c:spPr>
      <c:txPr>
        <a:bodyPr rot="0" spcFirstLastPara="1" vertOverflow="ellipsis" vert="horz" wrap="square" anchor="ctr" anchorCtr="1"/>
        <a:lstStyle/>
        <a:p>
          <a:pPr>
            <a:defRPr sz="1400" b="1" i="0" u="none" strike="noStrike" kern="1200" cap="none" baseline="0">
              <a:ln w="3175">
                <a:solidFill>
                  <a:schemeClr val="accent4"/>
                </a:solidFill>
              </a:ln>
              <a:solidFill>
                <a:schemeClr val="lt1">
                  <a:lumMod val="85000"/>
                </a:schemeClr>
              </a:solidFill>
              <a:latin typeface="+mn-lt"/>
              <a:ea typeface="+mn-ea"/>
              <a:cs typeface="+mn-cs"/>
            </a:defRPr>
          </a:pPr>
          <a:endParaRPr lang="en-US"/>
        </a:p>
      </c:txPr>
    </c:title>
    <c:autoTitleDeleted val="0"/>
    <c:pivotFmts>
      <c:pivotFmt>
        <c:idx val="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3175">
                    <a:solidFill>
                      <a:schemeClr val="accent4"/>
                    </a:solidFill>
                  </a:ln>
                  <a:solidFill>
                    <a:schemeClr val="lt1">
                      <a:lumMod val="7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layout>
            <c:manualLayout>
              <c:x val="-8.0170470663099055E-2"/>
              <c:y val="-6.865664519207834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3175">
                    <a:solidFill>
                      <a:schemeClr val="accent4"/>
                    </a:solidFill>
                  </a:ln>
                  <a:solidFill>
                    <a:schemeClr val="lt1">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3175">
                    <a:solidFill>
                      <a:schemeClr val="accent4"/>
                    </a:solidFill>
                  </a:ln>
                  <a:solidFill>
                    <a:schemeClr val="lt1">
                      <a:lumMod val="7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layout>
            <c:manualLayout>
              <c:x val="-8.0170470663099055E-2"/>
              <c:y val="-6.865664519207834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3175">
                    <a:solidFill>
                      <a:schemeClr val="accent4"/>
                    </a:solidFill>
                  </a:ln>
                  <a:solidFill>
                    <a:schemeClr val="lt1">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3175">
                    <a:solidFill>
                      <a:schemeClr val="accent4"/>
                    </a:solidFill>
                  </a:ln>
                  <a:solidFill>
                    <a:schemeClr val="lt1">
                      <a:lumMod val="7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layout>
            <c:manualLayout>
              <c:x val="-8.0170470663099055E-2"/>
              <c:y val="-6.865664519207834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3175">
                    <a:solidFill>
                      <a:schemeClr val="accent4"/>
                    </a:solidFill>
                  </a:ln>
                  <a:solidFill>
                    <a:schemeClr val="lt1">
                      <a:lumMod val="75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324295385452128"/>
          <c:y val="8.7802615496363798E-2"/>
          <c:w val="0.86859726266937376"/>
          <c:h val="0.7700390238708531"/>
        </c:manualLayout>
      </c:layout>
      <c:lineChart>
        <c:grouping val="standard"/>
        <c:varyColors val="0"/>
        <c:ser>
          <c:idx val="0"/>
          <c:order val="0"/>
          <c:tx>
            <c:strRef>
              <c:f>'SUBJECTIVE QUESTIONS'!$B$137</c:f>
              <c:strCache>
                <c:ptCount val="1"/>
                <c:pt idx="0">
                  <c:v>Total</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Pt>
            <c:idx val="0"/>
            <c:marker>
              <c:symbol val="circle"/>
              <c:size val="4"/>
              <c:spPr>
                <a:solidFill>
                  <a:schemeClr val="accent1">
                    <a:lumMod val="60000"/>
                    <a:lumOff val="40000"/>
                  </a:schemeClr>
                </a:solidFill>
                <a:ln>
                  <a:noFill/>
                </a:ln>
                <a:effectLst>
                  <a:glow rad="63500">
                    <a:schemeClr val="accent1">
                      <a:satMod val="175000"/>
                      <a:alpha val="25000"/>
                    </a:schemeClr>
                  </a:glow>
                </a:effectLst>
              </c:spPr>
            </c:marker>
            <c:bubble3D val="0"/>
            <c:spPr>
              <a:ln w="22225" cap="rnd">
                <a:solidFill>
                  <a:schemeClr val="accent1"/>
                </a:solidFill>
              </a:ln>
              <a:effectLst>
                <a:glow rad="139700">
                  <a:schemeClr val="accent1">
                    <a:satMod val="175000"/>
                    <a:alpha val="14000"/>
                  </a:schemeClr>
                </a:glow>
              </a:effectLst>
            </c:spPr>
            <c:extLst>
              <c:ext xmlns:c16="http://schemas.microsoft.com/office/drawing/2014/chart" uri="{C3380CC4-5D6E-409C-BE32-E72D297353CC}">
                <c16:uniqueId val="{00000001-F5F8-45EA-82A6-1B72BD17B46B}"/>
              </c:ext>
            </c:extLst>
          </c:dPt>
          <c:dLbls>
            <c:dLbl>
              <c:idx val="0"/>
              <c:layout>
                <c:manualLayout>
                  <c:x val="-8.0170470663099055E-2"/>
                  <c:y val="-6.865664519207834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5F8-45EA-82A6-1B72BD17B46B}"/>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ln w="3175">
                      <a:solidFill>
                        <a:schemeClr val="accent4"/>
                      </a:solidFill>
                    </a:ln>
                    <a:solidFill>
                      <a:schemeClr val="lt1">
                        <a:lumMod val="7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'SUBJECTIVE QUESTIONS'!$A$138:$A$143</c:f>
              <c:strCache>
                <c:ptCount val="5"/>
                <c:pt idx="0">
                  <c:v>2016</c:v>
                </c:pt>
                <c:pt idx="1">
                  <c:v>2017</c:v>
                </c:pt>
                <c:pt idx="2">
                  <c:v>2018</c:v>
                </c:pt>
                <c:pt idx="3">
                  <c:v>2019</c:v>
                </c:pt>
                <c:pt idx="4">
                  <c:v>2020</c:v>
                </c:pt>
              </c:strCache>
            </c:strRef>
          </c:cat>
          <c:val>
            <c:numRef>
              <c:f>'SUBJECTIVE QUESTIONS'!$B$138:$B$143</c:f>
              <c:numCache>
                <c:formatCode>General</c:formatCode>
                <c:ptCount val="5"/>
                <c:pt idx="0">
                  <c:v>3.9796950425254769</c:v>
                </c:pt>
                <c:pt idx="1">
                  <c:v>4.068119342943346</c:v>
                </c:pt>
                <c:pt idx="2">
                  <c:v>4.0918539622243326</c:v>
                </c:pt>
                <c:pt idx="3">
                  <c:v>4.1223825034899955</c:v>
                </c:pt>
                <c:pt idx="4">
                  <c:v>4.1612692519251926</c:v>
                </c:pt>
              </c:numCache>
            </c:numRef>
          </c:val>
          <c:smooth val="0"/>
          <c:extLst>
            <c:ext xmlns:c16="http://schemas.microsoft.com/office/drawing/2014/chart" uri="{C3380CC4-5D6E-409C-BE32-E72D297353CC}">
              <c16:uniqueId val="{00000002-F5F8-45EA-82A6-1B72BD17B46B}"/>
            </c:ext>
          </c:extLst>
        </c:ser>
        <c:dLbls>
          <c:dLblPos val="t"/>
          <c:showLegendKey val="0"/>
          <c:showVal val="1"/>
          <c:showCatName val="0"/>
          <c:showSerName val="0"/>
          <c:showPercent val="0"/>
          <c:showBubbleSize val="0"/>
        </c:dLbls>
        <c:marker val="1"/>
        <c:smooth val="0"/>
        <c:axId val="367121360"/>
        <c:axId val="367125200"/>
      </c:lineChart>
      <c:catAx>
        <c:axId val="367121360"/>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0" spcFirstLastPara="1" vertOverflow="ellipsis" vert="horz" wrap="square" anchor="ctr" anchorCtr="1"/>
              <a:lstStyle/>
              <a:p>
                <a:pPr>
                  <a:defRPr sz="900" b="1" i="0" u="none" strike="noStrike" kern="1200" baseline="0">
                    <a:ln w="3175">
                      <a:solidFill>
                        <a:schemeClr val="accent4"/>
                      </a:solidFill>
                    </a:ln>
                    <a:solidFill>
                      <a:schemeClr val="lt1">
                        <a:lumMod val="75000"/>
                      </a:schemeClr>
                    </a:solidFill>
                    <a:latin typeface="+mn-lt"/>
                    <a:ea typeface="+mn-ea"/>
                    <a:cs typeface="+mn-cs"/>
                  </a:defRPr>
                </a:pPr>
                <a:r>
                  <a:rPr lang="en-US" sz="1600" dirty="0"/>
                  <a:t>Years</a:t>
                </a:r>
              </a:p>
            </c:rich>
          </c:tx>
          <c:layout>
            <c:manualLayout>
              <c:xMode val="edge"/>
              <c:yMode val="edge"/>
              <c:x val="0.43342957455280062"/>
              <c:y val="0.91778313637861975"/>
            </c:manualLayout>
          </c:layout>
          <c:overlay val="0"/>
          <c:spPr>
            <a:noFill/>
            <a:ln>
              <a:noFill/>
            </a:ln>
            <a:effectLst/>
          </c:spPr>
          <c:txPr>
            <a:bodyPr rot="0" spcFirstLastPara="1" vertOverflow="ellipsis" vert="horz" wrap="square" anchor="ctr" anchorCtr="1"/>
            <a:lstStyle/>
            <a:p>
              <a:pPr>
                <a:defRPr sz="900" b="1" i="0" u="none" strike="noStrike" kern="1200" baseline="0">
                  <a:ln w="3175">
                    <a:solidFill>
                      <a:schemeClr val="accent4"/>
                    </a:solidFill>
                  </a:ln>
                  <a:solidFill>
                    <a:schemeClr val="lt1">
                      <a:lumMod val="7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ln w="3175">
                  <a:solidFill>
                    <a:schemeClr val="accent4"/>
                  </a:solidFill>
                </a:ln>
                <a:solidFill>
                  <a:schemeClr val="lt1">
                    <a:lumMod val="75000"/>
                  </a:schemeClr>
                </a:solidFill>
                <a:latin typeface="+mn-lt"/>
                <a:ea typeface="+mn-ea"/>
                <a:cs typeface="+mn-cs"/>
              </a:defRPr>
            </a:pPr>
            <a:endParaRPr lang="en-US"/>
          </a:p>
        </c:txPr>
        <c:crossAx val="367125200"/>
        <c:crosses val="autoZero"/>
        <c:auto val="1"/>
        <c:lblAlgn val="ctr"/>
        <c:lblOffset val="100"/>
        <c:noMultiLvlLbl val="0"/>
      </c:catAx>
      <c:valAx>
        <c:axId val="367125200"/>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900" b="1" i="0" u="none" strike="noStrike" kern="1200" baseline="0">
                    <a:ln w="3175">
                      <a:solidFill>
                        <a:schemeClr val="accent4"/>
                      </a:solidFill>
                    </a:ln>
                    <a:solidFill>
                      <a:schemeClr val="lt1">
                        <a:lumMod val="75000"/>
                      </a:schemeClr>
                    </a:solidFill>
                    <a:latin typeface="+mn-lt"/>
                    <a:ea typeface="+mn-ea"/>
                    <a:cs typeface="+mn-cs"/>
                  </a:defRPr>
                </a:pPr>
                <a:r>
                  <a:rPr lang="en-US" sz="1600" dirty="0"/>
                  <a:t>Satisfaction Rate</a:t>
                </a:r>
              </a:p>
            </c:rich>
          </c:tx>
          <c:layout>
            <c:manualLayout>
              <c:xMode val="edge"/>
              <c:yMode val="edge"/>
              <c:x val="8.2544470345931528E-3"/>
              <c:y val="0.33926008523846063"/>
            </c:manualLayout>
          </c:layout>
          <c:overlay val="0"/>
          <c:spPr>
            <a:noFill/>
            <a:ln>
              <a:noFill/>
            </a:ln>
            <a:effectLst/>
          </c:spPr>
          <c:txPr>
            <a:bodyPr rot="-5400000" spcFirstLastPara="1" vertOverflow="ellipsis" vert="horz" wrap="square" anchor="ctr" anchorCtr="1"/>
            <a:lstStyle/>
            <a:p>
              <a:pPr>
                <a:defRPr sz="900" b="1" i="0" u="none" strike="noStrike" kern="1200" baseline="0">
                  <a:ln w="3175">
                    <a:solidFill>
                      <a:schemeClr val="accent4"/>
                    </a:solidFill>
                  </a:ln>
                  <a:solidFill>
                    <a:schemeClr val="lt1">
                      <a:lumMod val="7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400" b="0" i="0" u="none" strike="noStrike" kern="1200" baseline="0">
                <a:ln w="3175">
                  <a:solidFill>
                    <a:schemeClr val="accent4"/>
                  </a:solidFill>
                </a:ln>
                <a:solidFill>
                  <a:schemeClr val="lt1">
                    <a:lumMod val="75000"/>
                  </a:schemeClr>
                </a:solidFill>
                <a:latin typeface="+mn-lt"/>
                <a:ea typeface="+mn-ea"/>
                <a:cs typeface="+mn-cs"/>
              </a:defRPr>
            </a:pPr>
            <a:endParaRPr lang="en-US"/>
          </a:p>
        </c:txPr>
        <c:crossAx val="3671213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2">
        <a:lumMod val="10000"/>
      </a:schemeClr>
    </a:solidFill>
    <a:ln w="41275" cap="flat" cmpd="sng" algn="ctr">
      <a:solidFill>
        <a:schemeClr val="accent3">
          <a:lumMod val="50000"/>
        </a:schemeClr>
      </a:solidFill>
      <a:round/>
    </a:ln>
    <a:effectLst/>
  </c:spPr>
  <c:txPr>
    <a:bodyPr/>
    <a:lstStyle/>
    <a:p>
      <a:pPr>
        <a:defRPr>
          <a:ln w="3175">
            <a:solidFill>
              <a:schemeClr val="accent4"/>
            </a:solidFill>
          </a:ln>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ANALYSIS_PROJECT DATA_NS AFTER FEEDBACK.xlsx] Q&amp;A!AVG. SATISFACTION_RESOLUTION_EACH AGENT</c:name>
    <c:fmtId val="15"/>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AGENT WISE AVG. SATISFACTION &amp; RESOLUTION RATE</a:t>
            </a:r>
          </a:p>
        </c:rich>
      </c:tx>
      <c:layout>
        <c:manualLayout>
          <c:xMode val="edge"/>
          <c:yMode val="edge"/>
          <c:x val="1.5159517218403603E-2"/>
          <c:y val="1.9851116625310174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2.6061498216590952E-2"/>
          <c:y val="0.13828930143622117"/>
          <c:w val="0.96601566357255197"/>
          <c:h val="0.80683843225135976"/>
        </c:manualLayout>
      </c:layout>
      <c:barChart>
        <c:barDir val="col"/>
        <c:grouping val="clustered"/>
        <c:varyColors val="0"/>
        <c:ser>
          <c:idx val="0"/>
          <c:order val="0"/>
          <c:tx>
            <c:strRef>
              <c:f>' Q&amp;A'!$C$190</c:f>
              <c:strCache>
                <c:ptCount val="1"/>
                <c:pt idx="0">
                  <c:v>Average of Satisfaction Rate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 Q&amp;A'!$B$191:$B$241</c:f>
              <c:strCach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strCache>
            </c:strRef>
          </c:cat>
          <c:val>
            <c:numRef>
              <c:f>' Q&amp;A'!$C$191:$C$241</c:f>
              <c:numCache>
                <c:formatCode>General</c:formatCode>
                <c:ptCount val="50"/>
                <c:pt idx="0">
                  <c:v>4.3402742508887764</c:v>
                </c:pt>
                <c:pt idx="1">
                  <c:v>4.4735772357723578</c:v>
                </c:pt>
                <c:pt idx="2">
                  <c:v>3.6150420583869374</c:v>
                </c:pt>
                <c:pt idx="3">
                  <c:v>4.1876257545271631</c:v>
                </c:pt>
                <c:pt idx="4">
                  <c:v>4.3760000000000003</c:v>
                </c:pt>
                <c:pt idx="5">
                  <c:v>3.5926115956900975</c:v>
                </c:pt>
                <c:pt idx="6">
                  <c:v>3.9762273901808785</c:v>
                </c:pt>
                <c:pt idx="7">
                  <c:v>4.4367346938775514</c:v>
                </c:pt>
                <c:pt idx="8">
                  <c:v>3.6900974858902003</c:v>
                </c:pt>
                <c:pt idx="9">
                  <c:v>4.4159067882472138</c:v>
                </c:pt>
                <c:pt idx="10">
                  <c:v>3.6380368098159508</c:v>
                </c:pt>
                <c:pt idx="11">
                  <c:v>4.4897206114918289</c:v>
                </c:pt>
                <c:pt idx="12">
                  <c:v>4.2823275862068968</c:v>
                </c:pt>
                <c:pt idx="13">
                  <c:v>4.0854788877445936</c:v>
                </c:pt>
                <c:pt idx="14">
                  <c:v>4.4716223003515818</c:v>
                </c:pt>
                <c:pt idx="15">
                  <c:v>3.6651090342679127</c:v>
                </c:pt>
                <c:pt idx="16">
                  <c:v>4.3416624171341152</c:v>
                </c:pt>
                <c:pt idx="17">
                  <c:v>3.9910147991543341</c:v>
                </c:pt>
                <c:pt idx="18">
                  <c:v>3.0423387096774195</c:v>
                </c:pt>
                <c:pt idx="19">
                  <c:v>4.1479166666666663</c:v>
                </c:pt>
                <c:pt idx="20">
                  <c:v>4.4012705134992061</c:v>
                </c:pt>
                <c:pt idx="21">
                  <c:v>3.6281790437436419</c:v>
                </c:pt>
                <c:pt idx="22">
                  <c:v>4.377545691906005</c:v>
                </c:pt>
                <c:pt idx="23">
                  <c:v>4.4413379930104844</c:v>
                </c:pt>
                <c:pt idx="24">
                  <c:v>3.6012591815320043</c:v>
                </c:pt>
                <c:pt idx="25">
                  <c:v>3.9908303616912888</c:v>
                </c:pt>
                <c:pt idx="26">
                  <c:v>4.2220528455284549</c:v>
                </c:pt>
                <c:pt idx="27">
                  <c:v>3.6120246659815005</c:v>
                </c:pt>
                <c:pt idx="28">
                  <c:v>4.4614189539098916</c:v>
                </c:pt>
                <c:pt idx="29">
                  <c:v>3.8476821192052979</c:v>
                </c:pt>
                <c:pt idx="30">
                  <c:v>4.3643683945646705</c:v>
                </c:pt>
                <c:pt idx="31">
                  <c:v>4.1231003039513681</c:v>
                </c:pt>
                <c:pt idx="32">
                  <c:v>3.6312563840653729</c:v>
                </c:pt>
                <c:pt idx="33">
                  <c:v>4.5967825635703168</c:v>
                </c:pt>
                <c:pt idx="34">
                  <c:v>4.3991031390134525</c:v>
                </c:pt>
                <c:pt idx="35">
                  <c:v>4.1981181390486144</c:v>
                </c:pt>
                <c:pt idx="36">
                  <c:v>3.6607975142413256</c:v>
                </c:pt>
                <c:pt idx="37">
                  <c:v>4.4442724458204337</c:v>
                </c:pt>
                <c:pt idx="38">
                  <c:v>4.3445212240868702</c:v>
                </c:pt>
                <c:pt idx="39">
                  <c:v>3.6677083333333331</c:v>
                </c:pt>
                <c:pt idx="40">
                  <c:v>3.7833163784333674</c:v>
                </c:pt>
                <c:pt idx="41">
                  <c:v>4.3619537275064264</c:v>
                </c:pt>
                <c:pt idx="42">
                  <c:v>3.9130205587770162</c:v>
                </c:pt>
                <c:pt idx="43">
                  <c:v>4.4112197632527019</c:v>
                </c:pt>
                <c:pt idx="44">
                  <c:v>3.8211508553654743</c:v>
                </c:pt>
                <c:pt idx="45">
                  <c:v>4.3205128205128203</c:v>
                </c:pt>
                <c:pt idx="46">
                  <c:v>4.1702017589239526</c:v>
                </c:pt>
                <c:pt idx="47">
                  <c:v>4.4079921065614212</c:v>
                </c:pt>
                <c:pt idx="48">
                  <c:v>4.3550264550264552</c:v>
                </c:pt>
                <c:pt idx="49">
                  <c:v>4.2047203694202153</c:v>
                </c:pt>
              </c:numCache>
            </c:numRef>
          </c:val>
          <c:extLst>
            <c:ext xmlns:c16="http://schemas.microsoft.com/office/drawing/2014/chart" uri="{C3380CC4-5D6E-409C-BE32-E72D297353CC}">
              <c16:uniqueId val="{00000000-322C-48CE-9286-72A9C4C7189D}"/>
            </c:ext>
          </c:extLst>
        </c:ser>
        <c:dLbls>
          <c:showLegendKey val="0"/>
          <c:showVal val="0"/>
          <c:showCatName val="0"/>
          <c:showSerName val="0"/>
          <c:showPercent val="0"/>
          <c:showBubbleSize val="0"/>
        </c:dLbls>
        <c:gapWidth val="70"/>
        <c:overlap val="35"/>
        <c:axId val="416298592"/>
        <c:axId val="416299072"/>
      </c:barChart>
      <c:lineChart>
        <c:grouping val="standard"/>
        <c:varyColors val="0"/>
        <c:ser>
          <c:idx val="1"/>
          <c:order val="1"/>
          <c:tx>
            <c:strRef>
              <c:f>' Q&amp;A'!$D$190</c:f>
              <c:strCache>
                <c:ptCount val="1"/>
                <c:pt idx="0">
                  <c:v>Average of Resolution Time (Days)</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cat>
            <c:strRef>
              <c:f>' Q&amp;A'!$B$191:$B$241</c:f>
              <c:strCach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strCache>
            </c:strRef>
          </c:cat>
          <c:val>
            <c:numRef>
              <c:f>' Q&amp;A'!$D$191:$D$241</c:f>
              <c:numCache>
                <c:formatCode>General</c:formatCode>
                <c:ptCount val="50"/>
                <c:pt idx="0">
                  <c:v>5.4459116302691726</c:v>
                </c:pt>
                <c:pt idx="1">
                  <c:v>3.5965447154471546</c:v>
                </c:pt>
                <c:pt idx="2">
                  <c:v>5.3819891142998513</c:v>
                </c:pt>
                <c:pt idx="3">
                  <c:v>5.2439637826961771</c:v>
                </c:pt>
                <c:pt idx="4">
                  <c:v>4.2590000000000003</c:v>
                </c:pt>
                <c:pt idx="5">
                  <c:v>5.3206772703950742</c:v>
                </c:pt>
                <c:pt idx="6">
                  <c:v>5.5240310077519377</c:v>
                </c:pt>
                <c:pt idx="7">
                  <c:v>3.8341836734693877</c:v>
                </c:pt>
                <c:pt idx="8">
                  <c:v>4.523345305284761</c:v>
                </c:pt>
                <c:pt idx="9">
                  <c:v>4.2983789260385006</c:v>
                </c:pt>
                <c:pt idx="10">
                  <c:v>4.7781186094069525</c:v>
                </c:pt>
                <c:pt idx="11">
                  <c:v>4.0564048497627834</c:v>
                </c:pt>
                <c:pt idx="12">
                  <c:v>5.3221982758620694</c:v>
                </c:pt>
                <c:pt idx="13">
                  <c:v>4.9011328527291456</c:v>
                </c:pt>
                <c:pt idx="14">
                  <c:v>3.6559517830236063</c:v>
                </c:pt>
                <c:pt idx="15">
                  <c:v>4.3177570093457946</c:v>
                </c:pt>
                <c:pt idx="16">
                  <c:v>3.7052524222335541</c:v>
                </c:pt>
                <c:pt idx="17">
                  <c:v>4.7315010570824523</c:v>
                </c:pt>
                <c:pt idx="18">
                  <c:v>4.9994959677419351</c:v>
                </c:pt>
                <c:pt idx="19">
                  <c:v>4.4078125000000004</c:v>
                </c:pt>
                <c:pt idx="20">
                  <c:v>3.7056643726839598</c:v>
                </c:pt>
                <c:pt idx="21">
                  <c:v>5.5111902339776195</c:v>
                </c:pt>
                <c:pt idx="22">
                  <c:v>4.5577023498694516</c:v>
                </c:pt>
                <c:pt idx="23">
                  <c:v>4.2271592611083371</c:v>
                </c:pt>
                <c:pt idx="24">
                  <c:v>5.2046169989506819</c:v>
                </c:pt>
                <c:pt idx="25">
                  <c:v>4.7544574630667347</c:v>
                </c:pt>
                <c:pt idx="26">
                  <c:v>3.6514227642276422</c:v>
                </c:pt>
                <c:pt idx="27">
                  <c:v>5.4095580678314494</c:v>
                </c:pt>
                <c:pt idx="28">
                  <c:v>3.7167270844122218</c:v>
                </c:pt>
                <c:pt idx="29">
                  <c:v>4.8670402445236887</c:v>
                </c:pt>
                <c:pt idx="30">
                  <c:v>3.6693507800704581</c:v>
                </c:pt>
                <c:pt idx="31">
                  <c:v>4.8865248226950353</c:v>
                </c:pt>
                <c:pt idx="32">
                  <c:v>4.8043922369765069</c:v>
                </c:pt>
                <c:pt idx="33">
                  <c:v>3.6362221069019203</c:v>
                </c:pt>
                <c:pt idx="34">
                  <c:v>4.3692077727952165</c:v>
                </c:pt>
                <c:pt idx="35">
                  <c:v>3.9184526921066389</c:v>
                </c:pt>
                <c:pt idx="36">
                  <c:v>4.5950284826514762</c:v>
                </c:pt>
                <c:pt idx="37">
                  <c:v>4.6434468524251802</c:v>
                </c:pt>
                <c:pt idx="38">
                  <c:v>5.5547877591312931</c:v>
                </c:pt>
                <c:pt idx="39">
                  <c:v>4.2869791666666668</c:v>
                </c:pt>
                <c:pt idx="40">
                  <c:v>4.5549338758901321</c:v>
                </c:pt>
                <c:pt idx="41">
                  <c:v>4.0580976863753211</c:v>
                </c:pt>
                <c:pt idx="42">
                  <c:v>3.8460727464417501</c:v>
                </c:pt>
                <c:pt idx="43">
                  <c:v>4.7200205867215645</c:v>
                </c:pt>
                <c:pt idx="44">
                  <c:v>3.7003628823224468</c:v>
                </c:pt>
                <c:pt idx="45">
                  <c:v>5.3194871794871794</c:v>
                </c:pt>
                <c:pt idx="46">
                  <c:v>3.8246249353336781</c:v>
                </c:pt>
                <c:pt idx="47">
                  <c:v>4.5145535273803654</c:v>
                </c:pt>
                <c:pt idx="48">
                  <c:v>5.3439153439153442</c:v>
                </c:pt>
                <c:pt idx="49">
                  <c:v>5.4515135967162651</c:v>
                </c:pt>
              </c:numCache>
            </c:numRef>
          </c:val>
          <c:smooth val="0"/>
          <c:extLst>
            <c:ext xmlns:c16="http://schemas.microsoft.com/office/drawing/2014/chart" uri="{C3380CC4-5D6E-409C-BE32-E72D297353CC}">
              <c16:uniqueId val="{00000001-322C-48CE-9286-72A9C4C7189D}"/>
            </c:ext>
          </c:extLst>
        </c:ser>
        <c:dLbls>
          <c:showLegendKey val="0"/>
          <c:showVal val="0"/>
          <c:showCatName val="0"/>
          <c:showSerName val="0"/>
          <c:showPercent val="0"/>
          <c:showBubbleSize val="0"/>
        </c:dLbls>
        <c:marker val="1"/>
        <c:smooth val="0"/>
        <c:axId val="416298592"/>
        <c:axId val="416299072"/>
      </c:lineChart>
      <c:catAx>
        <c:axId val="41629859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16299072"/>
        <c:crosses val="autoZero"/>
        <c:auto val="1"/>
        <c:lblAlgn val="ctr"/>
        <c:lblOffset val="100"/>
        <c:tickLblSkip val="2"/>
        <c:noMultiLvlLbl val="0"/>
      </c:catAx>
      <c:valAx>
        <c:axId val="41629907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16298592"/>
        <c:crosses val="autoZero"/>
        <c:crossBetween val="between"/>
      </c:valAx>
      <c:spPr>
        <a:noFill/>
        <a:ln>
          <a:noFill/>
        </a:ln>
        <a:effectLst/>
      </c:spPr>
    </c:plotArea>
    <c:legend>
      <c:legendPos val="r"/>
      <c:layout>
        <c:manualLayout>
          <c:xMode val="edge"/>
          <c:yMode val="edge"/>
          <c:x val="0.39466856377120096"/>
          <c:y val="5.6469648028390051E-2"/>
          <c:w val="0.59427280723475917"/>
          <c:h val="0.1144088753449849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ANALYSIS_PROJECT DATA_NS.xlsx]SUBJECTIVE QUESTIONS!PivotTable2</c:name>
    <c:fmtId val="54"/>
  </c:pivotSource>
  <c:chart>
    <c:title>
      <c:tx>
        <c:rich>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Avg. Resolution Time by Request Category</a:t>
            </a:r>
          </a:p>
        </c:rich>
      </c:tx>
      <c:overlay val="0"/>
      <c:spPr>
        <a:noFill/>
        <a:ln>
          <a:solidFill>
            <a:schemeClr val="accent5">
              <a:lumMod val="50000"/>
            </a:schemeClr>
          </a:solidFill>
        </a:ln>
        <a:effectLst/>
      </c:spPr>
      <c:txPr>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solidFill>
            <a:srgbClr val="0070C0"/>
          </a:solidFill>
          <a:ln>
            <a:noFill/>
          </a:ln>
          <a:effectLst>
            <a:outerShdw blurRad="57150" dist="19050" dir="5400000" algn="ctr" rotWithShape="0">
              <a:schemeClr val="bg1">
                <a:alpha val="63000"/>
              </a:scheme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0070C0"/>
          </a:solidFill>
          <a:ln>
            <a:noFill/>
          </a:ln>
          <a:effectLst>
            <a:outerShdw blurRad="57150" dist="19050" dir="5400000" algn="ctr" rotWithShape="0">
              <a:schemeClr val="bg1">
                <a:alpha val="63000"/>
              </a:scheme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0070C0"/>
          </a:solidFill>
          <a:ln>
            <a:noFill/>
          </a:ln>
          <a:effectLst>
            <a:outerShdw blurRad="57150" dist="19050" dir="5400000" algn="ctr" rotWithShape="0">
              <a:schemeClr val="bg1">
                <a:alpha val="63000"/>
              </a:scheme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850856630712111"/>
          <c:y val="0.15657632002550237"/>
          <c:w val="0.87318369035617016"/>
          <c:h val="0.61492579739930064"/>
        </c:manualLayout>
      </c:layout>
      <c:barChart>
        <c:barDir val="col"/>
        <c:grouping val="clustered"/>
        <c:varyColors val="0"/>
        <c:ser>
          <c:idx val="0"/>
          <c:order val="0"/>
          <c:tx>
            <c:strRef>
              <c:f>'SUBJECTIVE QUESTIONS'!$J$4</c:f>
              <c:strCache>
                <c:ptCount val="1"/>
                <c:pt idx="0">
                  <c:v>Total</c:v>
                </c:pt>
              </c:strCache>
            </c:strRef>
          </c:tx>
          <c:spPr>
            <a:solidFill>
              <a:srgbClr val="0070C0"/>
            </a:solidFill>
            <a:ln>
              <a:noFill/>
            </a:ln>
            <a:effectLst>
              <a:outerShdw blurRad="57150" dist="19050" dir="5400000" algn="ctr" rotWithShape="0">
                <a:schemeClr val="bg1">
                  <a:alpha val="63000"/>
                </a:schemeClr>
              </a:outerShdw>
            </a:effectLst>
          </c:spPr>
          <c:invertIfNegative val="0"/>
          <c:cat>
            <c:strRef>
              <c:f>'SUBJECTIVE QUESTIONS'!$I$5:$I$9</c:f>
              <c:strCache>
                <c:ptCount val="4"/>
                <c:pt idx="0">
                  <c:v>Hardware</c:v>
                </c:pt>
                <c:pt idx="1">
                  <c:v>Login Access</c:v>
                </c:pt>
                <c:pt idx="2">
                  <c:v>Software</c:v>
                </c:pt>
                <c:pt idx="3">
                  <c:v>System</c:v>
                </c:pt>
              </c:strCache>
            </c:strRef>
          </c:cat>
          <c:val>
            <c:numRef>
              <c:f>'SUBJECTIVE QUESTIONS'!$J$5:$J$9</c:f>
              <c:numCache>
                <c:formatCode>General</c:formatCode>
                <c:ptCount val="4"/>
                <c:pt idx="0">
                  <c:v>7.6253981300729476</c:v>
                </c:pt>
                <c:pt idx="1">
                  <c:v>0.31380810468262937</c:v>
                </c:pt>
                <c:pt idx="2">
                  <c:v>5.2387327542156363</c:v>
                </c:pt>
                <c:pt idx="3">
                  <c:v>6.6156094559253376</c:v>
                </c:pt>
              </c:numCache>
            </c:numRef>
          </c:val>
          <c:extLst>
            <c:ext xmlns:c16="http://schemas.microsoft.com/office/drawing/2014/chart" uri="{C3380CC4-5D6E-409C-BE32-E72D297353CC}">
              <c16:uniqueId val="{00000000-D429-477A-AB70-26B9F8E78317}"/>
            </c:ext>
          </c:extLst>
        </c:ser>
        <c:dLbls>
          <c:showLegendKey val="0"/>
          <c:showVal val="0"/>
          <c:showCatName val="0"/>
          <c:showSerName val="0"/>
          <c:showPercent val="0"/>
          <c:showBubbleSize val="0"/>
        </c:dLbls>
        <c:gapWidth val="73"/>
        <c:overlap val="-9"/>
        <c:axId val="2058797376"/>
        <c:axId val="2058806496"/>
      </c:barChart>
      <c:catAx>
        <c:axId val="2058797376"/>
        <c:scaling>
          <c:orientation val="minMax"/>
        </c:scaling>
        <c:delete val="0"/>
        <c:axPos val="b"/>
        <c:title>
          <c:tx>
            <c:rich>
              <a:bodyPr rot="0" spcFirstLastPara="1" vertOverflow="ellipsis" vert="horz" wrap="square" anchor="ctr" anchorCtr="1"/>
              <a:lstStyle/>
              <a:p>
                <a:pPr>
                  <a:defRPr sz="1400" b="1" i="0" u="none" strike="noStrike" kern="1200" cap="all" baseline="0">
                    <a:solidFill>
                      <a:schemeClr val="lt1">
                        <a:lumMod val="85000"/>
                      </a:schemeClr>
                    </a:solidFill>
                    <a:latin typeface="+mn-lt"/>
                    <a:ea typeface="+mn-ea"/>
                    <a:cs typeface="+mn-cs"/>
                  </a:defRPr>
                </a:pPr>
                <a:r>
                  <a:rPr lang="en-US"/>
                  <a:t>REQUEST CATEGORY</a:t>
                </a:r>
              </a:p>
            </c:rich>
          </c:tx>
          <c:layout>
            <c:manualLayout>
              <c:xMode val="edge"/>
              <c:yMode val="edge"/>
              <c:x val="0.42258897700864584"/>
              <c:y val="0.9148477918441591"/>
            </c:manualLayout>
          </c:layout>
          <c:overlay val="0"/>
          <c:spPr>
            <a:noFill/>
            <a:ln>
              <a:noFill/>
            </a:ln>
            <a:effectLst/>
          </c:spPr>
          <c:txPr>
            <a:bodyPr rot="0" spcFirstLastPara="1" vertOverflow="ellipsis" vert="horz" wrap="square" anchor="ctr" anchorCtr="1"/>
            <a:lstStyle/>
            <a:p>
              <a:pPr>
                <a:defRPr sz="14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2058806496"/>
        <c:crosses val="autoZero"/>
        <c:auto val="1"/>
        <c:lblAlgn val="ctr"/>
        <c:lblOffset val="100"/>
        <c:noMultiLvlLbl val="0"/>
      </c:catAx>
      <c:valAx>
        <c:axId val="2058806496"/>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400" b="1" i="0" u="none" strike="noStrike" kern="1200" cap="all" baseline="0">
                    <a:solidFill>
                      <a:schemeClr val="lt1">
                        <a:lumMod val="85000"/>
                      </a:schemeClr>
                    </a:solidFill>
                    <a:latin typeface="+mn-lt"/>
                    <a:ea typeface="+mn-ea"/>
                    <a:cs typeface="+mn-cs"/>
                  </a:defRPr>
                </a:pPr>
                <a:r>
                  <a:rPr lang="en-US"/>
                  <a:t>RESOLUTION TIME</a:t>
                </a:r>
              </a:p>
            </c:rich>
          </c:tx>
          <c:layout>
            <c:manualLayout>
              <c:xMode val="edge"/>
              <c:yMode val="edge"/>
              <c:x val="1.4589842989805197E-2"/>
              <c:y val="0.3134912517357521"/>
            </c:manualLayout>
          </c:layout>
          <c:overlay val="0"/>
          <c:spPr>
            <a:noFill/>
            <a:ln>
              <a:noFill/>
            </a:ln>
            <a:effectLst/>
          </c:spPr>
          <c:txPr>
            <a:bodyPr rot="-5400000" spcFirstLastPara="1" vertOverflow="ellipsis" vert="horz" wrap="square" anchor="ctr" anchorCtr="1"/>
            <a:lstStyle/>
            <a:p>
              <a:pPr>
                <a:defRPr sz="14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2058797376"/>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4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w="63500">
      <a:solidFill>
        <a:srgbClr val="FFC000">
          <a:alpha val="37000"/>
        </a:srgbClr>
      </a:solidFill>
    </a:ln>
    <a:effectLst>
      <a:outerShdw blurRad="50800" dist="38100" dir="5400000" algn="t" rotWithShape="0">
        <a:prstClr val="black">
          <a:alpha val="40000"/>
        </a:prstClr>
      </a:outerShdw>
    </a:effectLst>
  </c:spPr>
  <c:txPr>
    <a:bodyPr/>
    <a:lstStyle/>
    <a:p>
      <a:pPr>
        <a:defRPr sz="1400" baseline="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ANALYSIS_PROJECT DATA_NS.xlsx]SUBJECTIVE QUESTIONS!PivotTable12</c:name>
    <c:fmtId val="48"/>
  </c:pivotSource>
  <c:chart>
    <c:title>
      <c:tx>
        <c:rich>
          <a:bodyPr rot="0" spcFirstLastPara="1" vertOverflow="ellipsis" vert="horz" wrap="square" anchor="ctr" anchorCtr="1"/>
          <a:lstStyle/>
          <a:p>
            <a:pPr>
              <a:defRPr sz="1680" b="1" i="0" u="none" strike="noStrike" kern="1200" spc="100" baseline="0">
                <a:ln w="3175">
                  <a:solidFill>
                    <a:schemeClr val="bg1"/>
                  </a:solidFill>
                </a:ln>
                <a:solidFill>
                  <a:schemeClr val="bg1"/>
                </a:solidFill>
                <a:effectLst>
                  <a:outerShdw blurRad="50800" dist="38100" dir="5400000" algn="t" rotWithShape="0">
                    <a:prstClr val="black">
                      <a:alpha val="40000"/>
                    </a:prstClr>
                  </a:outerShdw>
                </a:effectLst>
                <a:latin typeface="+mn-lt"/>
                <a:ea typeface="+mn-ea"/>
                <a:cs typeface="+mn-cs"/>
              </a:defRPr>
            </a:pPr>
            <a:r>
              <a:rPr lang="en-US" dirty="0"/>
              <a:t>Age Group </a:t>
            </a:r>
            <a:r>
              <a:rPr lang="en-US" sz="1600" b="1" i="0" u="none" strike="noStrike" kern="1200" spc="100" baseline="0" dirty="0">
                <a:ln w="3175">
                  <a:solidFill>
                    <a:srgbClr val="FFFFFF"/>
                  </a:solidFill>
                </a:ln>
                <a:solidFill>
                  <a:srgbClr val="FFFFFF"/>
                </a:solidFill>
                <a:effectLst>
                  <a:outerShdw blurRad="50800" dist="38100" dir="5400000" algn="t" rotWithShape="0">
                    <a:prstClr val="black">
                      <a:alpha val="40000"/>
                    </a:prstClr>
                  </a:outerShdw>
                </a:effectLst>
              </a:rPr>
              <a:t>by Satisfaction Levels  </a:t>
            </a:r>
            <a:endParaRPr lang="en-US" dirty="0"/>
          </a:p>
        </c:rich>
      </c:tx>
      <c:layout>
        <c:manualLayout>
          <c:xMode val="edge"/>
          <c:yMode val="edge"/>
          <c:x val="0.25712274255783057"/>
          <c:y val="3.148185194165571E-2"/>
        </c:manualLayout>
      </c:layout>
      <c:overlay val="0"/>
      <c:spPr>
        <a:noFill/>
        <a:ln>
          <a:noFill/>
        </a:ln>
        <a:effectLst/>
      </c:spPr>
      <c:txPr>
        <a:bodyPr rot="0" spcFirstLastPara="1" vertOverflow="ellipsis" vert="horz" wrap="square" anchor="ctr" anchorCtr="1"/>
        <a:lstStyle/>
        <a:p>
          <a:pPr>
            <a:defRPr sz="1680" b="1" i="0" u="none" strike="noStrike" kern="1200" spc="100" baseline="0">
              <a:ln w="3175">
                <a:solidFill>
                  <a:schemeClr val="bg1"/>
                </a:solidFill>
              </a:ln>
              <a:solidFill>
                <a:schemeClr val="bg1"/>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3175">
                    <a:solidFill>
                      <a:schemeClr val="bg1"/>
                    </a:solidFill>
                  </a:ln>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3175">
                    <a:solidFill>
                      <a:schemeClr val="bg1"/>
                    </a:solidFill>
                  </a:ln>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w="3175">
                    <a:solidFill>
                      <a:schemeClr val="bg1"/>
                    </a:solidFill>
                  </a:ln>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3604830285269917"/>
          <c:y val="0.10864962275678471"/>
          <c:w val="0.84545089513687155"/>
          <c:h val="0.70917607054017673"/>
        </c:manualLayout>
      </c:layout>
      <c:barChart>
        <c:barDir val="col"/>
        <c:grouping val="clustered"/>
        <c:varyColors val="0"/>
        <c:ser>
          <c:idx val="0"/>
          <c:order val="0"/>
          <c:tx>
            <c:strRef>
              <c:f>'SUBJECTIVE QUESTIONS'!$B$244</c:f>
              <c:strCache>
                <c:ptCount val="1"/>
                <c:pt idx="0">
                  <c:v>Total</c:v>
                </c:pt>
              </c:strCache>
            </c:strRef>
          </c:tx>
          <c:spPr>
            <a:pattFill prst="ltUpDiag">
              <a:fgClr>
                <a:srgbClr val="7030A0"/>
              </a:fgClr>
              <a:bgClr>
                <a:schemeClr val="bg1"/>
              </a:bgClr>
            </a:pattFill>
            <a:ln>
              <a:solidFill>
                <a:srgbClr val="7030A0"/>
              </a:solidFill>
            </a:ln>
            <a:effectLst>
              <a:outerShdw blurRad="57150" dist="19050" dir="5400000" algn="ctr" rotWithShape="0">
                <a:srgbClr val="000000">
                  <a:alpha val="63000"/>
                </a:srgbClr>
              </a:outerShdw>
            </a:effectLst>
          </c:spPr>
          <c:invertIfNegative val="0"/>
          <c:cat>
            <c:strRef>
              <c:f>'SUBJECTIVE QUESTIONS'!$A$245:$A$248</c:f>
              <c:strCache>
                <c:ptCount val="3"/>
                <c:pt idx="0">
                  <c:v>25-34</c:v>
                </c:pt>
                <c:pt idx="1">
                  <c:v>35-44</c:v>
                </c:pt>
                <c:pt idx="2">
                  <c:v>45-54</c:v>
                </c:pt>
              </c:strCache>
            </c:strRef>
          </c:cat>
          <c:val>
            <c:numRef>
              <c:f>'SUBJECTIVE QUESTIONS'!$B$245:$B$248</c:f>
              <c:numCache>
                <c:formatCode>General</c:formatCode>
                <c:ptCount val="3"/>
                <c:pt idx="0">
                  <c:v>4.2308368108939165</c:v>
                </c:pt>
                <c:pt idx="1">
                  <c:v>3.9746732689341666</c:v>
                </c:pt>
                <c:pt idx="2">
                  <c:v>4.133732655088342</c:v>
                </c:pt>
              </c:numCache>
            </c:numRef>
          </c:val>
          <c:extLst>
            <c:ext xmlns:c16="http://schemas.microsoft.com/office/drawing/2014/chart" uri="{C3380CC4-5D6E-409C-BE32-E72D297353CC}">
              <c16:uniqueId val="{00000000-6BF8-43D4-9C19-6908F2B6EF96}"/>
            </c:ext>
          </c:extLst>
        </c:ser>
        <c:dLbls>
          <c:showLegendKey val="0"/>
          <c:showVal val="0"/>
          <c:showCatName val="0"/>
          <c:showSerName val="0"/>
          <c:showPercent val="0"/>
          <c:showBubbleSize val="0"/>
        </c:dLbls>
        <c:gapWidth val="100"/>
        <c:overlap val="-24"/>
        <c:axId val="1685205807"/>
        <c:axId val="1685189487"/>
      </c:barChart>
      <c:catAx>
        <c:axId val="1685205807"/>
        <c:scaling>
          <c:orientation val="minMax"/>
        </c:scaling>
        <c:delete val="0"/>
        <c:axPos val="b"/>
        <c:title>
          <c:tx>
            <c:rich>
              <a:bodyPr rot="0" spcFirstLastPara="1" vertOverflow="ellipsis" vert="horz" wrap="square" anchor="ctr" anchorCtr="1"/>
              <a:lstStyle/>
              <a:p>
                <a:pPr>
                  <a:defRPr sz="1400" b="1" i="0" u="none" strike="noStrike" kern="1200" cap="all" baseline="0">
                    <a:ln w="3175">
                      <a:solidFill>
                        <a:schemeClr val="bg1"/>
                      </a:solidFill>
                    </a:ln>
                    <a:solidFill>
                      <a:schemeClr val="bg1"/>
                    </a:solidFill>
                    <a:latin typeface="+mn-lt"/>
                    <a:ea typeface="+mn-ea"/>
                    <a:cs typeface="+mn-cs"/>
                  </a:defRPr>
                </a:pPr>
                <a:r>
                  <a:rPr lang="en-US"/>
                  <a:t>AGE GROUP</a:t>
                </a:r>
              </a:p>
            </c:rich>
          </c:tx>
          <c:layout>
            <c:manualLayout>
              <c:xMode val="edge"/>
              <c:yMode val="edge"/>
              <c:x val="0.44365439707250293"/>
              <c:y val="0.93742121270977541"/>
            </c:manualLayout>
          </c:layout>
          <c:overlay val="0"/>
          <c:spPr>
            <a:noFill/>
            <a:ln>
              <a:noFill/>
            </a:ln>
            <a:effectLst/>
          </c:spPr>
          <c:txPr>
            <a:bodyPr rot="0" spcFirstLastPara="1" vertOverflow="ellipsis" vert="horz" wrap="square" anchor="ctr" anchorCtr="1"/>
            <a:lstStyle/>
            <a:p>
              <a:pPr>
                <a:defRPr sz="1400" b="1" i="0" u="none" strike="noStrike" kern="1200" cap="all" baseline="0">
                  <a:ln w="3175">
                    <a:solidFill>
                      <a:schemeClr val="bg1"/>
                    </a:solidFill>
                  </a:ln>
                  <a:solidFill>
                    <a:schemeClr val="bg1"/>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400" b="0" i="0" u="none" strike="noStrike" kern="1200" baseline="0">
                <a:ln w="3175">
                  <a:solidFill>
                    <a:schemeClr val="bg1"/>
                  </a:solidFill>
                </a:ln>
                <a:solidFill>
                  <a:schemeClr val="bg1"/>
                </a:solidFill>
                <a:latin typeface="+mn-lt"/>
                <a:ea typeface="+mn-ea"/>
                <a:cs typeface="+mn-cs"/>
              </a:defRPr>
            </a:pPr>
            <a:endParaRPr lang="en-US"/>
          </a:p>
        </c:txPr>
        <c:crossAx val="1685189487"/>
        <c:crosses val="autoZero"/>
        <c:auto val="1"/>
        <c:lblAlgn val="ctr"/>
        <c:lblOffset val="100"/>
        <c:noMultiLvlLbl val="0"/>
      </c:catAx>
      <c:valAx>
        <c:axId val="1685189487"/>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400" b="1" i="0" u="none" strike="noStrike" kern="1200" cap="all" baseline="0">
                    <a:ln w="3175">
                      <a:solidFill>
                        <a:schemeClr val="bg1"/>
                      </a:solidFill>
                    </a:ln>
                    <a:solidFill>
                      <a:schemeClr val="bg1"/>
                    </a:solidFill>
                    <a:latin typeface="+mn-lt"/>
                    <a:ea typeface="+mn-ea"/>
                    <a:cs typeface="+mn-cs"/>
                  </a:defRPr>
                </a:pPr>
                <a:r>
                  <a:rPr lang="en-US"/>
                  <a:t>SATISFACTION RATE</a:t>
                </a:r>
              </a:p>
            </c:rich>
          </c:tx>
          <c:layout>
            <c:manualLayout>
              <c:xMode val="edge"/>
              <c:yMode val="edge"/>
              <c:x val="1.3888888888888888E-2"/>
              <c:y val="0.26995151647710702"/>
            </c:manualLayout>
          </c:layout>
          <c:overlay val="0"/>
          <c:spPr>
            <a:noFill/>
            <a:ln>
              <a:noFill/>
            </a:ln>
            <a:effectLst/>
          </c:spPr>
          <c:txPr>
            <a:bodyPr rot="-5400000" spcFirstLastPara="1" vertOverflow="ellipsis" vert="horz" wrap="square" anchor="ctr" anchorCtr="1"/>
            <a:lstStyle/>
            <a:p>
              <a:pPr>
                <a:defRPr sz="1400" b="1" i="0" u="none" strike="noStrike" kern="1200" cap="all" baseline="0">
                  <a:ln w="3175">
                    <a:solidFill>
                      <a:schemeClr val="bg1"/>
                    </a:solidFill>
                  </a:ln>
                  <a:solidFill>
                    <a:schemeClr val="bg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ln w="3175">
                  <a:solidFill>
                    <a:schemeClr val="bg1"/>
                  </a:solidFill>
                </a:ln>
                <a:solidFill>
                  <a:schemeClr val="bg1"/>
                </a:solidFill>
                <a:latin typeface="+mn-lt"/>
                <a:ea typeface="+mn-ea"/>
                <a:cs typeface="+mn-cs"/>
              </a:defRPr>
            </a:pPr>
            <a:endParaRPr lang="en-US"/>
          </a:p>
        </c:txPr>
        <c:crossAx val="1685205807"/>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400" b="0" i="0" u="none" strike="noStrike" kern="1200" baseline="0">
                <a:ln w="3175">
                  <a:solidFill>
                    <a:schemeClr val="bg1"/>
                  </a:solidFill>
                </a:ln>
                <a:solidFill>
                  <a:schemeClr val="bg1"/>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w="47625">
      <a:solidFill>
        <a:srgbClr val="0070C0"/>
      </a:solidFill>
    </a:ln>
    <a:effectLst/>
  </c:spPr>
  <c:txPr>
    <a:bodyPr/>
    <a:lstStyle/>
    <a:p>
      <a:pPr>
        <a:defRPr sz="1400" baseline="0">
          <a:ln w="3175">
            <a:solidFill>
              <a:schemeClr val="bg1"/>
            </a:solidFill>
          </a:ln>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ANALYSIS_PROJECT DATA_NS AFTER FEEDBACK.xlsx]SUBJECTIVE QUESTIONS!PivotTable14</c:name>
    <c:fmtId val="72"/>
  </c:pivotSource>
  <c:chart>
    <c:title>
      <c:tx>
        <c:rich>
          <a:bodyPr rot="0" spcFirstLastPara="1" vertOverflow="ellipsis" vert="horz" wrap="square" anchor="ctr" anchorCtr="1"/>
          <a:lstStyle/>
          <a:p>
            <a:pPr>
              <a:defRPr sz="1600" b="1" i="0" u="none" strike="noStrike" kern="1200" spc="100" baseline="0">
                <a:ln w="6350">
                  <a:solidFill>
                    <a:schemeClr val="bg1"/>
                  </a:solidFill>
                </a:ln>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 Tickets by Age</a:t>
            </a:r>
            <a:r>
              <a:rPr lang="en-US" baseline="0"/>
              <a:t> group</a:t>
            </a:r>
            <a:endParaRPr lang="en-US"/>
          </a:p>
        </c:rich>
      </c:tx>
      <c:overlay val="0"/>
      <c:spPr>
        <a:noFill/>
        <a:ln>
          <a:noFill/>
        </a:ln>
        <a:effectLst/>
      </c:spPr>
      <c:txPr>
        <a:bodyPr rot="0" spcFirstLastPara="1" vertOverflow="ellipsis" vert="horz" wrap="square" anchor="ctr" anchorCtr="1"/>
        <a:lstStyle/>
        <a:p>
          <a:pPr>
            <a:defRPr sz="1600" b="1" i="0" u="none" strike="noStrike" kern="1200" spc="100" baseline="0">
              <a:ln w="6350">
                <a:solidFill>
                  <a:schemeClr val="bg1"/>
                </a:solidFill>
              </a:ln>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13352635608048993"/>
              <c:y val="8.2275444736074663E-2"/>
            </c:manualLayout>
          </c:layout>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13352635608048993"/>
              <c:y val="8.2275444736074663E-2"/>
            </c:manualLayout>
          </c:layout>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13352635608048993"/>
              <c:y val="8.2275444736074663E-2"/>
            </c:manualLayout>
          </c:layout>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s>
    <c:plotArea>
      <c:layout/>
      <c:pieChart>
        <c:varyColors val="1"/>
        <c:ser>
          <c:idx val="0"/>
          <c:order val="0"/>
          <c:tx>
            <c:strRef>
              <c:f>'SUBJECTIVE QUESTIONS'!$B$278</c:f>
              <c:strCache>
                <c:ptCount val="1"/>
                <c:pt idx="0">
                  <c:v>Total</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A08-42B8-86C3-E9AF3C969117}"/>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A08-42B8-86C3-E9AF3C969117}"/>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A08-42B8-86C3-E9AF3C969117}"/>
              </c:ext>
            </c:extLst>
          </c:dPt>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A08-42B8-86C3-E9AF3C969117}"/>
                </c:ext>
              </c:extLst>
            </c:dLbl>
            <c:dLbl>
              <c:idx val="1"/>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A08-42B8-86C3-E9AF3C969117}"/>
                </c:ext>
              </c:extLst>
            </c:dLbl>
            <c:dLbl>
              <c:idx val="2"/>
              <c:layout>
                <c:manualLayout>
                  <c:x val="0.13352635608048993"/>
                  <c:y val="8.2275444736074663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A08-42B8-86C3-E9AF3C969117}"/>
                </c:ext>
              </c:extLst>
            </c:dLbl>
            <c:spPr>
              <a:noFill/>
              <a:ln>
                <a:noFill/>
              </a:ln>
              <a:effectLst/>
            </c:spPr>
            <c:txPr>
              <a:bodyPr rot="0" spcFirstLastPara="1" vertOverflow="ellipsis" vert="horz" wrap="square" anchor="ctr" anchorCtr="1"/>
              <a:lstStyle/>
              <a:p>
                <a:pPr>
                  <a:defRPr sz="1100" b="0" i="0" u="none" strike="noStrike" kern="1200" baseline="0">
                    <a:ln w="6350">
                      <a:solidFill>
                        <a:schemeClr val="bg1"/>
                      </a:solidFill>
                    </a:ln>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'SUBJECTIVE QUESTIONS'!$A$279:$A$282</c:f>
              <c:strCache>
                <c:ptCount val="3"/>
                <c:pt idx="0">
                  <c:v>25-34</c:v>
                </c:pt>
                <c:pt idx="1">
                  <c:v>35-44</c:v>
                </c:pt>
                <c:pt idx="2">
                  <c:v>45-54</c:v>
                </c:pt>
              </c:strCache>
            </c:strRef>
          </c:cat>
          <c:val>
            <c:numRef>
              <c:f>'SUBJECTIVE QUESTIONS'!$B$279:$B$282</c:f>
              <c:numCache>
                <c:formatCode>0.000%</c:formatCode>
                <c:ptCount val="3"/>
                <c:pt idx="0">
                  <c:v>0.28019036287923854</c:v>
                </c:pt>
                <c:pt idx="1">
                  <c:v>0.3790539293113705</c:v>
                </c:pt>
                <c:pt idx="2">
                  <c:v>0.34075570780939096</c:v>
                </c:pt>
              </c:numCache>
            </c:numRef>
          </c:val>
          <c:extLst>
            <c:ext xmlns:c16="http://schemas.microsoft.com/office/drawing/2014/chart" uri="{C3380CC4-5D6E-409C-BE32-E72D297353CC}">
              <c16:uniqueId val="{00000006-3A08-42B8-86C3-E9AF3C969117}"/>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ln w="6350">
                <a:solidFill>
                  <a:schemeClr val="bg1"/>
                </a:solidFill>
              </a:ln>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w="38100">
      <a:solidFill>
        <a:srgbClr val="981BB5"/>
      </a:solidFill>
    </a:ln>
    <a:effectLst/>
  </c:spPr>
  <c:txPr>
    <a:bodyPr/>
    <a:lstStyle/>
    <a:p>
      <a:pPr>
        <a:defRPr>
          <a:ln w="6350">
            <a:solidFill>
              <a:schemeClr val="bg1"/>
            </a:solidFill>
          </a:ln>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ANALYSIS_PROJECT DATA_NS.xlsx]SUBJECTIVE QUESTIONS!PivotTable15</c:name>
    <c:fmtId val="79"/>
  </c:pivotSource>
  <c:chart>
    <c:title>
      <c:tx>
        <c:rich>
          <a:bodyPr rot="0" spcFirstLastPara="1" vertOverflow="ellipsis" vert="horz" wrap="square" anchor="ctr" anchorCtr="1"/>
          <a:lstStyle/>
          <a:p>
            <a:pPr>
              <a:defRPr sz="13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600"/>
              <a:t>TICKET BY SEVERITY RATE</a:t>
            </a:r>
          </a:p>
        </c:rich>
      </c:tx>
      <c:layout>
        <c:manualLayout>
          <c:xMode val="edge"/>
          <c:yMode val="edge"/>
          <c:x val="0.28327054051961736"/>
          <c:y val="2.399870514609723E-2"/>
        </c:manualLayout>
      </c:layout>
      <c:overlay val="0"/>
      <c:spPr>
        <a:noFill/>
        <a:ln>
          <a:noFill/>
        </a:ln>
        <a:effectLst/>
      </c:spPr>
      <c:txPr>
        <a:bodyPr rot="0" spcFirstLastPara="1" vertOverflow="ellipsis" vert="horz" wrap="square" anchor="ctr" anchorCtr="1"/>
        <a:lstStyle/>
        <a:p>
          <a:pPr>
            <a:defRPr sz="13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pattFill prst="dkDnDiag">
            <a:fgClr>
              <a:schemeClr val="accent1"/>
            </a:fgClr>
            <a:bgClr>
              <a:schemeClr val="bg1"/>
            </a:bgClr>
          </a:pattFill>
          <a:ln>
            <a:solidFill>
              <a:srgbClr val="7030A0"/>
            </a:solidFill>
          </a:ln>
          <a:effectLst>
            <a:outerShdw blurRad="50800" dist="38100" dir="8100000" algn="tr" rotWithShape="0">
              <a:schemeClr val="accent4">
                <a:lumMod val="75000"/>
                <a:alpha val="40000"/>
              </a:scheme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anchor="ctr" anchorCtr="1"/>
            <a:lstStyle/>
            <a:p>
              <a:pPr>
                <a:defRPr sz="115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pattFill prst="dkDnDiag">
            <a:fgClr>
              <a:schemeClr val="accent1"/>
            </a:fgClr>
            <a:bgClr>
              <a:schemeClr val="bg1"/>
            </a:bgClr>
          </a:pattFill>
          <a:ln>
            <a:solidFill>
              <a:srgbClr val="7030A0"/>
            </a:solidFill>
          </a:ln>
          <a:effectLst>
            <a:outerShdw blurRad="50800" dist="38100" dir="8100000" algn="tr" rotWithShape="0">
              <a:schemeClr val="accent4">
                <a:lumMod val="75000"/>
                <a:alpha val="40000"/>
              </a:scheme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5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dkDnDiag">
            <a:fgClr>
              <a:schemeClr val="accent1"/>
            </a:fgClr>
            <a:bgClr>
              <a:schemeClr val="bg1"/>
            </a:bgClr>
          </a:pattFill>
          <a:ln>
            <a:solidFill>
              <a:srgbClr val="7030A0"/>
            </a:solidFill>
          </a:ln>
          <a:effectLst>
            <a:outerShdw blurRad="50800" dist="38100" dir="8100000" algn="tr" rotWithShape="0">
              <a:schemeClr val="accent4">
                <a:lumMod val="75000"/>
                <a:alpha val="40000"/>
              </a:scheme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5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5396544727008352"/>
          <c:y val="0.1023201200652419"/>
          <c:w val="0.82324654853696788"/>
          <c:h val="0.68428611223251501"/>
        </c:manualLayout>
      </c:layout>
      <c:barChart>
        <c:barDir val="col"/>
        <c:grouping val="clustered"/>
        <c:varyColors val="0"/>
        <c:ser>
          <c:idx val="0"/>
          <c:order val="0"/>
          <c:tx>
            <c:strRef>
              <c:f>'SUBJECTIVE QUESTIONS'!$B$314</c:f>
              <c:strCache>
                <c:ptCount val="1"/>
                <c:pt idx="0">
                  <c:v>Total</c:v>
                </c:pt>
              </c:strCache>
            </c:strRef>
          </c:tx>
          <c:spPr>
            <a:pattFill prst="dkDnDiag">
              <a:fgClr>
                <a:schemeClr val="accent1"/>
              </a:fgClr>
              <a:bgClr>
                <a:schemeClr val="bg1"/>
              </a:bgClr>
            </a:pattFill>
            <a:ln>
              <a:solidFill>
                <a:srgbClr val="7030A0"/>
              </a:solidFill>
            </a:ln>
            <a:effectLst>
              <a:outerShdw blurRad="50800" dist="38100" dir="8100000" algn="tr" rotWithShape="0">
                <a:schemeClr val="accent4">
                  <a:lumMod val="75000"/>
                  <a:alpha val="40000"/>
                </a:schemeClr>
              </a:outerShdw>
            </a:effectLst>
          </c:spPr>
          <c:invertIfNegative val="0"/>
          <c:cat>
            <c:strRef>
              <c:f>'SUBJECTIVE QUESTIONS'!$A$315:$A$320</c:f>
              <c:strCache>
                <c:ptCount val="5"/>
                <c:pt idx="0">
                  <c:v>0 - Unclasified</c:v>
                </c:pt>
                <c:pt idx="1">
                  <c:v>1 - Minor</c:v>
                </c:pt>
                <c:pt idx="2">
                  <c:v>2 - Normal</c:v>
                </c:pt>
                <c:pt idx="3">
                  <c:v>3 - Mayor</c:v>
                </c:pt>
                <c:pt idx="4">
                  <c:v>4 - Urgent</c:v>
                </c:pt>
              </c:strCache>
            </c:strRef>
          </c:cat>
          <c:val>
            <c:numRef>
              <c:f>'SUBJECTIVE QUESTIONS'!$B$315:$B$320</c:f>
              <c:numCache>
                <c:formatCode>General</c:formatCode>
                <c:ptCount val="5"/>
                <c:pt idx="0">
                  <c:v>356</c:v>
                </c:pt>
                <c:pt idx="1">
                  <c:v>2258</c:v>
                </c:pt>
                <c:pt idx="2">
                  <c:v>88656</c:v>
                </c:pt>
                <c:pt idx="3">
                  <c:v>4836</c:v>
                </c:pt>
                <c:pt idx="4">
                  <c:v>1392</c:v>
                </c:pt>
              </c:numCache>
            </c:numRef>
          </c:val>
          <c:extLst>
            <c:ext xmlns:c16="http://schemas.microsoft.com/office/drawing/2014/chart" uri="{C3380CC4-5D6E-409C-BE32-E72D297353CC}">
              <c16:uniqueId val="{00000000-70EA-4BDA-A463-EC7B5DD3D2B3}"/>
            </c:ext>
          </c:extLst>
        </c:ser>
        <c:dLbls>
          <c:showLegendKey val="0"/>
          <c:showVal val="0"/>
          <c:showCatName val="0"/>
          <c:showSerName val="0"/>
          <c:showPercent val="0"/>
          <c:showBubbleSize val="0"/>
        </c:dLbls>
        <c:gapWidth val="100"/>
        <c:overlap val="-24"/>
        <c:axId val="951902847"/>
        <c:axId val="951905727"/>
      </c:barChart>
      <c:catAx>
        <c:axId val="951902847"/>
        <c:scaling>
          <c:orientation val="minMax"/>
        </c:scaling>
        <c:delete val="0"/>
        <c:axPos val="b"/>
        <c:title>
          <c:tx>
            <c:rich>
              <a:bodyPr rot="0" spcFirstLastPara="1" vertOverflow="ellipsis" vert="horz" wrap="square" anchor="ctr" anchorCtr="1"/>
              <a:lstStyle/>
              <a:p>
                <a:pPr>
                  <a:defRPr sz="1150" b="1" i="0" u="none" strike="noStrike" kern="1200" cap="all" baseline="0">
                    <a:solidFill>
                      <a:schemeClr val="lt1">
                        <a:lumMod val="85000"/>
                      </a:schemeClr>
                    </a:solidFill>
                    <a:latin typeface="+mn-lt"/>
                    <a:ea typeface="+mn-ea"/>
                    <a:cs typeface="+mn-cs"/>
                  </a:defRPr>
                </a:pPr>
                <a:r>
                  <a:rPr lang="en-US" sz="1400"/>
                  <a:t>SEVERITY</a:t>
                </a:r>
                <a:r>
                  <a:rPr lang="en-US" sz="1400" baseline="0"/>
                  <a:t> RATE </a:t>
                </a:r>
                <a:endParaRPr lang="en-US" sz="1400"/>
              </a:p>
            </c:rich>
          </c:tx>
          <c:layout>
            <c:manualLayout>
              <c:xMode val="edge"/>
              <c:yMode val="edge"/>
              <c:x val="0.4488995707865221"/>
              <c:y val="0.93568356073121606"/>
            </c:manualLayout>
          </c:layout>
          <c:overlay val="0"/>
          <c:spPr>
            <a:noFill/>
            <a:ln>
              <a:noFill/>
            </a:ln>
            <a:effectLst/>
          </c:spPr>
          <c:txPr>
            <a:bodyPr rot="0" spcFirstLastPara="1" vertOverflow="ellipsis" vert="horz" wrap="square" anchor="ctr" anchorCtr="1"/>
            <a:lstStyle/>
            <a:p>
              <a:pPr>
                <a:defRPr sz="115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50" b="0" i="0" u="none" strike="noStrike" kern="1200" baseline="0">
                <a:solidFill>
                  <a:schemeClr val="lt1">
                    <a:lumMod val="85000"/>
                  </a:schemeClr>
                </a:solidFill>
                <a:latin typeface="+mn-lt"/>
                <a:ea typeface="+mn-ea"/>
                <a:cs typeface="+mn-cs"/>
              </a:defRPr>
            </a:pPr>
            <a:endParaRPr lang="en-US"/>
          </a:p>
        </c:txPr>
        <c:crossAx val="951905727"/>
        <c:crosses val="autoZero"/>
        <c:auto val="1"/>
        <c:lblAlgn val="ctr"/>
        <c:lblOffset val="100"/>
        <c:noMultiLvlLbl val="0"/>
      </c:catAx>
      <c:valAx>
        <c:axId val="951905727"/>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150" b="1" i="0" u="none" strike="noStrike" kern="1200" cap="all" baseline="0">
                    <a:solidFill>
                      <a:schemeClr val="lt1">
                        <a:lumMod val="85000"/>
                      </a:schemeClr>
                    </a:solidFill>
                    <a:latin typeface="+mn-lt"/>
                    <a:ea typeface="+mn-ea"/>
                    <a:cs typeface="+mn-cs"/>
                  </a:defRPr>
                </a:pPr>
                <a:r>
                  <a:rPr lang="en-US" sz="1600"/>
                  <a:t>CONT OF TICKET</a:t>
                </a:r>
              </a:p>
            </c:rich>
          </c:tx>
          <c:layout>
            <c:manualLayout>
              <c:xMode val="edge"/>
              <c:yMode val="edge"/>
              <c:x val="2.3411702999779687E-3"/>
              <c:y val="0.30683602210562638"/>
            </c:manualLayout>
          </c:layout>
          <c:overlay val="0"/>
          <c:spPr>
            <a:noFill/>
            <a:ln>
              <a:noFill/>
            </a:ln>
            <a:effectLst/>
          </c:spPr>
          <c:txPr>
            <a:bodyPr rot="-5400000" spcFirstLastPara="1" vertOverflow="ellipsis" vert="horz" wrap="square" anchor="ctr" anchorCtr="1"/>
            <a:lstStyle/>
            <a:p>
              <a:pPr>
                <a:defRPr sz="115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951902847"/>
        <c:crosses val="autoZero"/>
        <c:crossBetween val="between"/>
        <c:majorUnit val="5000"/>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4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w="60325">
      <a:solidFill>
        <a:schemeClr val="bg1"/>
      </a:solidFill>
    </a:ln>
    <a:effectLst/>
  </c:spPr>
  <c:txPr>
    <a:bodyPr/>
    <a:lstStyle/>
    <a:p>
      <a:pPr>
        <a:defRPr sz="1150" baseline="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ANALYSIS_PROJECT DATA_NS.xlsx]SUBJECTIVE QUESTIONS!PivotTable4</c:name>
    <c:fmtId val="44"/>
  </c:pivotSource>
  <c:chart>
    <c:title>
      <c:tx>
        <c:rich>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2000" dirty="0">
                <a:latin typeface="Calibri" panose="020F0502020204030204" pitchFamily="34" charset="0"/>
                <a:ea typeface="Calibri" panose="020F0502020204030204" pitchFamily="34" charset="0"/>
                <a:cs typeface="Calibri" panose="020F0502020204030204" pitchFamily="34" charset="0"/>
              </a:rPr>
              <a:t>Tickets by Priority</a:t>
            </a:r>
          </a:p>
        </c:rich>
      </c:tx>
      <c:overlay val="0"/>
      <c:spPr>
        <a:noFill/>
        <a:ln>
          <a:noFill/>
        </a:ln>
        <a:effectLst/>
      </c:spPr>
      <c:txPr>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6">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rad="127000">
              <a:schemeClr val="tx1">
                <a:alpha val="26000"/>
              </a:schemeClr>
            </a:glow>
            <a:outerShdw blurRad="50800" dist="38100" dir="5400000" algn="t" rotWithShape="0">
              <a:schemeClr val="tx1">
                <a:alpha val="40000"/>
              </a:scheme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rad="127000">
              <a:schemeClr val="tx1">
                <a:alpha val="26000"/>
              </a:schemeClr>
            </a:glow>
            <a:outerShdw blurRad="50800" dist="38100" dir="5400000" algn="t" rotWithShape="0">
              <a:schemeClr val="tx1">
                <a:alpha val="40000"/>
              </a:scheme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rad="127000">
              <a:schemeClr val="tx1">
                <a:alpha val="26000"/>
              </a:schemeClr>
            </a:glow>
            <a:outerShdw blurRad="50800" dist="38100" dir="5400000" algn="t" rotWithShape="0">
              <a:schemeClr val="tx1">
                <a:alpha val="40000"/>
              </a:scheme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418395892785287"/>
          <c:y val="9.3911796842884976E-2"/>
          <c:w val="0.8174839124723704"/>
          <c:h val="0.64828666280024105"/>
        </c:manualLayout>
      </c:layout>
      <c:barChart>
        <c:barDir val="col"/>
        <c:grouping val="clustered"/>
        <c:varyColors val="0"/>
        <c:ser>
          <c:idx val="0"/>
          <c:order val="0"/>
          <c:tx>
            <c:strRef>
              <c:f>'SUBJECTIVE QUESTIONS'!$I$28</c:f>
              <c:strCache>
                <c:ptCount val="1"/>
                <c:pt idx="0">
                  <c:v>Total</c:v>
                </c:pt>
              </c:strCache>
            </c:strRef>
          </c:tx>
          <c:spPr>
            <a:gradFill rotWithShape="1">
              <a:gsLst>
                <a:gs pos="0">
                  <a:schemeClr val="accent6">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rad="127000">
                <a:schemeClr val="tx1">
                  <a:alpha val="26000"/>
                </a:schemeClr>
              </a:glow>
              <a:outerShdw blurRad="50800" dist="38100" dir="5400000" algn="t" rotWithShape="0">
                <a:schemeClr val="tx1">
                  <a:alpha val="40000"/>
                </a:schemeClr>
              </a:outerShdw>
            </a:effectLst>
          </c:spPr>
          <c:invertIfNegative val="0"/>
          <c:cat>
            <c:strRef>
              <c:f>'SUBJECTIVE QUESTIONS'!$H$29:$H$33</c:f>
              <c:strCache>
                <c:ptCount val="4"/>
                <c:pt idx="0">
                  <c:v>0 - Unassiged</c:v>
                </c:pt>
                <c:pt idx="1">
                  <c:v>1 - Low</c:v>
                </c:pt>
                <c:pt idx="2">
                  <c:v>2 - Mid</c:v>
                </c:pt>
                <c:pt idx="3">
                  <c:v>3 - High</c:v>
                </c:pt>
              </c:strCache>
            </c:strRef>
          </c:cat>
          <c:val>
            <c:numRef>
              <c:f>'SUBJECTIVE QUESTIONS'!$I$29:$I$33</c:f>
              <c:numCache>
                <c:formatCode>General</c:formatCode>
                <c:ptCount val="4"/>
                <c:pt idx="0">
                  <c:v>29410</c:v>
                </c:pt>
                <c:pt idx="1">
                  <c:v>16694</c:v>
                </c:pt>
                <c:pt idx="2">
                  <c:v>15845</c:v>
                </c:pt>
                <c:pt idx="3">
                  <c:v>35549</c:v>
                </c:pt>
              </c:numCache>
            </c:numRef>
          </c:val>
          <c:extLst>
            <c:ext xmlns:c16="http://schemas.microsoft.com/office/drawing/2014/chart" uri="{C3380CC4-5D6E-409C-BE32-E72D297353CC}">
              <c16:uniqueId val="{00000000-DA20-4CB0-9FB9-B40113D7A379}"/>
            </c:ext>
          </c:extLst>
        </c:ser>
        <c:dLbls>
          <c:showLegendKey val="0"/>
          <c:showVal val="0"/>
          <c:showCatName val="0"/>
          <c:showSerName val="0"/>
          <c:showPercent val="0"/>
          <c:showBubbleSize val="0"/>
        </c:dLbls>
        <c:gapWidth val="100"/>
        <c:overlap val="-24"/>
        <c:axId val="1938916224"/>
        <c:axId val="1938911424"/>
      </c:barChart>
      <c:catAx>
        <c:axId val="1938916224"/>
        <c:scaling>
          <c:orientation val="minMax"/>
        </c:scaling>
        <c:delete val="0"/>
        <c:axPos val="b"/>
        <c:title>
          <c:tx>
            <c:rich>
              <a:bodyPr rot="0" spcFirstLastPara="1" vertOverflow="ellipsis" vert="horz" wrap="square" anchor="ctr" anchorCtr="1"/>
              <a:lstStyle/>
              <a:p>
                <a:pPr>
                  <a:defRPr sz="1400" b="1" i="0" u="none" strike="noStrike" kern="1200" cap="all" baseline="0">
                    <a:solidFill>
                      <a:schemeClr val="lt1">
                        <a:lumMod val="85000"/>
                      </a:schemeClr>
                    </a:solidFill>
                    <a:latin typeface="+mn-lt"/>
                    <a:ea typeface="+mn-ea"/>
                    <a:cs typeface="+mn-cs"/>
                  </a:defRPr>
                </a:pPr>
                <a:r>
                  <a:rPr lang="en-US" sz="1800" dirty="0">
                    <a:latin typeface="Calibri" panose="020F0502020204030204" pitchFamily="34" charset="0"/>
                    <a:ea typeface="Calibri" panose="020F0502020204030204" pitchFamily="34" charset="0"/>
                    <a:cs typeface="Calibri" panose="020F0502020204030204" pitchFamily="34" charset="0"/>
                  </a:rPr>
                  <a:t>PRIORITY LEVEL</a:t>
                </a:r>
              </a:p>
            </c:rich>
          </c:tx>
          <c:layout>
            <c:manualLayout>
              <c:xMode val="edge"/>
              <c:yMode val="edge"/>
              <c:x val="0.43614893056103604"/>
              <c:y val="0.918901546994633"/>
            </c:manualLayout>
          </c:layout>
          <c:overlay val="0"/>
          <c:spPr>
            <a:noFill/>
            <a:ln>
              <a:noFill/>
            </a:ln>
            <a:effectLst/>
          </c:spPr>
          <c:txPr>
            <a:bodyPr rot="0" spcFirstLastPara="1" vertOverflow="ellipsis" vert="horz" wrap="square" anchor="ctr" anchorCtr="1"/>
            <a:lstStyle/>
            <a:p>
              <a:pPr>
                <a:defRPr sz="14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1938911424"/>
        <c:crosses val="autoZero"/>
        <c:auto val="1"/>
        <c:lblAlgn val="ctr"/>
        <c:lblOffset val="100"/>
        <c:noMultiLvlLbl val="0"/>
      </c:catAx>
      <c:valAx>
        <c:axId val="1938911424"/>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400" b="1" i="0" u="none" strike="noStrike" kern="1200" cap="all" baseline="0">
                    <a:solidFill>
                      <a:schemeClr val="lt1">
                        <a:lumMod val="85000"/>
                      </a:schemeClr>
                    </a:solidFill>
                    <a:latin typeface="+mn-lt"/>
                    <a:ea typeface="+mn-ea"/>
                    <a:cs typeface="+mn-cs"/>
                  </a:defRPr>
                </a:pPr>
                <a:r>
                  <a:rPr lang="en-US" sz="1800" dirty="0">
                    <a:latin typeface="Calibri" panose="020F0502020204030204" pitchFamily="34" charset="0"/>
                    <a:ea typeface="Calibri" panose="020F0502020204030204" pitchFamily="34" charset="0"/>
                    <a:cs typeface="Calibri" panose="020F0502020204030204" pitchFamily="34" charset="0"/>
                  </a:rPr>
                  <a:t>COUNT OF TICKETS</a:t>
                </a:r>
              </a:p>
            </c:rich>
          </c:tx>
          <c:layout>
            <c:manualLayout>
              <c:xMode val="edge"/>
              <c:yMode val="edge"/>
              <c:x val="1.4347689093843065E-3"/>
              <c:y val="0.29259037597153525"/>
            </c:manualLayout>
          </c:layout>
          <c:overlay val="0"/>
          <c:spPr>
            <a:noFill/>
            <a:ln>
              <a:noFill/>
            </a:ln>
            <a:effectLst/>
          </c:spPr>
          <c:txPr>
            <a:bodyPr rot="-5400000" spcFirstLastPara="1" vertOverflow="ellipsis" vert="horz" wrap="square" anchor="ctr" anchorCtr="1"/>
            <a:lstStyle/>
            <a:p>
              <a:pPr>
                <a:defRPr sz="14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solidFill>
            <a:schemeClr val="tx1">
              <a:lumMod val="50000"/>
              <a:lumOff val="50000"/>
              <a:alpha val="90000"/>
            </a:schemeClr>
          </a:solidFill>
          <a:ln>
            <a:solidFill>
              <a:schemeClr val="bg1">
                <a:alpha val="89000"/>
              </a:schemeClr>
            </a:solidFill>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1938916224"/>
        <c:crosses val="autoZero"/>
        <c:crossBetween val="between"/>
      </c:valAx>
      <c:dTable>
        <c:showHorzBorder val="1"/>
        <c:showVertBorder val="1"/>
        <c:showOutline val="1"/>
        <c:showKeys val="1"/>
        <c:spPr>
          <a:noFill/>
          <a:ln w="9525">
            <a:solidFill>
              <a:schemeClr val="lt1">
                <a:lumMod val="95000"/>
                <a:alpha val="54000"/>
              </a:schemeClr>
            </a:solidFill>
          </a:ln>
          <a:effectLst/>
        </c:spPr>
        <c:txPr>
          <a:bodyPr rot="0" spcFirstLastPara="1" vertOverflow="ellipsis" vert="horz" wrap="square" anchor="ctr" anchorCtr="1"/>
          <a:lstStyle/>
          <a:p>
            <a:pPr rtl="0">
              <a:defRPr sz="1400" b="0" i="0" u="none" strike="noStrike" kern="1200" baseline="0">
                <a:solidFill>
                  <a:schemeClr val="lt1">
                    <a:lumMod val="8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50000"/>
        <a:lumOff val="50000"/>
      </a:schemeClr>
    </a:solidFill>
    <a:ln w="44450">
      <a:solidFill>
        <a:srgbClr val="002060"/>
      </a:solidFill>
    </a:ln>
    <a:effectLst>
      <a:outerShdw blurRad="50800" dist="50800" dir="5400000" algn="ctr" rotWithShape="0">
        <a:schemeClr val="tx1"/>
      </a:outerShdw>
    </a:effectLst>
  </c:spPr>
  <c:txPr>
    <a:bodyPr/>
    <a:lstStyle/>
    <a:p>
      <a:pPr>
        <a:defRPr sz="1400" baseline="0"/>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2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gradFill>
        <a:gsLst>
          <a:gs pos="100000">
            <a:schemeClr val="dk1">
              <a:lumMod val="95000"/>
              <a:lumOff val="5000"/>
            </a:schemeClr>
          </a:gs>
          <a:gs pos="0">
            <a:schemeClr val="dk1">
              <a:lumMod val="75000"/>
              <a:lumOff val="25000"/>
            </a:schemeClr>
          </a:gs>
        </a:gsLst>
        <a:path path="circle">
          <a:fillToRect l="50000" t="50000" r="50000" b="50000"/>
        </a:path>
      </a:gradFill>
      <a:ln w="9525">
        <a:solidFill>
          <a:schemeClr val="dk1">
            <a:lumMod val="75000"/>
            <a:lumOff val="25000"/>
          </a:schemeClr>
        </a:solidFill>
      </a:ln>
    </cs:spPr>
  </cs:downBar>
  <cs:dropLine>
    <cs:lnRef idx="0"/>
    <cs:fillRef idx="0"/>
    <cs:effectRef idx="0"/>
    <cs:fontRef idx="minor">
      <a:schemeClr val="tx1"/>
    </cs:fontRef>
    <cs:spPr>
      <a:ln w="9525" cap="flat" cmpd="sng" algn="ctr">
        <a:solidFill>
          <a:schemeClr val="lt1"/>
        </a:solidFill>
        <a:round/>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cap="flat" cmpd="sng" algn="ctr">
        <a:solidFill>
          <a:schemeClr val="lt1"/>
        </a:solidFill>
        <a:round/>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gradFill>
        <a:gsLst>
          <a:gs pos="100000">
            <a:schemeClr val="lt1">
              <a:lumMod val="85000"/>
            </a:schemeClr>
          </a:gs>
          <a:gs pos="0">
            <a:schemeClr val="lt1"/>
          </a:gs>
        </a:gsLst>
        <a:path path="circle">
          <a:fillToRect l="50000" t="50000" r="50000" b="50000"/>
        </a:path>
      </a:gradFill>
      <a:ln w="9525" cap="flat" cmpd="sng" algn="ctr">
        <a:solidFill>
          <a:schemeClr val="lt1"/>
        </a:solidFill>
        <a:round/>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10.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B30D67-EB7C-4323-A6AB-20071C4FCC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B26DD94-0E47-FE33-5C0F-9E497B99BE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433F7E-3633-4FA3-974D-CA21FB24834F}" type="datetimeFigureOut">
              <a:rPr lang="en-US" smtClean="0"/>
              <a:t>09/25/2026</a:t>
            </a:fld>
            <a:endParaRPr lang="en-US"/>
          </a:p>
        </p:txBody>
      </p:sp>
      <p:sp>
        <p:nvSpPr>
          <p:cNvPr id="4" name="Footer Placeholder 3">
            <a:extLst>
              <a:ext uri="{FF2B5EF4-FFF2-40B4-BE49-F238E27FC236}">
                <a16:creationId xmlns:a16="http://schemas.microsoft.com/office/drawing/2014/main" id="{B9636FF0-1B83-FCD7-197D-6F6CBEA8F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AA88305-7C09-5A95-A84B-C7CEA8D00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482836-E43C-41FF-A11B-3D8AB6E68FC7}" type="slidenum">
              <a:rPr lang="en-US" smtClean="0"/>
              <a:t>‹#›</a:t>
            </a:fld>
            <a:endParaRPr lang="en-US"/>
          </a:p>
        </p:txBody>
      </p:sp>
    </p:spTree>
    <p:extLst>
      <p:ext uri="{BB962C8B-B14F-4D97-AF65-F5344CB8AC3E}">
        <p14:creationId xmlns:p14="http://schemas.microsoft.com/office/powerpoint/2010/main" val="380098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5F7B4-7442-4021-9F1E-8BC3C363C892}" type="datetimeFigureOut">
              <a:rPr lang="en-US" noProof="0" smtClean="0"/>
              <a:t>09/25/2026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DE012-9E2E-4477-8B5C-4E7D4E9BCBA6}" type="slidenum">
              <a:rPr lang="en-US" noProof="0" smtClean="0"/>
              <a:t>‹#›</a:t>
            </a:fld>
            <a:endParaRPr lang="en-US" noProof="0" dirty="0"/>
          </a:p>
        </p:txBody>
      </p:sp>
    </p:spTree>
    <p:extLst>
      <p:ext uri="{BB962C8B-B14F-4D97-AF65-F5344CB8AC3E}">
        <p14:creationId xmlns:p14="http://schemas.microsoft.com/office/powerpoint/2010/main" val="739385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CDE012-9E2E-4477-8B5C-4E7D4E9BCBA6}" type="slidenum">
              <a:rPr lang="en-US" smtClean="0"/>
              <a:t>1</a:t>
            </a:fld>
            <a:endParaRPr lang="en-US"/>
          </a:p>
        </p:txBody>
      </p:sp>
    </p:spTree>
    <p:extLst>
      <p:ext uri="{BB962C8B-B14F-4D97-AF65-F5344CB8AC3E}">
        <p14:creationId xmlns:p14="http://schemas.microsoft.com/office/powerpoint/2010/main" val="1498192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CDE012-9E2E-4477-8B5C-4E7D4E9BCBA6}" type="slidenum">
              <a:rPr lang="en-US" noProof="0" smtClean="0"/>
              <a:t>2</a:t>
            </a:fld>
            <a:endParaRPr lang="en-US" noProof="0"/>
          </a:p>
        </p:txBody>
      </p:sp>
    </p:spTree>
    <p:extLst>
      <p:ext uri="{BB962C8B-B14F-4D97-AF65-F5344CB8AC3E}">
        <p14:creationId xmlns:p14="http://schemas.microsoft.com/office/powerpoint/2010/main" val="1673130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5D47C-E9DB-3B2A-33A7-BE306D8AE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AA6B6-DEB9-3736-8F50-37CC1C226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2A4E1-F1CF-7A1B-E742-036206F7C7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23FAFC-DB53-14C7-3A07-1C625DDAE3B1}"/>
              </a:ext>
            </a:extLst>
          </p:cNvPr>
          <p:cNvSpPr>
            <a:spLocks noGrp="1"/>
          </p:cNvSpPr>
          <p:nvPr>
            <p:ph type="sldNum" sz="quarter" idx="5"/>
          </p:nvPr>
        </p:nvSpPr>
        <p:spPr/>
        <p:txBody>
          <a:bodyPr/>
          <a:lstStyle/>
          <a:p>
            <a:fld id="{DECDE012-9E2E-4477-8B5C-4E7D4E9BCBA6}" type="slidenum">
              <a:rPr lang="en-US" noProof="0" smtClean="0"/>
              <a:t>3</a:t>
            </a:fld>
            <a:endParaRPr lang="en-US" noProof="0"/>
          </a:p>
        </p:txBody>
      </p:sp>
    </p:spTree>
    <p:extLst>
      <p:ext uri="{BB962C8B-B14F-4D97-AF65-F5344CB8AC3E}">
        <p14:creationId xmlns:p14="http://schemas.microsoft.com/office/powerpoint/2010/main" val="2140051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8029-33F3-9414-AD10-00871D91AA5D}"/>
              </a:ext>
            </a:extLst>
          </p:cNvPr>
          <p:cNvSpPr>
            <a:spLocks noGrp="1"/>
          </p:cNvSpPr>
          <p:nvPr>
            <p:ph type="ctrTitle"/>
          </p:nvPr>
        </p:nvSpPr>
        <p:spPr>
          <a:xfrm>
            <a:off x="2267712" y="1408176"/>
            <a:ext cx="6400800" cy="2387600"/>
          </a:xfrm>
        </p:spPr>
        <p:txBody>
          <a:bodyPr anchor="t">
            <a:normAutofit/>
          </a:bodyPr>
          <a:lstStyle>
            <a:lvl1pPr algn="l">
              <a:lnSpc>
                <a:spcPct val="80000"/>
              </a:lnSpc>
              <a:defRPr sz="7200" cap="all" baseline="0">
                <a:solidFill>
                  <a:schemeClr val="bg1"/>
                </a:solidFill>
              </a:defRPr>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4F32B008-64B6-378D-9C5D-DCC8DFEBC69E}"/>
              </a:ext>
            </a:extLst>
          </p:cNvPr>
          <p:cNvSpPr>
            <a:spLocks noGrp="1"/>
          </p:cNvSpPr>
          <p:nvPr>
            <p:ph type="subTitle" idx="1"/>
          </p:nvPr>
        </p:nvSpPr>
        <p:spPr>
          <a:xfrm>
            <a:off x="3867912" y="5047488"/>
            <a:ext cx="5486400" cy="384048"/>
          </a:xfrm>
        </p:spPr>
        <p:txBody>
          <a:bodyPr/>
          <a:lstStyle>
            <a:lvl1pPr marL="0" indent="0" algn="l">
              <a:lnSpc>
                <a:spcPct val="80000"/>
              </a:lnSpc>
              <a:spcBef>
                <a:spcPts val="0"/>
              </a:spcBef>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grpSp>
        <p:nvGrpSpPr>
          <p:cNvPr id="7" name="Group 6">
            <a:extLst>
              <a:ext uri="{FF2B5EF4-FFF2-40B4-BE49-F238E27FC236}">
                <a16:creationId xmlns:a16="http://schemas.microsoft.com/office/drawing/2014/main" id="{15444BA9-47A2-8EBA-F11F-AF833CBC1FB6}"/>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F7C7E957-5A54-C6BB-DBCA-B0A579E99122}"/>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75792F5-3B57-83E5-2E85-1B67A64BF570}"/>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80638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3BBE-23DC-E951-32B6-0E91B8089184}"/>
              </a:ext>
            </a:extLst>
          </p:cNvPr>
          <p:cNvSpPr>
            <a:spLocks noGrp="1"/>
          </p:cNvSpPr>
          <p:nvPr>
            <p:ph type="title"/>
          </p:nvPr>
        </p:nvSpPr>
        <p:spPr>
          <a:xfrm>
            <a:off x="2295144" y="1463040"/>
            <a:ext cx="7498080" cy="704088"/>
          </a:xfrm>
        </p:spPr>
        <p:txBody>
          <a:bodyPr/>
          <a:lstStyle>
            <a:lvl1pPr>
              <a:defRPr sz="5000"/>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4110836A-7452-872A-28D0-081C1338DC63}"/>
              </a:ext>
            </a:extLst>
          </p:cNvPr>
          <p:cNvSpPr>
            <a:spLocks noGrp="1"/>
          </p:cNvSpPr>
          <p:nvPr>
            <p:ph idx="1"/>
          </p:nvPr>
        </p:nvSpPr>
        <p:spPr>
          <a:xfrm>
            <a:off x="2322576" y="2953512"/>
            <a:ext cx="7470648" cy="3296563"/>
          </a:xfrm>
        </p:spPr>
        <p:txBody>
          <a:bodyPr/>
          <a:lstStyle>
            <a:lvl1pPr marL="0" indent="0">
              <a:lnSpc>
                <a:spcPct val="100000"/>
              </a:lnSpc>
              <a:spcBef>
                <a:spcPts val="0"/>
              </a:spcBef>
              <a:spcAft>
                <a:spcPts val="1500"/>
              </a:spcAft>
              <a:buNone/>
              <a:defRPr sz="2200" b="1"/>
            </a:lvl1pPr>
            <a:lvl2pPr marL="0" indent="0">
              <a:lnSpc>
                <a:spcPct val="100000"/>
              </a:lnSpc>
              <a:spcBef>
                <a:spcPts val="0"/>
              </a:spcBef>
              <a:buNone/>
              <a:defRPr sz="1600" i="1"/>
            </a:lvl2pPr>
          </a:lstStyle>
          <a:p>
            <a:pPr lvl="0"/>
            <a:r>
              <a:rPr lang="en-US" dirty="0"/>
              <a:t>Click to edit Master text styles</a:t>
            </a:r>
          </a:p>
          <a:p>
            <a:pPr lvl="1"/>
            <a:r>
              <a:rPr lang="en-US" dirty="0"/>
              <a:t>Second level</a:t>
            </a:r>
          </a:p>
          <a:p>
            <a:pPr lvl="2"/>
            <a:endParaRPr lang="en-PK" dirty="0"/>
          </a:p>
        </p:txBody>
      </p:sp>
      <p:sp>
        <p:nvSpPr>
          <p:cNvPr id="5" name="Footer Placeholder 4">
            <a:extLst>
              <a:ext uri="{FF2B5EF4-FFF2-40B4-BE49-F238E27FC236}">
                <a16:creationId xmlns:a16="http://schemas.microsoft.com/office/drawing/2014/main" id="{35E39F35-2573-69E0-B17D-B4B0F85CE77B}"/>
              </a:ext>
            </a:extLst>
          </p:cNvPr>
          <p:cNvSpPr>
            <a:spLocks noGrp="1"/>
          </p:cNvSpPr>
          <p:nvPr>
            <p:ph type="ftr" sz="quarter" idx="11"/>
          </p:nvPr>
        </p:nvSpPr>
        <p:spPr/>
        <p:txBody>
          <a:bodyPr/>
          <a:lstStyle/>
          <a:p>
            <a:r>
              <a:rPr lang="en-US" dirty="0"/>
              <a:t>Presentation title</a:t>
            </a:r>
            <a:endParaRPr lang="en-PK"/>
          </a:p>
        </p:txBody>
      </p:sp>
      <p:sp>
        <p:nvSpPr>
          <p:cNvPr id="6" name="Slide Number Placeholder 5">
            <a:extLst>
              <a:ext uri="{FF2B5EF4-FFF2-40B4-BE49-F238E27FC236}">
                <a16:creationId xmlns:a16="http://schemas.microsoft.com/office/drawing/2014/main" id="{35B5CE41-241D-72CD-1C8F-006A477B53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grpSp>
        <p:nvGrpSpPr>
          <p:cNvPr id="7" name="Group 6">
            <a:extLst>
              <a:ext uri="{FF2B5EF4-FFF2-40B4-BE49-F238E27FC236}">
                <a16:creationId xmlns:a16="http://schemas.microsoft.com/office/drawing/2014/main" id="{52789DD7-8E5F-BCF6-7A1E-0AC33BD880AC}"/>
              </a:ext>
            </a:extLst>
          </p:cNvPr>
          <p:cNvGrpSpPr/>
          <p:nvPr userDrawn="1"/>
        </p:nvGrpSpPr>
        <p:grpSpPr>
          <a:xfrm>
            <a:off x="2400300" y="2535841"/>
            <a:ext cx="9801127" cy="821"/>
            <a:chOff x="2286319" y="5546299"/>
            <a:chExt cx="9801127" cy="903"/>
          </a:xfrm>
        </p:grpSpPr>
        <p:cxnSp>
          <p:nvCxnSpPr>
            <p:cNvPr id="8" name="Straight Connector 7">
              <a:extLst>
                <a:ext uri="{FF2B5EF4-FFF2-40B4-BE49-F238E27FC236}">
                  <a16:creationId xmlns:a16="http://schemas.microsoft.com/office/drawing/2014/main" id="{D610F86C-F479-AC03-216E-DD60112AC854}"/>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02E8F6-3623-48C2-4F02-9472E2977FB8}"/>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826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9D39-DAD0-D550-D3C7-42F702A78C3A}"/>
              </a:ext>
            </a:extLst>
          </p:cNvPr>
          <p:cNvSpPr>
            <a:spLocks noGrp="1"/>
          </p:cNvSpPr>
          <p:nvPr>
            <p:ph type="title"/>
          </p:nvPr>
        </p:nvSpPr>
        <p:spPr>
          <a:xfrm>
            <a:off x="4056992" y="1709738"/>
            <a:ext cx="7290458" cy="2852737"/>
          </a:xfrm>
        </p:spPr>
        <p:txBody>
          <a:bodyPr anchor="b"/>
          <a:lstStyle>
            <a:lvl1pPr>
              <a:defRPr sz="6000">
                <a:solidFill>
                  <a:schemeClr val="bg1"/>
                </a:solidFill>
              </a:defRPr>
            </a:lvl1p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8E054DFA-4C17-2AA0-0E19-8D452B73AA20}"/>
              </a:ext>
            </a:extLst>
          </p:cNvPr>
          <p:cNvSpPr>
            <a:spLocks noGrp="1"/>
          </p:cNvSpPr>
          <p:nvPr>
            <p:ph type="body" idx="1"/>
          </p:nvPr>
        </p:nvSpPr>
        <p:spPr>
          <a:xfrm>
            <a:off x="4056992" y="4589463"/>
            <a:ext cx="729045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oup 6">
            <a:extLst>
              <a:ext uri="{FF2B5EF4-FFF2-40B4-BE49-F238E27FC236}">
                <a16:creationId xmlns:a16="http://schemas.microsoft.com/office/drawing/2014/main" id="{AF8D5DED-A875-4BFE-015E-C29679EC468C}"/>
              </a:ext>
            </a:extLst>
          </p:cNvPr>
          <p:cNvGrpSpPr/>
          <p:nvPr userDrawn="1"/>
        </p:nvGrpSpPr>
        <p:grpSpPr>
          <a:xfrm>
            <a:off x="3979533" y="5801746"/>
            <a:ext cx="8221703" cy="0"/>
            <a:chOff x="3733800" y="5539861"/>
            <a:chExt cx="8221703" cy="0"/>
          </a:xfrm>
        </p:grpSpPr>
        <p:cxnSp>
          <p:nvCxnSpPr>
            <p:cNvPr id="8" name="Straight Connector 7">
              <a:extLst>
                <a:ext uri="{FF2B5EF4-FFF2-40B4-BE49-F238E27FC236}">
                  <a16:creationId xmlns:a16="http://schemas.microsoft.com/office/drawing/2014/main" id="{4ED54A14-B37E-AA5D-2F7D-4530DEF3C347}"/>
                </a:ext>
              </a:extLst>
            </p:cNvPr>
            <p:cNvCxnSpPr>
              <a:cxnSpLocks/>
            </p:cNvCxnSpPr>
            <p:nvPr/>
          </p:nvCxnSpPr>
          <p:spPr>
            <a:xfrm>
              <a:off x="3733800" y="5539861"/>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611F7DB-0F8D-8E5A-0137-AD5E5B20C351}"/>
                </a:ext>
              </a:extLst>
            </p:cNvPr>
            <p:cNvCxnSpPr>
              <a:cxnSpLocks/>
            </p:cNvCxnSpPr>
            <p:nvPr/>
          </p:nvCxnSpPr>
          <p:spPr>
            <a:xfrm>
              <a:off x="9783803" y="5539861"/>
              <a:ext cx="2171700"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2719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lumn dark">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7" name="Straight Connector 6">
            <a:extLst>
              <a:ext uri="{FF2B5EF4-FFF2-40B4-BE49-F238E27FC236}">
                <a16:creationId xmlns:a16="http://schemas.microsoft.com/office/drawing/2014/main" id="{01882412-D2D4-9CF0-CD39-2EAE79B8A310}"/>
              </a:ext>
            </a:extLst>
          </p:cNvPr>
          <p:cNvCxnSpPr>
            <a:cxnSpLocks/>
          </p:cNvCxnSpPr>
          <p:nvPr userDrawn="1"/>
        </p:nvCxnSpPr>
        <p:spPr>
          <a:xfrm>
            <a:off x="4267200" y="2523744"/>
            <a:ext cx="7924800" cy="883"/>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229B6F2-011B-853F-5BA1-FA1722B6E1C8}"/>
              </a:ext>
            </a:extLst>
          </p:cNvPr>
          <p:cNvCxnSpPr>
            <a:cxnSpLocks/>
          </p:cNvCxnSpPr>
          <p:nvPr userDrawn="1"/>
        </p:nvCxnSpPr>
        <p:spPr>
          <a:xfrm>
            <a:off x="723384" y="2523744"/>
            <a:ext cx="3543816"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bg1"/>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5111496" cy="1682750"/>
          </a:xfrm>
        </p:spPr>
        <p:txBody>
          <a:bodyPr/>
          <a:lstStyle>
            <a:lvl1pPr marL="283464" indent="-283464">
              <a:lnSpc>
                <a:spcPct val="150000"/>
              </a:lnSpc>
              <a:spcBef>
                <a:spcPts val="0"/>
              </a:spcBef>
              <a:defRPr sz="1600">
                <a:solidFill>
                  <a:schemeClr val="bg1"/>
                </a:solidFill>
              </a:defRPr>
            </a:lvl1pPr>
            <a:lvl2pPr indent="-283464">
              <a:lnSpc>
                <a:spcPct val="150000"/>
              </a:lnSpc>
              <a:spcBef>
                <a:spcPts val="0"/>
              </a:spcBef>
              <a:defRPr sz="1600">
                <a:solidFill>
                  <a:schemeClr val="bg1"/>
                </a:solidFill>
              </a:defRPr>
            </a:lvl2pPr>
            <a:lvl3pPr indent="-283464">
              <a:lnSpc>
                <a:spcPct val="150000"/>
              </a:lnSpc>
              <a:spcBef>
                <a:spcPts val="0"/>
              </a:spcBef>
              <a:defRPr sz="1600">
                <a:solidFill>
                  <a:schemeClr val="bg1"/>
                </a:solidFill>
              </a:defRPr>
            </a:lvl3pPr>
            <a:lvl4pPr indent="-283464">
              <a:lnSpc>
                <a:spcPct val="150000"/>
              </a:lnSpc>
              <a:spcBef>
                <a:spcPts val="0"/>
              </a:spcBef>
              <a:defRPr sz="1600">
                <a:solidFill>
                  <a:schemeClr val="bg1"/>
                </a:solidFill>
              </a:defRPr>
            </a:lvl4pPr>
            <a:lvl5pPr indent="-283464">
              <a:lnSpc>
                <a:spcPct val="150000"/>
              </a:lnSpc>
              <a:spcBef>
                <a:spcPts val="0"/>
              </a:spcBef>
              <a:defRPr sz="16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9611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 light">
    <p:bg>
      <p:bgPr>
        <a:solidFill>
          <a:schemeClr val="accent6"/>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6" name="Rectangle 5">
            <a:extLst>
              <a:ext uri="{FF2B5EF4-FFF2-40B4-BE49-F238E27FC236}">
                <a16:creationId xmlns:a16="http://schemas.microsoft.com/office/drawing/2014/main" id="{D62C33EA-A741-FA13-451C-6F35902CBDD0}"/>
              </a:ext>
            </a:extLst>
          </p:cNvPr>
          <p:cNvSpPr/>
          <p:nvPr userDrawn="1"/>
        </p:nvSpPr>
        <p:spPr>
          <a:xfrm>
            <a:off x="0" y="722376"/>
            <a:ext cx="12192000" cy="5413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36208"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401568"/>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3" name="Group 12">
            <a:extLst>
              <a:ext uri="{FF2B5EF4-FFF2-40B4-BE49-F238E27FC236}">
                <a16:creationId xmlns:a16="http://schemas.microsoft.com/office/drawing/2014/main" id="{4ED40495-D9DB-AA87-4474-68DA5D8CA88C}"/>
              </a:ext>
            </a:extLst>
          </p:cNvPr>
          <p:cNvGrpSpPr/>
          <p:nvPr userDrawn="1"/>
        </p:nvGrpSpPr>
        <p:grpSpPr>
          <a:xfrm rot="10800000">
            <a:off x="726958" y="2521655"/>
            <a:ext cx="11480808" cy="1"/>
            <a:chOff x="2077471" y="5539116"/>
            <a:chExt cx="11480808" cy="1"/>
          </a:xfrm>
        </p:grpSpPr>
        <p:cxnSp>
          <p:nvCxnSpPr>
            <p:cNvPr id="16" name="Straight Connector 15">
              <a:extLst>
                <a:ext uri="{FF2B5EF4-FFF2-40B4-BE49-F238E27FC236}">
                  <a16:creationId xmlns:a16="http://schemas.microsoft.com/office/drawing/2014/main" id="{A15A6649-BE77-6F3F-DF74-0045E0AC6025}"/>
                </a:ext>
              </a:extLst>
            </p:cNvPr>
            <p:cNvCxnSpPr>
              <a:cxnSpLocks/>
            </p:cNvCxnSpPr>
            <p:nvPr/>
          </p:nvCxnSpPr>
          <p:spPr>
            <a:xfrm>
              <a:off x="2077471" y="5539116"/>
              <a:ext cx="4755396"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EF33DD1-C51F-9BE1-2F97-D4025B3E653D}"/>
                </a:ext>
              </a:extLst>
            </p:cNvPr>
            <p:cNvCxnSpPr>
              <a:cxnSpLocks/>
            </p:cNvCxnSpPr>
            <p:nvPr/>
          </p:nvCxnSpPr>
          <p:spPr>
            <a:xfrm>
              <a:off x="6816103" y="5539117"/>
              <a:ext cx="6742176"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5874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dark band">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966E69F-7113-AC99-F7E1-A44B7D64DEF3}"/>
              </a:ext>
            </a:extLst>
          </p:cNvPr>
          <p:cNvSpPr/>
          <p:nvPr userDrawn="1"/>
        </p:nvSpPr>
        <p:spPr>
          <a:xfrm>
            <a:off x="0" y="0"/>
            <a:ext cx="12192000" cy="304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lvl1pPr>
              <a:defRPr>
                <a:solidFill>
                  <a:schemeClr val="accent5"/>
                </a:solidFill>
              </a:defRPr>
            </a:lvl1p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accent5"/>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03504" y="1463040"/>
            <a:ext cx="10515600" cy="575321"/>
          </a:xfrm>
        </p:spPr>
        <p:txBody>
          <a:bodyPr/>
          <a:lstStyle>
            <a:lvl1pPr>
              <a:defRPr sz="5000">
                <a:solidFill>
                  <a:schemeClr val="accent5"/>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49224" y="348386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43600" y="3931920"/>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9" name="Group 18">
            <a:extLst>
              <a:ext uri="{FF2B5EF4-FFF2-40B4-BE49-F238E27FC236}">
                <a16:creationId xmlns:a16="http://schemas.microsoft.com/office/drawing/2014/main" id="{FF8CCEDA-D691-A48A-BAAF-D004EBE38E55}"/>
              </a:ext>
            </a:extLst>
          </p:cNvPr>
          <p:cNvGrpSpPr/>
          <p:nvPr userDrawn="1"/>
        </p:nvGrpSpPr>
        <p:grpSpPr>
          <a:xfrm rot="16200000" flipV="1">
            <a:off x="8764091" y="3943349"/>
            <a:ext cx="5829301" cy="0"/>
            <a:chOff x="2287349" y="55407920"/>
            <a:chExt cx="11160369" cy="0"/>
          </a:xfrm>
        </p:grpSpPr>
        <p:cxnSp>
          <p:nvCxnSpPr>
            <p:cNvPr id="20" name="Straight Connector 19">
              <a:extLst>
                <a:ext uri="{FF2B5EF4-FFF2-40B4-BE49-F238E27FC236}">
                  <a16:creationId xmlns:a16="http://schemas.microsoft.com/office/drawing/2014/main" id="{5605A0EB-A31A-D2D4-5671-D1F763493E1F}"/>
                </a:ext>
              </a:extLst>
            </p:cNvPr>
            <p:cNvCxnSpPr>
              <a:cxnSpLocks/>
            </p:cNvCxnSpPr>
            <p:nvPr/>
          </p:nvCxnSpPr>
          <p:spPr>
            <a:xfrm rot="16200000">
              <a:off x="5934529" y="51760740"/>
              <a:ext cx="0" cy="729436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FEFE03D-E00E-B4FD-6765-44E55D5FA212}"/>
                </a:ext>
              </a:extLst>
            </p:cNvPr>
            <p:cNvCxnSpPr>
              <a:cxnSpLocks/>
            </p:cNvCxnSpPr>
            <p:nvPr/>
          </p:nvCxnSpPr>
          <p:spPr>
            <a:xfrm rot="16200000">
              <a:off x="11514714" y="53474916"/>
              <a:ext cx="0" cy="3866008"/>
            </a:xfrm>
            <a:prstGeom prst="line">
              <a:avLst/>
            </a:prstGeom>
            <a:ln w="444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280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on the left">
    <p:bg>
      <p:bgPr>
        <a:solidFill>
          <a:schemeClr val="accent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F5A1967-7F8F-319E-2E67-BD9E4F074B05}"/>
              </a:ext>
            </a:extLst>
          </p:cNvPr>
          <p:cNvSpPr/>
          <p:nvPr userDrawn="1"/>
        </p:nvSpPr>
        <p:spPr>
          <a:xfrm>
            <a:off x="8115301" y="0"/>
            <a:ext cx="40766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P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a:solidFill>
                <a:schemeClr val="bg2"/>
              </a:solidFill>
            </a:endParaRPr>
          </a:p>
        </p:txBody>
      </p:sp>
      <p:grpSp>
        <p:nvGrpSpPr>
          <p:cNvPr id="19" name="Group 18">
            <a:extLst>
              <a:ext uri="{FF2B5EF4-FFF2-40B4-BE49-F238E27FC236}">
                <a16:creationId xmlns:a16="http://schemas.microsoft.com/office/drawing/2014/main" id="{52425424-7549-BE00-EA05-384DBD00F3B2}"/>
              </a:ext>
            </a:extLst>
          </p:cNvPr>
          <p:cNvGrpSpPr/>
          <p:nvPr userDrawn="1"/>
        </p:nvGrpSpPr>
        <p:grpSpPr>
          <a:xfrm>
            <a:off x="6317679" y="4564864"/>
            <a:ext cx="5858373" cy="385"/>
            <a:chOff x="5440605" y="5540787"/>
            <a:chExt cx="5858373" cy="385"/>
          </a:xfrm>
        </p:grpSpPr>
        <p:cxnSp>
          <p:nvCxnSpPr>
            <p:cNvPr id="20" name="Straight Connector 19">
              <a:extLst>
                <a:ext uri="{FF2B5EF4-FFF2-40B4-BE49-F238E27FC236}">
                  <a16:creationId xmlns:a16="http://schemas.microsoft.com/office/drawing/2014/main" id="{4D88329B-DC1A-F93F-7A3A-84FDE2989BB6}"/>
                </a:ext>
              </a:extLst>
            </p:cNvPr>
            <p:cNvCxnSpPr>
              <a:cxnSpLocks/>
            </p:cNvCxnSpPr>
            <p:nvPr/>
          </p:nvCxnSpPr>
          <p:spPr>
            <a:xfrm>
              <a:off x="5440605" y="5541172"/>
              <a:ext cx="179762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690B71-E252-7020-6DC7-F643767B2B78}"/>
                </a:ext>
              </a:extLst>
            </p:cNvPr>
            <p:cNvCxnSpPr>
              <a:cxnSpLocks/>
            </p:cNvCxnSpPr>
            <p:nvPr/>
          </p:nvCxnSpPr>
          <p:spPr>
            <a:xfrm>
              <a:off x="7237724" y="5540787"/>
              <a:ext cx="406125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217920" y="2514600"/>
            <a:ext cx="4846320" cy="1682749"/>
          </a:xfrm>
        </p:spPr>
        <p:txBody>
          <a:bodyPr/>
          <a:lstStyle>
            <a:lvl1pPr>
              <a:lnSpc>
                <a:spcPct val="10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30936"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30936" y="358444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36576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365760" y="4123944"/>
            <a:ext cx="4754880" cy="941831"/>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
        <p:nvSpPr>
          <p:cNvPr id="22" name="Text Placeholder 10">
            <a:extLst>
              <a:ext uri="{FF2B5EF4-FFF2-40B4-BE49-F238E27FC236}">
                <a16:creationId xmlns:a16="http://schemas.microsoft.com/office/drawing/2014/main" id="{93287C28-1CA8-AEA5-1E16-BC0B1E99CD24}"/>
              </a:ext>
            </a:extLst>
          </p:cNvPr>
          <p:cNvSpPr>
            <a:spLocks noGrp="1"/>
          </p:cNvSpPr>
          <p:nvPr>
            <p:ph type="body" sz="quarter" idx="17"/>
          </p:nvPr>
        </p:nvSpPr>
        <p:spPr>
          <a:xfrm>
            <a:off x="630936" y="5065776"/>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3" name="Text Placeholder 13">
            <a:extLst>
              <a:ext uri="{FF2B5EF4-FFF2-40B4-BE49-F238E27FC236}">
                <a16:creationId xmlns:a16="http://schemas.microsoft.com/office/drawing/2014/main" id="{19920C32-5167-72B1-7B9E-709723F907CE}"/>
              </a:ext>
            </a:extLst>
          </p:cNvPr>
          <p:cNvSpPr>
            <a:spLocks noGrp="1"/>
          </p:cNvSpPr>
          <p:nvPr>
            <p:ph type="body" sz="quarter" idx="18"/>
          </p:nvPr>
        </p:nvSpPr>
        <p:spPr>
          <a:xfrm>
            <a:off x="365760" y="5605272"/>
            <a:ext cx="4754880" cy="1143254"/>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377598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on the right">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F7D9D8-A960-E038-84D2-764C7A50F698}"/>
              </a:ext>
            </a:extLst>
          </p:cNvPr>
          <p:cNvSpPr/>
          <p:nvPr userDrawn="1"/>
        </p:nvSpPr>
        <p:spPr>
          <a:xfrm>
            <a:off x="-12700" y="858"/>
            <a:ext cx="3060700" cy="685714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tx2"/>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252728"/>
            <a:ext cx="4828032" cy="490538"/>
          </a:xfrm>
        </p:spPr>
        <p:txBody>
          <a:bodyPr/>
          <a:lstStyle>
            <a:lvl1pPr marL="0" indent="0">
              <a:lnSpc>
                <a:spcPct val="15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89320" y="179222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89320" y="3941064"/>
            <a:ext cx="4754880" cy="1682750"/>
          </a:xfrm>
        </p:spPr>
        <p:txBody>
          <a:bodyPr/>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40DF3371-342F-C17D-5A7F-EF76E89A55C5}"/>
              </a:ext>
            </a:extLst>
          </p:cNvPr>
          <p:cNvGrpSpPr/>
          <p:nvPr userDrawn="1"/>
        </p:nvGrpSpPr>
        <p:grpSpPr>
          <a:xfrm>
            <a:off x="-11882" y="3045007"/>
            <a:ext cx="4279082" cy="364"/>
            <a:chOff x="5475479" y="5537794"/>
            <a:chExt cx="4279082" cy="364"/>
          </a:xfrm>
        </p:grpSpPr>
        <p:cxnSp>
          <p:nvCxnSpPr>
            <p:cNvPr id="24" name="Straight Connector 23">
              <a:extLst>
                <a:ext uri="{FF2B5EF4-FFF2-40B4-BE49-F238E27FC236}">
                  <a16:creationId xmlns:a16="http://schemas.microsoft.com/office/drawing/2014/main" id="{84369914-5489-3EA1-5419-F83F6C7A150D}"/>
                </a:ext>
              </a:extLst>
            </p:cNvPr>
            <p:cNvCxnSpPr>
              <a:cxnSpLocks/>
            </p:cNvCxnSpPr>
            <p:nvPr/>
          </p:nvCxnSpPr>
          <p:spPr>
            <a:xfrm>
              <a:off x="5475479" y="5537976"/>
              <a:ext cx="30607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BDE23CC-0B75-F3A6-1882-265BF90D4AA1}"/>
                </a:ext>
              </a:extLst>
            </p:cNvPr>
            <p:cNvCxnSpPr>
              <a:cxnSpLocks/>
            </p:cNvCxnSpPr>
            <p:nvPr/>
          </p:nvCxnSpPr>
          <p:spPr>
            <a:xfrm flipV="1">
              <a:off x="8537690" y="5537794"/>
              <a:ext cx="1216871" cy="364"/>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909772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on the right dark">
    <p:bg>
      <p:bgPr>
        <a:solidFill>
          <a:schemeClr val="accent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749AEB6-4539-A203-D085-8EBE329C08E0}"/>
              </a:ext>
            </a:extLst>
          </p:cNvPr>
          <p:cNvSpPr/>
          <p:nvPr userDrawn="1"/>
        </p:nvSpPr>
        <p:spPr>
          <a:xfrm>
            <a:off x="3962399" y="858"/>
            <a:ext cx="8271641" cy="68571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2"/>
              </a:solidFill>
            </a:endParaRPr>
          </a:p>
        </p:txBody>
      </p:sp>
      <p:sp>
        <p:nvSpPr>
          <p:cNvPr id="4" name="Footer Placeholder 3">
            <a:extLst>
              <a:ext uri="{FF2B5EF4-FFF2-40B4-BE49-F238E27FC236}">
                <a16:creationId xmlns:a16="http://schemas.microsoft.com/office/drawing/2014/main" id="{BA0C7E2C-83B2-58E9-DE90-AB1857F1A170}"/>
              </a:ext>
            </a:extLst>
          </p:cNvPr>
          <p:cNvSpPr>
            <a:spLocks noGrp="1"/>
          </p:cNvSpPr>
          <p:nvPr>
            <p:ph type="ftr" sz="quarter" idx="11"/>
          </p:nvPr>
        </p:nvSpPr>
        <p:spPr/>
        <p:txBody>
          <a:bodyPr/>
          <a:lstStyle/>
          <a:p>
            <a:r>
              <a:rPr lang="en-US" noProof="0"/>
              <a:t>Presentation title</a:t>
            </a:r>
          </a:p>
        </p:txBody>
      </p:sp>
      <p:sp>
        <p:nvSpPr>
          <p:cNvPr id="5" name="Slide Number Placeholder 4">
            <a:extLst>
              <a:ext uri="{FF2B5EF4-FFF2-40B4-BE49-F238E27FC236}">
                <a16:creationId xmlns:a16="http://schemas.microsoft.com/office/drawing/2014/main" id="{F487B4A1-AE7C-A6CC-7143-5EC918D662F7}"/>
              </a:ext>
            </a:extLst>
          </p:cNvPr>
          <p:cNvSpPr>
            <a:spLocks noGrp="1"/>
          </p:cNvSpPr>
          <p:nvPr>
            <p:ph type="sldNum" sz="quarter" idx="12"/>
          </p:nvPr>
        </p:nvSpPr>
        <p:spPr/>
        <p:txBody>
          <a:bodyPr/>
          <a:lstStyle>
            <a:lvl1pPr>
              <a:defRPr>
                <a:solidFill>
                  <a:schemeClr val="bg1"/>
                </a:solidFill>
              </a:defRPr>
            </a:lvl1pPr>
          </a:lstStyle>
          <a:p>
            <a:fld id="{5BFCF61C-3B18-4C03-8326-CC3B32D710C9}" type="slidenum">
              <a:rPr lang="en-US" noProof="0" smtClean="0"/>
              <a:pPr/>
              <a:t>‹#›</a:t>
            </a:fld>
            <a:endParaRPr lang="en-US" noProof="0"/>
          </a:p>
        </p:txBody>
      </p:sp>
      <p:sp>
        <p:nvSpPr>
          <p:cNvPr id="9" name="Title 8">
            <a:extLst>
              <a:ext uri="{FF2B5EF4-FFF2-40B4-BE49-F238E27FC236}">
                <a16:creationId xmlns:a16="http://schemas.microsoft.com/office/drawing/2014/main" id="{A78715BA-7A66-D464-AAEF-141988B8718B}"/>
              </a:ext>
            </a:extLst>
          </p:cNvPr>
          <p:cNvSpPr>
            <a:spLocks noGrp="1"/>
          </p:cNvSpPr>
          <p:nvPr>
            <p:ph type="title"/>
          </p:nvPr>
        </p:nvSpPr>
        <p:spPr>
          <a:xfrm>
            <a:off x="667512" y="1399032"/>
            <a:ext cx="4846320" cy="1682749"/>
          </a:xfrm>
        </p:spPr>
        <p:txBody>
          <a:bodyPr/>
          <a:lstStyle>
            <a:lvl1pPr>
              <a:lnSpc>
                <a:spcPct val="80000"/>
              </a:lnSpc>
              <a:defRPr sz="5000">
                <a:solidFill>
                  <a:schemeClr val="accent4"/>
                </a:solidFill>
              </a:defRPr>
            </a:lvl1pPr>
          </a:lstStyle>
          <a:p>
            <a:r>
              <a:rPr lang="en-US" noProof="0"/>
              <a:t>Click to edit Master title style</a:t>
            </a:r>
          </a:p>
        </p:txBody>
      </p:sp>
      <p:sp>
        <p:nvSpPr>
          <p:cNvPr id="11" name="Text Placeholder 10">
            <a:extLst>
              <a:ext uri="{FF2B5EF4-FFF2-40B4-BE49-F238E27FC236}">
                <a16:creationId xmlns:a16="http://schemas.microsoft.com/office/drawing/2014/main" id="{3D0BF4BF-3C7C-C67F-B6EE-805EC95EF8CA}"/>
              </a:ext>
            </a:extLst>
          </p:cNvPr>
          <p:cNvSpPr>
            <a:spLocks noGrp="1"/>
          </p:cNvSpPr>
          <p:nvPr>
            <p:ph type="body" sz="quarter" idx="13"/>
          </p:nvPr>
        </p:nvSpPr>
        <p:spPr>
          <a:xfrm>
            <a:off x="6245352" y="135331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2" name="Text Placeholder 10">
            <a:extLst>
              <a:ext uri="{FF2B5EF4-FFF2-40B4-BE49-F238E27FC236}">
                <a16:creationId xmlns:a16="http://schemas.microsoft.com/office/drawing/2014/main" id="{BA37E40B-957E-C00E-3B34-1B67D341A771}"/>
              </a:ext>
            </a:extLst>
          </p:cNvPr>
          <p:cNvSpPr>
            <a:spLocks noGrp="1"/>
          </p:cNvSpPr>
          <p:nvPr>
            <p:ph type="body" sz="quarter" idx="14"/>
          </p:nvPr>
        </p:nvSpPr>
        <p:spPr>
          <a:xfrm>
            <a:off x="6245352" y="3502152"/>
            <a:ext cx="4828032" cy="490538"/>
          </a:xfrm>
        </p:spPr>
        <p:txBody>
          <a:bodyPr/>
          <a:lstStyle>
            <a:lvl1pPr marL="0" indent="0">
              <a:lnSpc>
                <a:spcPct val="100000"/>
              </a:lnSpc>
              <a:spcBef>
                <a:spcPts val="0"/>
              </a:spcBef>
              <a:buNone/>
              <a:defRPr sz="2200" b="1">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EF15CD76-2DD5-DB8A-37D3-6098A50870D0}"/>
              </a:ext>
            </a:extLst>
          </p:cNvPr>
          <p:cNvSpPr>
            <a:spLocks noGrp="1"/>
          </p:cNvSpPr>
          <p:nvPr>
            <p:ph type="body" sz="quarter" idx="15"/>
          </p:nvPr>
        </p:nvSpPr>
        <p:spPr>
          <a:xfrm>
            <a:off x="5971032" y="179222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7A044E0-660B-4002-E13C-F00498E49782}"/>
              </a:ext>
            </a:extLst>
          </p:cNvPr>
          <p:cNvSpPr>
            <a:spLocks noGrp="1"/>
          </p:cNvSpPr>
          <p:nvPr>
            <p:ph type="body" sz="quarter" idx="16"/>
          </p:nvPr>
        </p:nvSpPr>
        <p:spPr>
          <a:xfrm>
            <a:off x="5971032" y="3941064"/>
            <a:ext cx="4754880" cy="1682750"/>
          </a:xfrm>
        </p:spPr>
        <p:txBody>
          <a:bodyPr/>
          <a:lstStyle>
            <a:lvl1pPr marL="283464" indent="-283464">
              <a:lnSpc>
                <a:spcPct val="150000"/>
              </a:lnSpc>
              <a:spcBef>
                <a:spcPts val="0"/>
              </a:spcBef>
              <a:defRPr sz="1600">
                <a:solidFill>
                  <a:schemeClr val="accent5"/>
                </a:solidFill>
              </a:defRPr>
            </a:lvl1pPr>
            <a:lvl2pPr indent="-283464">
              <a:lnSpc>
                <a:spcPct val="150000"/>
              </a:lnSpc>
              <a:spcBef>
                <a:spcPts val="0"/>
              </a:spcBef>
              <a:defRPr sz="1600">
                <a:solidFill>
                  <a:schemeClr val="accent5"/>
                </a:solidFill>
              </a:defRPr>
            </a:lvl2pPr>
            <a:lvl3pPr indent="-283464">
              <a:lnSpc>
                <a:spcPct val="150000"/>
              </a:lnSpc>
              <a:spcBef>
                <a:spcPts val="0"/>
              </a:spcBef>
              <a:defRPr sz="1600">
                <a:solidFill>
                  <a:schemeClr val="accent5"/>
                </a:solidFill>
              </a:defRPr>
            </a:lvl3pPr>
            <a:lvl4pPr indent="-283464">
              <a:lnSpc>
                <a:spcPct val="150000"/>
              </a:lnSpc>
              <a:spcBef>
                <a:spcPts val="0"/>
              </a:spcBef>
              <a:defRPr sz="1600">
                <a:solidFill>
                  <a:schemeClr val="accent5"/>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grpSp>
        <p:nvGrpSpPr>
          <p:cNvPr id="17" name="Group 16">
            <a:extLst>
              <a:ext uri="{FF2B5EF4-FFF2-40B4-BE49-F238E27FC236}">
                <a16:creationId xmlns:a16="http://schemas.microsoft.com/office/drawing/2014/main" id="{0D78A0CF-0A37-4436-67C4-B32FD7703E96}"/>
              </a:ext>
            </a:extLst>
          </p:cNvPr>
          <p:cNvGrpSpPr/>
          <p:nvPr userDrawn="1"/>
        </p:nvGrpSpPr>
        <p:grpSpPr>
          <a:xfrm>
            <a:off x="-28308" y="2514621"/>
            <a:ext cx="5666632" cy="0"/>
            <a:chOff x="5464255" y="5541151"/>
            <a:chExt cx="5666632" cy="0"/>
          </a:xfrm>
        </p:grpSpPr>
        <p:cxnSp>
          <p:nvCxnSpPr>
            <p:cNvPr id="24" name="Straight Connector 23">
              <a:extLst>
                <a:ext uri="{FF2B5EF4-FFF2-40B4-BE49-F238E27FC236}">
                  <a16:creationId xmlns:a16="http://schemas.microsoft.com/office/drawing/2014/main" id="{8FC6D8A4-CA31-16C2-95B7-B98F65F29A69}"/>
                </a:ext>
              </a:extLst>
            </p:cNvPr>
            <p:cNvCxnSpPr>
              <a:cxnSpLocks/>
            </p:cNvCxnSpPr>
            <p:nvPr/>
          </p:nvCxnSpPr>
          <p:spPr>
            <a:xfrm>
              <a:off x="5464255" y="5541151"/>
              <a:ext cx="3991534" cy="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2097A8D-64FC-CDBD-4497-5E32BC6AF9C2}"/>
                </a:ext>
              </a:extLst>
            </p:cNvPr>
            <p:cNvCxnSpPr>
              <a:cxnSpLocks/>
            </p:cNvCxnSpPr>
            <p:nvPr/>
          </p:nvCxnSpPr>
          <p:spPr>
            <a:xfrm>
              <a:off x="9454487" y="5541151"/>
              <a:ext cx="167640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193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2295144" y="1463040"/>
            <a:ext cx="7498080" cy="704088"/>
          </a:xfrm>
        </p:spPr>
        <p:txBody>
          <a:bodyPr/>
          <a:lstStyle>
            <a:lvl1pPr>
              <a:defRPr sz="5000"/>
            </a:lvl1pPr>
          </a:lstStyle>
          <a:p>
            <a:r>
              <a:rPr lang="en-US" noProof="0"/>
              <a:t>Click to edit Master title style</a:t>
            </a:r>
          </a:p>
        </p:txBody>
      </p:sp>
      <p:grpSp>
        <p:nvGrpSpPr>
          <p:cNvPr id="9" name="Group 8">
            <a:extLst>
              <a:ext uri="{FF2B5EF4-FFF2-40B4-BE49-F238E27FC236}">
                <a16:creationId xmlns:a16="http://schemas.microsoft.com/office/drawing/2014/main" id="{52784B99-8374-AA22-4161-578F9BF77E2B}"/>
              </a:ext>
            </a:extLst>
          </p:cNvPr>
          <p:cNvGrpSpPr/>
          <p:nvPr userDrawn="1"/>
        </p:nvGrpSpPr>
        <p:grpSpPr>
          <a:xfrm>
            <a:off x="2400300" y="2535841"/>
            <a:ext cx="9801127" cy="821"/>
            <a:chOff x="2286319" y="5546299"/>
            <a:chExt cx="9801127" cy="903"/>
          </a:xfrm>
        </p:grpSpPr>
        <p:cxnSp>
          <p:nvCxnSpPr>
            <p:cNvPr id="10" name="Straight Connector 9">
              <a:extLst>
                <a:ext uri="{FF2B5EF4-FFF2-40B4-BE49-F238E27FC236}">
                  <a16:creationId xmlns:a16="http://schemas.microsoft.com/office/drawing/2014/main" id="{F0F45B19-145D-7398-7A64-A88B28251AAD}"/>
                </a:ext>
              </a:extLst>
            </p:cNvPr>
            <p:cNvCxnSpPr>
              <a:cxnSpLocks/>
            </p:cNvCxnSpPr>
            <p:nvPr/>
          </p:nvCxnSpPr>
          <p:spPr>
            <a:xfrm>
              <a:off x="2286319" y="5546299"/>
              <a:ext cx="73914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029EB3C-D7BA-1FCE-3158-8F1116C6F5BE}"/>
                </a:ext>
              </a:extLst>
            </p:cNvPr>
            <p:cNvCxnSpPr>
              <a:cxnSpLocks/>
            </p:cNvCxnSpPr>
            <p:nvPr/>
          </p:nvCxnSpPr>
          <p:spPr>
            <a:xfrm>
              <a:off x="9676016" y="5547202"/>
              <a:ext cx="241143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2322576" y="2971800"/>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2322576" y="4443984"/>
            <a:ext cx="4828032" cy="490538"/>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2020824" y="3401568"/>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2020824" y="4901184"/>
            <a:ext cx="8379220" cy="975260"/>
          </a:xfrm>
        </p:spPr>
        <p:txBody>
          <a:bodyPr numCol="2"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78902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ACF6E0F-D722-BAD9-C6AD-9A11DAE47EC0}"/>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61160B7A-B490-F67E-2740-38CA3A98769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8" name="Title 1">
            <a:extLst>
              <a:ext uri="{FF2B5EF4-FFF2-40B4-BE49-F238E27FC236}">
                <a16:creationId xmlns:a16="http://schemas.microsoft.com/office/drawing/2014/main" id="{814A6C9A-83F0-5E94-8A5B-89CB08282C38}"/>
              </a:ext>
            </a:extLst>
          </p:cNvPr>
          <p:cNvSpPr>
            <a:spLocks noGrp="1"/>
          </p:cNvSpPr>
          <p:nvPr>
            <p:ph type="title"/>
          </p:nvPr>
        </p:nvSpPr>
        <p:spPr>
          <a:xfrm>
            <a:off x="603504" y="1463040"/>
            <a:ext cx="10871708" cy="704088"/>
          </a:xfrm>
        </p:spPr>
        <p:txBody>
          <a:bodyPr/>
          <a:lstStyle>
            <a:lvl1pPr>
              <a:defRPr sz="5000"/>
            </a:lvl1pPr>
          </a:lstStyle>
          <a:p>
            <a:r>
              <a:rPr lang="en-US" dirty="0"/>
              <a:t>Click to edit Master title style</a:t>
            </a:r>
            <a:endParaRPr lang="en-PK" dirty="0"/>
          </a:p>
        </p:txBody>
      </p:sp>
      <p:sp>
        <p:nvSpPr>
          <p:cNvPr id="12" name="Text Placeholder 10">
            <a:extLst>
              <a:ext uri="{FF2B5EF4-FFF2-40B4-BE49-F238E27FC236}">
                <a16:creationId xmlns:a16="http://schemas.microsoft.com/office/drawing/2014/main" id="{F8F78388-68BC-0124-C243-36D5B5DC78E6}"/>
              </a:ext>
            </a:extLst>
          </p:cNvPr>
          <p:cNvSpPr>
            <a:spLocks noGrp="1"/>
          </p:cNvSpPr>
          <p:nvPr>
            <p:ph type="body" sz="quarter" idx="13"/>
          </p:nvPr>
        </p:nvSpPr>
        <p:spPr>
          <a:xfrm>
            <a:off x="649224"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3" name="Text Placeholder 10">
            <a:extLst>
              <a:ext uri="{FF2B5EF4-FFF2-40B4-BE49-F238E27FC236}">
                <a16:creationId xmlns:a16="http://schemas.microsoft.com/office/drawing/2014/main" id="{D7FBEF6F-7749-849E-36C5-CC056F30711F}"/>
              </a:ext>
            </a:extLst>
          </p:cNvPr>
          <p:cNvSpPr>
            <a:spLocks noGrp="1"/>
          </p:cNvSpPr>
          <p:nvPr>
            <p:ph type="body" sz="quarter" idx="14"/>
          </p:nvPr>
        </p:nvSpPr>
        <p:spPr>
          <a:xfrm>
            <a:off x="433425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4" name="Text Placeholder 13">
            <a:extLst>
              <a:ext uri="{FF2B5EF4-FFF2-40B4-BE49-F238E27FC236}">
                <a16:creationId xmlns:a16="http://schemas.microsoft.com/office/drawing/2014/main" id="{8A350182-DD59-73E2-C20A-4B5FE6715444}"/>
              </a:ext>
            </a:extLst>
          </p:cNvPr>
          <p:cNvSpPr>
            <a:spLocks noGrp="1"/>
          </p:cNvSpPr>
          <p:nvPr>
            <p:ph type="body" sz="quarter" idx="15"/>
          </p:nvPr>
        </p:nvSpPr>
        <p:spPr>
          <a:xfrm>
            <a:off x="365760"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3">
            <a:extLst>
              <a:ext uri="{FF2B5EF4-FFF2-40B4-BE49-F238E27FC236}">
                <a16:creationId xmlns:a16="http://schemas.microsoft.com/office/drawing/2014/main" id="{5E14A588-A920-9AE0-A268-A008EAF6FCBA}"/>
              </a:ext>
            </a:extLst>
          </p:cNvPr>
          <p:cNvSpPr>
            <a:spLocks noGrp="1"/>
          </p:cNvSpPr>
          <p:nvPr>
            <p:ph type="body" sz="quarter" idx="16"/>
          </p:nvPr>
        </p:nvSpPr>
        <p:spPr>
          <a:xfrm>
            <a:off x="4005072"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16" name="Group 15">
            <a:extLst>
              <a:ext uri="{FF2B5EF4-FFF2-40B4-BE49-F238E27FC236}">
                <a16:creationId xmlns:a16="http://schemas.microsoft.com/office/drawing/2014/main" id="{B8221A12-8B19-605A-2244-2D732269C955}"/>
              </a:ext>
            </a:extLst>
          </p:cNvPr>
          <p:cNvGrpSpPr/>
          <p:nvPr userDrawn="1"/>
        </p:nvGrpSpPr>
        <p:grpSpPr>
          <a:xfrm>
            <a:off x="716788" y="2527173"/>
            <a:ext cx="10758424" cy="1564"/>
            <a:chOff x="2792270" y="5541172"/>
            <a:chExt cx="11391900" cy="158"/>
          </a:xfrm>
        </p:grpSpPr>
        <p:cxnSp>
          <p:nvCxnSpPr>
            <p:cNvPr id="17" name="Straight Connector 16">
              <a:extLst>
                <a:ext uri="{FF2B5EF4-FFF2-40B4-BE49-F238E27FC236}">
                  <a16:creationId xmlns:a16="http://schemas.microsoft.com/office/drawing/2014/main" id="{A86C500B-5A93-298F-7CEF-ED445452E460}"/>
                </a:ext>
              </a:extLst>
            </p:cNvPr>
            <p:cNvCxnSpPr>
              <a:cxnSpLocks/>
            </p:cNvCxnSpPr>
            <p:nvPr/>
          </p:nvCxnSpPr>
          <p:spPr>
            <a:xfrm>
              <a:off x="2792270" y="5541172"/>
              <a:ext cx="6760464"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7A559BC-EF4A-29D4-CF56-6425516A5D91}"/>
                </a:ext>
              </a:extLst>
            </p:cNvPr>
            <p:cNvCxnSpPr>
              <a:cxnSpLocks/>
            </p:cNvCxnSpPr>
            <p:nvPr/>
          </p:nvCxnSpPr>
          <p:spPr>
            <a:xfrm>
              <a:off x="9552734" y="5541330"/>
              <a:ext cx="4631436"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9" name="Text Placeholder 10">
            <a:extLst>
              <a:ext uri="{FF2B5EF4-FFF2-40B4-BE49-F238E27FC236}">
                <a16:creationId xmlns:a16="http://schemas.microsoft.com/office/drawing/2014/main" id="{D2D34186-8505-57AE-F518-0C83BF1C06C9}"/>
              </a:ext>
            </a:extLst>
          </p:cNvPr>
          <p:cNvSpPr>
            <a:spLocks noGrp="1"/>
          </p:cNvSpPr>
          <p:nvPr>
            <p:ph type="body" sz="quarter" idx="17"/>
          </p:nvPr>
        </p:nvSpPr>
        <p:spPr>
          <a:xfrm>
            <a:off x="8266176" y="2980944"/>
            <a:ext cx="3282696" cy="1106424"/>
          </a:xfrm>
        </p:spPr>
        <p:txBody>
          <a:bodyPr/>
          <a:lstStyle>
            <a:lvl1pPr marL="0" indent="0">
              <a:lnSpc>
                <a:spcPct val="100000"/>
              </a:lnSpc>
              <a:spcBef>
                <a:spcPts val="0"/>
              </a:spcBef>
              <a:buNone/>
              <a:defRPr sz="22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20" name="Text Placeholder 13">
            <a:extLst>
              <a:ext uri="{FF2B5EF4-FFF2-40B4-BE49-F238E27FC236}">
                <a16:creationId xmlns:a16="http://schemas.microsoft.com/office/drawing/2014/main" id="{ABE767DA-9D93-94AD-D34D-2B8A51A76645}"/>
              </a:ext>
            </a:extLst>
          </p:cNvPr>
          <p:cNvSpPr>
            <a:spLocks noGrp="1"/>
          </p:cNvSpPr>
          <p:nvPr>
            <p:ph type="body" sz="quarter" idx="18"/>
          </p:nvPr>
        </p:nvSpPr>
        <p:spPr>
          <a:xfrm>
            <a:off x="7973568" y="4114800"/>
            <a:ext cx="3282696" cy="975260"/>
          </a:xfrm>
        </p:spPr>
        <p:txBody>
          <a:bodyPr numCol="1" spcCol="91440"/>
          <a:lstStyle>
            <a:lvl1pPr marL="283464" indent="-283464">
              <a:lnSpc>
                <a:spcPct val="150000"/>
              </a:lnSpc>
              <a:spcBef>
                <a:spcPts val="0"/>
              </a:spcBef>
              <a:defRPr sz="1600">
                <a:solidFill>
                  <a:schemeClr val="tx2"/>
                </a:solidFill>
              </a:defRPr>
            </a:lvl1pPr>
            <a:lvl2pPr indent="-283464">
              <a:lnSpc>
                <a:spcPct val="150000"/>
              </a:lnSpc>
              <a:spcBef>
                <a:spcPts val="0"/>
              </a:spcBef>
              <a:defRPr sz="1600">
                <a:solidFill>
                  <a:schemeClr val="tx2"/>
                </a:solidFill>
              </a:defRPr>
            </a:lvl2pPr>
            <a:lvl3pPr indent="-283464">
              <a:lnSpc>
                <a:spcPct val="150000"/>
              </a:lnSpc>
              <a:spcBef>
                <a:spcPts val="0"/>
              </a:spcBef>
              <a:defRPr sz="1600">
                <a:solidFill>
                  <a:schemeClr val="tx2"/>
                </a:solidFill>
              </a:defRPr>
            </a:lvl3pPr>
            <a:lvl4pPr indent="-283464">
              <a:lnSpc>
                <a:spcPct val="150000"/>
              </a:lnSpc>
              <a:spcBef>
                <a:spcPts val="0"/>
              </a:spcBef>
              <a:defRPr sz="1600">
                <a:solidFill>
                  <a:schemeClr val="tx2"/>
                </a:solidFill>
              </a:defRPr>
            </a:lvl4pPr>
            <a:lvl5pPr indent="-283464">
              <a:lnSpc>
                <a:spcPct val="150000"/>
              </a:lnSpc>
              <a:spcBef>
                <a:spcPts val="0"/>
              </a:spcBef>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81475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6"/>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86B75-C16C-C033-D27D-FF84EFB71131}"/>
              </a:ext>
            </a:extLst>
          </p:cNvPr>
          <p:cNvSpPr/>
          <p:nvPr userDrawn="1"/>
        </p:nvSpPr>
        <p:spPr>
          <a:xfrm>
            <a:off x="0" y="0"/>
            <a:ext cx="100203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31443F-EAC2-06D1-A3D1-D73510EAF2A3}"/>
              </a:ext>
            </a:extLst>
          </p:cNvPr>
          <p:cNvSpPr>
            <a:spLocks noGrp="1"/>
          </p:cNvSpPr>
          <p:nvPr>
            <p:ph type="title"/>
          </p:nvPr>
        </p:nvSpPr>
        <p:spPr>
          <a:xfrm>
            <a:off x="2313432" y="1426464"/>
            <a:ext cx="6675120" cy="1702816"/>
          </a:xfrm>
        </p:spPr>
        <p:txBody>
          <a:bodyPr anchor="t"/>
          <a:lstStyle>
            <a:lvl1pPr>
              <a:lnSpc>
                <a:spcPct val="80000"/>
              </a:lnSpc>
              <a:defRPr sz="7200" cap="all" baseline="0">
                <a:solidFill>
                  <a:schemeClr val="bg1"/>
                </a:solidFill>
              </a:defRPr>
            </a:lvl1pPr>
          </a:lstStyle>
          <a:p>
            <a:r>
              <a:rPr lang="en-US" dirty="0"/>
              <a:t>Click to edit Master title style</a:t>
            </a:r>
          </a:p>
        </p:txBody>
      </p:sp>
      <p:grpSp>
        <p:nvGrpSpPr>
          <p:cNvPr id="7" name="Group 6">
            <a:extLst>
              <a:ext uri="{FF2B5EF4-FFF2-40B4-BE49-F238E27FC236}">
                <a16:creationId xmlns:a16="http://schemas.microsoft.com/office/drawing/2014/main" id="{D80535FC-1B0E-C4EB-FE55-190522219FEA}"/>
              </a:ext>
            </a:extLst>
          </p:cNvPr>
          <p:cNvGrpSpPr/>
          <p:nvPr userDrawn="1"/>
        </p:nvGrpSpPr>
        <p:grpSpPr>
          <a:xfrm>
            <a:off x="3979533" y="5799270"/>
            <a:ext cx="8212467" cy="0"/>
            <a:chOff x="3733800" y="5537385"/>
            <a:chExt cx="8212467" cy="0"/>
          </a:xfrm>
        </p:grpSpPr>
        <p:cxnSp>
          <p:nvCxnSpPr>
            <p:cNvPr id="8" name="Straight Connector 7">
              <a:extLst>
                <a:ext uri="{FF2B5EF4-FFF2-40B4-BE49-F238E27FC236}">
                  <a16:creationId xmlns:a16="http://schemas.microsoft.com/office/drawing/2014/main" id="{9CA6B206-18E0-06D2-958F-E859A1428A57}"/>
                </a:ext>
              </a:extLst>
            </p:cNvPr>
            <p:cNvCxnSpPr>
              <a:cxnSpLocks/>
            </p:cNvCxnSpPr>
            <p:nvPr/>
          </p:nvCxnSpPr>
          <p:spPr>
            <a:xfrm>
              <a:off x="3733800" y="5537385"/>
              <a:ext cx="60541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47EEA7-F856-F6C0-18DD-5D37FD51D45B}"/>
                </a:ext>
              </a:extLst>
            </p:cNvPr>
            <p:cNvCxnSpPr>
              <a:cxnSpLocks/>
            </p:cNvCxnSpPr>
            <p:nvPr/>
          </p:nvCxnSpPr>
          <p:spPr>
            <a:xfrm>
              <a:off x="9774567" y="5537385"/>
              <a:ext cx="2171700"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A9C909AE-4D54-F197-103E-29E9C2597F56}"/>
              </a:ext>
            </a:extLst>
          </p:cNvPr>
          <p:cNvSpPr>
            <a:spLocks noGrp="1"/>
          </p:cNvSpPr>
          <p:nvPr>
            <p:ph type="body" sz="quarter" idx="10"/>
          </p:nvPr>
        </p:nvSpPr>
        <p:spPr>
          <a:xfrm>
            <a:off x="3877056" y="3383280"/>
            <a:ext cx="4754880" cy="2057400"/>
          </a:xfrm>
        </p:spPr>
        <p:txBody>
          <a:bodyPr/>
          <a:lstStyle>
            <a:lvl1pPr marL="0" indent="0">
              <a:lnSpc>
                <a:spcPct val="150000"/>
              </a:lnSpc>
              <a:spcBef>
                <a:spcPts val="0"/>
              </a:spcBef>
              <a:buNone/>
              <a:defRPr sz="2200" b="1">
                <a:solidFill>
                  <a:schemeClr val="bg1"/>
                </a:solidFill>
              </a:defRPr>
            </a:lvl1pPr>
            <a:lvl2pPr marL="0" indent="0">
              <a:lnSpc>
                <a:spcPct val="150000"/>
              </a:lnSpc>
              <a:spcBef>
                <a:spcPts val="0"/>
              </a:spcBef>
              <a:buNone/>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525968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C28C00-D101-DFF8-7E0A-1AEBF0DBE72B}"/>
              </a:ext>
            </a:extLst>
          </p:cNvPr>
          <p:cNvSpPr>
            <a:spLocks noGrp="1"/>
          </p:cNvSpPr>
          <p:nvPr>
            <p:ph type="dt" sz="half" idx="10"/>
          </p:nvPr>
        </p:nvSpPr>
        <p:spPr/>
        <p:txBody>
          <a:bodyPr/>
          <a:lstStyle/>
          <a:p>
            <a:endParaRPr lang="en-US" noProof="0" dirty="0"/>
          </a:p>
        </p:txBody>
      </p:sp>
      <p:sp>
        <p:nvSpPr>
          <p:cNvPr id="4" name="Footer Placeholder 3">
            <a:extLst>
              <a:ext uri="{FF2B5EF4-FFF2-40B4-BE49-F238E27FC236}">
                <a16:creationId xmlns:a16="http://schemas.microsoft.com/office/drawing/2014/main" id="{D74C5F1F-F8B7-6C5F-6A7F-5F8F6128A1C8}"/>
              </a:ext>
            </a:extLst>
          </p:cNvPr>
          <p:cNvSpPr>
            <a:spLocks noGrp="1"/>
          </p:cNvSpPr>
          <p:nvPr>
            <p:ph type="ftr" sz="quarter" idx="11"/>
          </p:nvPr>
        </p:nvSpPr>
        <p:spPr/>
        <p:txBody>
          <a:bodyPr/>
          <a:lstStyle/>
          <a:p>
            <a:r>
              <a:rPr lang="en-US" dirty="0"/>
              <a:t>Presentation title</a:t>
            </a:r>
            <a:endParaRPr lang="en-PK"/>
          </a:p>
        </p:txBody>
      </p:sp>
      <p:sp>
        <p:nvSpPr>
          <p:cNvPr id="5" name="Slide Number Placeholder 4">
            <a:extLst>
              <a:ext uri="{FF2B5EF4-FFF2-40B4-BE49-F238E27FC236}">
                <a16:creationId xmlns:a16="http://schemas.microsoft.com/office/drawing/2014/main" id="{EFD9287E-E726-E0E6-2871-FE77159B5E01}"/>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
        <p:nvSpPr>
          <p:cNvPr id="6" name="Title 5">
            <a:extLst>
              <a:ext uri="{FF2B5EF4-FFF2-40B4-BE49-F238E27FC236}">
                <a16:creationId xmlns:a16="http://schemas.microsoft.com/office/drawing/2014/main" id="{160592E8-155C-36FA-DA0A-52B23CE8AF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5763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64B432-06C2-E932-E96F-67CECC2E9658}"/>
              </a:ext>
            </a:extLst>
          </p:cNvPr>
          <p:cNvSpPr>
            <a:spLocks noGrp="1"/>
          </p:cNvSpPr>
          <p:nvPr>
            <p:ph type="dt" sz="half" idx="10"/>
          </p:nvPr>
        </p:nvSpPr>
        <p:spPr/>
        <p:txBody>
          <a:bodyPr/>
          <a:lstStyle/>
          <a:p>
            <a:endParaRPr lang="en-US" noProof="0" dirty="0"/>
          </a:p>
        </p:txBody>
      </p:sp>
      <p:sp>
        <p:nvSpPr>
          <p:cNvPr id="3" name="Footer Placeholder 2">
            <a:extLst>
              <a:ext uri="{FF2B5EF4-FFF2-40B4-BE49-F238E27FC236}">
                <a16:creationId xmlns:a16="http://schemas.microsoft.com/office/drawing/2014/main" id="{7F1F3471-B7F6-01DB-D712-136C1626DFAE}"/>
              </a:ext>
            </a:extLst>
          </p:cNvPr>
          <p:cNvSpPr>
            <a:spLocks noGrp="1"/>
          </p:cNvSpPr>
          <p:nvPr>
            <p:ph type="ftr" sz="quarter" idx="11"/>
          </p:nvPr>
        </p:nvSpPr>
        <p:spPr/>
        <p:txBody>
          <a:bodyPr/>
          <a:lstStyle/>
          <a:p>
            <a:r>
              <a:rPr lang="en-US" dirty="0"/>
              <a:t>Presentation title</a:t>
            </a:r>
            <a:endParaRPr lang="en-PK"/>
          </a:p>
        </p:txBody>
      </p:sp>
      <p:sp>
        <p:nvSpPr>
          <p:cNvPr id="4" name="Slide Number Placeholder 3">
            <a:extLst>
              <a:ext uri="{FF2B5EF4-FFF2-40B4-BE49-F238E27FC236}">
                <a16:creationId xmlns:a16="http://schemas.microsoft.com/office/drawing/2014/main" id="{32C05956-4CA5-988F-7C93-317A88D1202C}"/>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185614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B670E-478C-D301-FCE5-E830024697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283B16CD-30BD-156F-11B4-9CF89A064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0E3C54B0-9878-1911-8DE9-EC464D202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493B1-79A4-1FA9-B462-853856DE870E}"/>
              </a:ext>
            </a:extLst>
          </p:cNvPr>
          <p:cNvSpPr>
            <a:spLocks noGrp="1"/>
          </p:cNvSpPr>
          <p:nvPr>
            <p:ph type="dt" sz="half" idx="10"/>
          </p:nvPr>
        </p:nvSpPr>
        <p:spPr/>
        <p:txBody>
          <a:bodyPr/>
          <a:lstStyle/>
          <a:p>
            <a:endParaRPr lang="en-US" noProof="0" dirty="0"/>
          </a:p>
        </p:txBody>
      </p:sp>
      <p:sp>
        <p:nvSpPr>
          <p:cNvPr id="6" name="Footer Placeholder 5">
            <a:extLst>
              <a:ext uri="{FF2B5EF4-FFF2-40B4-BE49-F238E27FC236}">
                <a16:creationId xmlns:a16="http://schemas.microsoft.com/office/drawing/2014/main" id="{A697EEE8-8F1E-8F14-E2ED-333A1FF24725}"/>
              </a:ext>
            </a:extLst>
          </p:cNvPr>
          <p:cNvSpPr>
            <a:spLocks noGrp="1"/>
          </p:cNvSpPr>
          <p:nvPr>
            <p:ph type="ftr" sz="quarter" idx="11"/>
          </p:nvPr>
        </p:nvSpPr>
        <p:spPr/>
        <p:txBody>
          <a:bodyPr/>
          <a:lstStyle/>
          <a:p>
            <a:r>
              <a:rPr lang="en-US" dirty="0"/>
              <a:t>Presentation title</a:t>
            </a:r>
            <a:endParaRPr lang="en-PK"/>
          </a:p>
        </p:txBody>
      </p:sp>
      <p:sp>
        <p:nvSpPr>
          <p:cNvPr id="7" name="Slide Number Placeholder 6">
            <a:extLst>
              <a:ext uri="{FF2B5EF4-FFF2-40B4-BE49-F238E27FC236}">
                <a16:creationId xmlns:a16="http://schemas.microsoft.com/office/drawing/2014/main" id="{B9DFABEB-B6B7-2591-AE85-265A3F873192}"/>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206230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52A6A-C17E-2616-3199-C8D78E7EE7E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3" name="Picture Placeholder 2">
            <a:extLst>
              <a:ext uri="{FF2B5EF4-FFF2-40B4-BE49-F238E27FC236}">
                <a16:creationId xmlns:a16="http://schemas.microsoft.com/office/drawing/2014/main" id="{37705714-E101-08DD-6A13-D561A3EC2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noProof="0"/>
          </a:p>
        </p:txBody>
      </p:sp>
      <p:sp>
        <p:nvSpPr>
          <p:cNvPr id="4" name="Text Placeholder 3">
            <a:extLst>
              <a:ext uri="{FF2B5EF4-FFF2-40B4-BE49-F238E27FC236}">
                <a16:creationId xmlns:a16="http://schemas.microsoft.com/office/drawing/2014/main" id="{B16ECB26-D659-5BC3-C669-1B45225D27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a:extLst>
              <a:ext uri="{FF2B5EF4-FFF2-40B4-BE49-F238E27FC236}">
                <a16:creationId xmlns:a16="http://schemas.microsoft.com/office/drawing/2014/main" id="{D4464F27-6C3B-1E36-B1DC-ECB72DCF22AC}"/>
              </a:ext>
            </a:extLst>
          </p:cNvPr>
          <p:cNvSpPr>
            <a:spLocks noGrp="1"/>
          </p:cNvSpPr>
          <p:nvPr>
            <p:ph type="dt" sz="half" idx="10"/>
          </p:nvPr>
        </p:nvSpPr>
        <p:spPr/>
        <p:txBody>
          <a:bodyPr/>
          <a:lstStyle/>
          <a:p>
            <a:endParaRPr lang="en-US" noProof="0"/>
          </a:p>
        </p:txBody>
      </p:sp>
      <p:sp>
        <p:nvSpPr>
          <p:cNvPr id="6" name="Footer Placeholder 5">
            <a:extLst>
              <a:ext uri="{FF2B5EF4-FFF2-40B4-BE49-F238E27FC236}">
                <a16:creationId xmlns:a16="http://schemas.microsoft.com/office/drawing/2014/main" id="{1BC595AB-D292-D355-47CD-748C160B1BD3}"/>
              </a:ext>
            </a:extLst>
          </p:cNvPr>
          <p:cNvSpPr>
            <a:spLocks noGrp="1"/>
          </p:cNvSpPr>
          <p:nvPr>
            <p:ph type="ftr" sz="quarter" idx="11"/>
          </p:nvPr>
        </p:nvSpPr>
        <p:spPr/>
        <p:txBody>
          <a:bodyPr/>
          <a:lstStyle/>
          <a:p>
            <a:r>
              <a:rPr lang="en-US" noProof="0"/>
              <a:t>Presentation title</a:t>
            </a:r>
          </a:p>
        </p:txBody>
      </p:sp>
      <p:sp>
        <p:nvSpPr>
          <p:cNvPr id="7" name="Slide Number Placeholder 6">
            <a:extLst>
              <a:ext uri="{FF2B5EF4-FFF2-40B4-BE49-F238E27FC236}">
                <a16:creationId xmlns:a16="http://schemas.microsoft.com/office/drawing/2014/main" id="{CC1CEE5F-F44A-DD2C-EEC3-D4C76B69D15D}"/>
              </a:ext>
            </a:extLst>
          </p:cNvPr>
          <p:cNvSpPr>
            <a:spLocks noGrp="1"/>
          </p:cNvSpPr>
          <p:nvPr>
            <p:ph type="sldNum" sz="quarter" idx="12"/>
          </p:nvPr>
        </p:nvSpPr>
        <p:spPr/>
        <p:txBody>
          <a:bodyPr/>
          <a:lstStyle/>
          <a:p>
            <a:fld id="{5BFCF61C-3B18-4C03-8326-CC3B32D710C9}" type="slidenum">
              <a:rPr lang="en-US" noProof="0" smtClean="0"/>
              <a:t>‹#›</a:t>
            </a:fld>
            <a:endParaRPr lang="en-US" noProof="0"/>
          </a:p>
        </p:txBody>
      </p:sp>
    </p:spTree>
    <p:extLst>
      <p:ext uri="{BB962C8B-B14F-4D97-AF65-F5344CB8AC3E}">
        <p14:creationId xmlns:p14="http://schemas.microsoft.com/office/powerpoint/2010/main" val="752938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6BC278-3A9A-4241-1DE5-469D2AB5E36B}"/>
              </a:ext>
            </a:extLst>
          </p:cNvPr>
          <p:cNvSpPr>
            <a:spLocks noGrp="1"/>
          </p:cNvSpPr>
          <p:nvPr>
            <p:ph type="title"/>
          </p:nvPr>
        </p:nvSpPr>
        <p:spPr>
          <a:xfrm>
            <a:off x="838200" y="1115367"/>
            <a:ext cx="10515600" cy="575321"/>
          </a:xfrm>
          <a:prstGeom prst="rect">
            <a:avLst/>
          </a:prstGeom>
        </p:spPr>
        <p:txBody>
          <a:bodyPr vert="horz" lIns="91440" tIns="45720" rIns="91440" bIns="45720" rtlCol="0" anchor="t">
            <a:no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38A5E58-5605-E2B6-AEBE-7EF159AAD7E2}"/>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a:p>
        </p:txBody>
      </p:sp>
      <p:sp>
        <p:nvSpPr>
          <p:cNvPr id="4" name="Date Placeholder 3">
            <a:extLst>
              <a:ext uri="{FF2B5EF4-FFF2-40B4-BE49-F238E27FC236}">
                <a16:creationId xmlns:a16="http://schemas.microsoft.com/office/drawing/2014/main" id="{B221D507-72FD-CB53-B342-C69D562AFD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endParaRPr lang="en-US" noProof="0"/>
          </a:p>
        </p:txBody>
      </p:sp>
      <p:sp>
        <p:nvSpPr>
          <p:cNvPr id="5" name="Footer Placeholder 4">
            <a:extLst>
              <a:ext uri="{FF2B5EF4-FFF2-40B4-BE49-F238E27FC236}">
                <a16:creationId xmlns:a16="http://schemas.microsoft.com/office/drawing/2014/main" id="{01A3E9A7-861F-C5C4-DD4E-37AC66D867ED}"/>
              </a:ext>
            </a:extLst>
          </p:cNvPr>
          <p:cNvSpPr>
            <a:spLocks noGrp="1"/>
          </p:cNvSpPr>
          <p:nvPr>
            <p:ph type="ftr" sz="quarter" idx="3"/>
          </p:nvPr>
        </p:nvSpPr>
        <p:spPr>
          <a:xfrm>
            <a:off x="411480" y="301752"/>
            <a:ext cx="1828800" cy="274320"/>
          </a:xfrm>
          <a:prstGeom prst="rect">
            <a:avLst/>
          </a:prstGeom>
        </p:spPr>
        <p:txBody>
          <a:bodyPr vert="horz" lIns="91440" tIns="45720" rIns="91440" bIns="45720" rtlCol="0" anchor="ctr">
            <a:noAutofit/>
          </a:bodyPr>
          <a:lstStyle>
            <a:lvl1pPr algn="l">
              <a:defRPr sz="1200">
                <a:solidFill>
                  <a:schemeClr val="tx2"/>
                </a:solidFill>
              </a:defRPr>
            </a:lvl1pPr>
          </a:lstStyle>
          <a:p>
            <a:r>
              <a:rPr lang="en-US" dirty="0"/>
              <a:t>Presentation title</a:t>
            </a:r>
            <a:endParaRPr lang="en-PK" dirty="0"/>
          </a:p>
        </p:txBody>
      </p:sp>
      <p:sp>
        <p:nvSpPr>
          <p:cNvPr id="6" name="Slide Number Placeholder 5">
            <a:extLst>
              <a:ext uri="{FF2B5EF4-FFF2-40B4-BE49-F238E27FC236}">
                <a16:creationId xmlns:a16="http://schemas.microsoft.com/office/drawing/2014/main" id="{5877A1DC-56B8-6C78-5020-E45478D099C6}"/>
              </a:ext>
            </a:extLst>
          </p:cNvPr>
          <p:cNvSpPr>
            <a:spLocks noGrp="1"/>
          </p:cNvSpPr>
          <p:nvPr>
            <p:ph type="sldNum" sz="quarter" idx="4"/>
          </p:nvPr>
        </p:nvSpPr>
        <p:spPr>
          <a:xfrm>
            <a:off x="10122408" y="301752"/>
            <a:ext cx="1673352" cy="274320"/>
          </a:xfrm>
          <a:prstGeom prst="rect">
            <a:avLst/>
          </a:prstGeom>
        </p:spPr>
        <p:txBody>
          <a:bodyPr vert="horz" lIns="91440" tIns="45720" rIns="91440" bIns="45720" rtlCol="0" anchor="ctr">
            <a:noAutofit/>
          </a:bodyPr>
          <a:lstStyle>
            <a:lvl1pPr algn="r">
              <a:defRPr sz="1200">
                <a:solidFill>
                  <a:schemeClr val="tx2"/>
                </a:solidFill>
              </a:defRPr>
            </a:lvl1pPr>
          </a:lstStyle>
          <a:p>
            <a:fld id="{5BFCF61C-3B18-4C03-8326-CC3B32D710C9}" type="slidenum">
              <a:rPr lang="en-US" noProof="0" smtClean="0"/>
              <a:pPr/>
              <a:t>‹#›</a:t>
            </a:fld>
            <a:endParaRPr lang="en-US" noProof="0"/>
          </a:p>
        </p:txBody>
      </p:sp>
    </p:spTree>
    <p:extLst>
      <p:ext uri="{BB962C8B-B14F-4D97-AF65-F5344CB8AC3E}">
        <p14:creationId xmlns:p14="http://schemas.microsoft.com/office/powerpoint/2010/main" val="135068052"/>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1" r:id="rId3"/>
    <p:sldLayoutId id="2147483660" r:id="rId4"/>
    <p:sldLayoutId id="2147483661" r:id="rId5"/>
    <p:sldLayoutId id="2147483665" r:id="rId6"/>
    <p:sldLayoutId id="2147483662" r:id="rId7"/>
    <p:sldLayoutId id="2147483664" r:id="rId8"/>
    <p:sldLayoutId id="2147483663" r:id="rId9"/>
    <p:sldLayoutId id="2147483652" r:id="rId10"/>
    <p:sldLayoutId id="2147483666" r:id="rId11"/>
    <p:sldLayoutId id="2147483658" r:id="rId12"/>
    <p:sldLayoutId id="2147483654" r:id="rId13"/>
    <p:sldLayoutId id="2147483655" r:id="rId14"/>
    <p:sldLayoutId id="2147483656" r:id="rId15"/>
    <p:sldLayoutId id="2147483657" r:id="rId16"/>
  </p:sldLayoutIdLst>
  <p:hf hdr="0" dt="0"/>
  <p:txStyles>
    <p:titleStyle>
      <a:lvl1pPr algn="l" defTabSz="914400" rtl="0" eaLnBrk="1" latinLnBrk="0" hangingPunct="1">
        <a:lnSpc>
          <a:spcPct val="80000"/>
        </a:lnSpc>
        <a:spcBef>
          <a:spcPct val="0"/>
        </a:spcBef>
        <a:buNone/>
        <a:defRPr sz="4400" kern="1200" cap="all"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slideLayout" Target="../slideLayouts/slideLayout6.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04B07C7A-8E1D-7BF7-31C8-5C68C6D2F9CF}"/>
              </a:ext>
            </a:extLst>
          </p:cNvPr>
          <p:cNvSpPr>
            <a:spLocks noGrp="1"/>
          </p:cNvSpPr>
          <p:nvPr>
            <p:ph type="ctrTitle"/>
          </p:nvPr>
        </p:nvSpPr>
        <p:spPr/>
        <p:txBody>
          <a:bodyPr>
            <a:normAutofit/>
          </a:bodyPr>
          <a:lstStyle/>
          <a:p>
            <a:r>
              <a:rPr lang="en-IN" dirty="0">
                <a:latin typeface="Berlin Sans FB" panose="020E0602020502020306" pitchFamily="34" charset="0"/>
              </a:rPr>
              <a:t>I</a:t>
            </a:r>
            <a:r>
              <a:rPr lang="en-US" dirty="0">
                <a:latin typeface="Berlin Sans FB" panose="020E0602020502020306" pitchFamily="34" charset="0"/>
              </a:rPr>
              <a:t>T TICKET ANALYSIS</a:t>
            </a:r>
          </a:p>
        </p:txBody>
      </p:sp>
      <p:sp>
        <p:nvSpPr>
          <p:cNvPr id="11" name="Subtitle 10">
            <a:extLst>
              <a:ext uri="{FF2B5EF4-FFF2-40B4-BE49-F238E27FC236}">
                <a16:creationId xmlns:a16="http://schemas.microsoft.com/office/drawing/2014/main" id="{EF3A7BFE-9123-98C4-791C-9A3FE773CF97}"/>
              </a:ext>
            </a:extLst>
          </p:cNvPr>
          <p:cNvSpPr>
            <a:spLocks noGrp="1"/>
          </p:cNvSpPr>
          <p:nvPr>
            <p:ph type="subTitle" idx="1"/>
          </p:nvPr>
        </p:nvSpPr>
        <p:spPr/>
        <p:txBody>
          <a:bodyPr/>
          <a:lstStyle/>
          <a:p>
            <a:r>
              <a:rPr lang="en-US" dirty="0">
                <a:latin typeface="Bahnschrift SemiLight" panose="020B0502040204020203" pitchFamily="34" charset="0"/>
              </a:rPr>
              <a:t>ASHUTOSH KAR</a:t>
            </a:r>
            <a:endParaRPr lang="en-PK" dirty="0">
              <a:latin typeface="Bahnschrift SemiLight" panose="020B0502040204020203" pitchFamily="34" charset="0"/>
            </a:endParaRPr>
          </a:p>
        </p:txBody>
      </p:sp>
    </p:spTree>
    <p:extLst>
      <p:ext uri="{BB962C8B-B14F-4D97-AF65-F5344CB8AC3E}">
        <p14:creationId xmlns:p14="http://schemas.microsoft.com/office/powerpoint/2010/main" val="286310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DE3D-CB39-03D2-545F-5283024761BD}"/>
              </a:ext>
            </a:extLst>
          </p:cNvPr>
          <p:cNvSpPr>
            <a:spLocks noGrp="1"/>
          </p:cNvSpPr>
          <p:nvPr>
            <p:ph type="title"/>
          </p:nvPr>
        </p:nvSpPr>
        <p:spPr>
          <a:xfrm>
            <a:off x="603504" y="874827"/>
            <a:ext cx="10515600" cy="575321"/>
          </a:xfrm>
        </p:spPr>
        <p:txBody>
          <a:bodyPr/>
          <a:lstStyle/>
          <a:p>
            <a:r>
              <a:rPr lang="en-IN" dirty="0">
                <a:latin typeface="Berlin Sans FB" panose="020E0602020502020306" pitchFamily="34" charset="0"/>
              </a:rPr>
              <a:t>I</a:t>
            </a:r>
            <a:r>
              <a:rPr lang="en-US" dirty="0">
                <a:latin typeface="Berlin Sans FB" panose="020E0602020502020306" pitchFamily="34" charset="0"/>
              </a:rPr>
              <a:t>NTRODUCTION</a:t>
            </a:r>
          </a:p>
        </p:txBody>
      </p:sp>
      <p:sp>
        <p:nvSpPr>
          <p:cNvPr id="5" name="Text Placeholder 4">
            <a:extLst>
              <a:ext uri="{FF2B5EF4-FFF2-40B4-BE49-F238E27FC236}">
                <a16:creationId xmlns:a16="http://schemas.microsoft.com/office/drawing/2014/main" id="{51683C73-2637-AC0E-5A6B-47B6C6CB9E2A}"/>
              </a:ext>
            </a:extLst>
          </p:cNvPr>
          <p:cNvSpPr>
            <a:spLocks noGrp="1"/>
          </p:cNvSpPr>
          <p:nvPr>
            <p:ph type="body" sz="quarter" idx="15"/>
          </p:nvPr>
        </p:nvSpPr>
        <p:spPr>
          <a:xfrm>
            <a:off x="603504" y="2536724"/>
            <a:ext cx="10515600" cy="3554360"/>
          </a:xfrm>
        </p:spPr>
        <p:txBody>
          <a:bodyPr/>
          <a:lstStyle/>
          <a:p>
            <a:r>
              <a:rPr lang="en-US" sz="1800" b="0" dirty="0">
                <a:latin typeface="Tahoma" panose="020B0604030504040204" pitchFamily="34" charset="0"/>
                <a:ea typeface="Tahoma" panose="020B0604030504040204" pitchFamily="34" charset="0"/>
                <a:cs typeface="Tahoma" panose="020B0604030504040204" pitchFamily="34" charset="0"/>
              </a:rPr>
              <a:t>This project focuses on analyzing the IT support ticket management system to evaluate agent resolution process, the analysis aims to provide actionable insights. </a:t>
            </a:r>
          </a:p>
          <a:p>
            <a:r>
              <a:rPr lang="en-US" sz="1800" b="0" dirty="0">
                <a:latin typeface="Tahoma" panose="020B0604030504040204" pitchFamily="34" charset="0"/>
                <a:ea typeface="Tahoma" panose="020B0604030504040204" pitchFamily="34" charset="0"/>
                <a:cs typeface="Tahoma" panose="020B0604030504040204" pitchFamily="34" charset="0"/>
              </a:rPr>
              <a:t>These findings will support data-driven staffing decisions—such as hiring, firing, and training—ultimately enhancing service quality and team performance.</a:t>
            </a:r>
          </a:p>
          <a:p>
            <a:pPr marL="0" indent="0">
              <a:buNone/>
            </a:pPr>
            <a:endParaRPr lang="en-US" sz="1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79194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7A5F7-C5D7-EC04-2E4A-212F81E9A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40848-3BA5-0B16-5AA0-112A5D56B79B}"/>
              </a:ext>
            </a:extLst>
          </p:cNvPr>
          <p:cNvSpPr>
            <a:spLocks noGrp="1"/>
          </p:cNvSpPr>
          <p:nvPr>
            <p:ph type="title"/>
          </p:nvPr>
        </p:nvSpPr>
        <p:spPr>
          <a:xfrm>
            <a:off x="603504" y="869147"/>
            <a:ext cx="10515600" cy="575321"/>
          </a:xfrm>
        </p:spPr>
        <p:txBody>
          <a:bodyPr/>
          <a:lstStyle/>
          <a:p>
            <a:r>
              <a:rPr lang="en-US" dirty="0">
                <a:latin typeface="Berlin Sans FB" panose="020E0602020502020306" pitchFamily="34" charset="0"/>
                <a:ea typeface="Tahoma" panose="020B0604030504040204" pitchFamily="34" charset="0"/>
                <a:cs typeface="Tahoma" panose="020B0604030504040204" pitchFamily="34" charset="0"/>
              </a:rPr>
              <a:t>PROBLEM STATEMENT</a:t>
            </a:r>
          </a:p>
        </p:txBody>
      </p:sp>
      <p:sp>
        <p:nvSpPr>
          <p:cNvPr id="5" name="Text Placeholder 4">
            <a:extLst>
              <a:ext uri="{FF2B5EF4-FFF2-40B4-BE49-F238E27FC236}">
                <a16:creationId xmlns:a16="http://schemas.microsoft.com/office/drawing/2014/main" id="{A773EBD2-D332-9293-349C-AE6A3F036A2D}"/>
              </a:ext>
            </a:extLst>
          </p:cNvPr>
          <p:cNvSpPr>
            <a:spLocks noGrp="1"/>
          </p:cNvSpPr>
          <p:nvPr>
            <p:ph type="body" sz="quarter" idx="15"/>
          </p:nvPr>
        </p:nvSpPr>
        <p:spPr>
          <a:xfrm>
            <a:off x="603504" y="2536724"/>
            <a:ext cx="10515600" cy="3554360"/>
          </a:xfrm>
        </p:spPr>
        <p:txBody>
          <a:bodyPr/>
          <a:lstStyle/>
          <a:p>
            <a:r>
              <a:rPr lang="en-US" sz="1800" dirty="0">
                <a:latin typeface="Tahoma" panose="020B0604030504040204" pitchFamily="34" charset="0"/>
                <a:ea typeface="Tahoma" panose="020B0604030504040204" pitchFamily="34" charset="0"/>
                <a:cs typeface="Tahoma" panose="020B0604030504040204" pitchFamily="34" charset="0"/>
                <a:sym typeface="Lato"/>
              </a:rPr>
              <a:t>The objective is to analyze the IT support ticket management system to understand the performance of IT agents, the efficiency of ticket resolution, and the satisfaction levels of employees. </a:t>
            </a:r>
          </a:p>
          <a:p>
            <a:r>
              <a:rPr lang="en-US" sz="1800" dirty="0">
                <a:latin typeface="Tahoma" panose="020B0604030504040204" pitchFamily="34" charset="0"/>
                <a:ea typeface="Tahoma" panose="020B0604030504040204" pitchFamily="34" charset="0"/>
                <a:cs typeface="Tahoma" panose="020B0604030504040204" pitchFamily="34" charset="0"/>
                <a:sym typeface="Lato"/>
              </a:rPr>
              <a:t>The analysis aims to identify high and low performers among IT agents, assess the overall effectiveness of the team, and pinpoint areas for improvement in the ticket resolution process. </a:t>
            </a:r>
          </a:p>
          <a:p>
            <a:r>
              <a:rPr lang="en-US" sz="1800" dirty="0">
                <a:latin typeface="Tahoma" panose="020B0604030504040204" pitchFamily="34" charset="0"/>
                <a:ea typeface="Tahoma" panose="020B0604030504040204" pitchFamily="34" charset="0"/>
                <a:cs typeface="Tahoma" panose="020B0604030504040204" pitchFamily="34" charset="0"/>
                <a:sym typeface="Lato"/>
              </a:rPr>
              <a:t>The ultimate goal is to make informed staffing decisions, including hiring, firing, and training, to enhance overall service quality and team performance.</a:t>
            </a:r>
            <a:endParaRPr lang="en-US" sz="1800" b="0" i="0" u="none" strike="noStrike" cap="none" dirty="0">
              <a:solidFill>
                <a:srgbClr val="000000"/>
              </a:solidFill>
              <a:latin typeface="Tahoma" panose="020B0604030504040204" pitchFamily="34" charset="0"/>
              <a:ea typeface="Tahoma" panose="020B0604030504040204" pitchFamily="34" charset="0"/>
              <a:cs typeface="Tahoma" panose="020B0604030504040204" pitchFamily="34" charset="0"/>
              <a:sym typeface="Lato"/>
            </a:endParaRPr>
          </a:p>
          <a:p>
            <a:endParaRPr lang="en-US" sz="1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54778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393CE-9363-72CB-FD40-73A65C0DCC57}"/>
              </a:ext>
            </a:extLst>
          </p:cNvPr>
          <p:cNvSpPr>
            <a:spLocks noGrp="1"/>
          </p:cNvSpPr>
          <p:nvPr>
            <p:ph type="title"/>
          </p:nvPr>
        </p:nvSpPr>
        <p:spPr>
          <a:xfrm>
            <a:off x="117987" y="514403"/>
            <a:ext cx="5344413" cy="1682749"/>
          </a:xfrm>
        </p:spPr>
        <p:txBody>
          <a:bodyPr/>
          <a:lstStyle/>
          <a:p>
            <a:r>
              <a:rPr lang="en-US" dirty="0">
                <a:latin typeface="Berlin Sans FB" panose="020E0602020502020306" pitchFamily="34" charset="0"/>
                <a:ea typeface="Tahoma" panose="020B0604030504040204" pitchFamily="34" charset="0"/>
                <a:cs typeface="Tahoma" panose="020B0604030504040204" pitchFamily="34" charset="0"/>
              </a:rPr>
              <a:t>Data </a:t>
            </a:r>
            <a:br>
              <a:rPr lang="en-US" dirty="0">
                <a:latin typeface="Berlin Sans FB" panose="020E0602020502020306" pitchFamily="34" charset="0"/>
                <a:ea typeface="Tahoma" panose="020B0604030504040204" pitchFamily="34" charset="0"/>
                <a:cs typeface="Tahoma" panose="020B0604030504040204" pitchFamily="34" charset="0"/>
              </a:rPr>
            </a:br>
            <a:r>
              <a:rPr lang="en-US" dirty="0">
                <a:latin typeface="Berlin Sans FB" panose="020E0602020502020306" pitchFamily="34" charset="0"/>
                <a:ea typeface="Tahoma" panose="020B0604030504040204" pitchFamily="34" charset="0"/>
                <a:cs typeface="Tahoma" panose="020B0604030504040204" pitchFamily="34" charset="0"/>
              </a:rPr>
              <a:t>OVERVIEW</a:t>
            </a:r>
            <a:br>
              <a:rPr lang="en-US" dirty="0">
                <a:latin typeface="Berlin Sans FB" panose="020E0602020502020306" pitchFamily="34" charset="0"/>
                <a:ea typeface="Tahoma" panose="020B0604030504040204" pitchFamily="34" charset="0"/>
                <a:cs typeface="Tahoma" panose="020B0604030504040204" pitchFamily="34" charset="0"/>
              </a:rPr>
            </a:br>
            <a:endParaRPr lang="en-US" dirty="0">
              <a:latin typeface="Berlin Sans FB" panose="020E0602020502020306" pitchFamily="34" charset="0"/>
              <a:ea typeface="Tahoma" panose="020B0604030504040204" pitchFamily="34" charset="0"/>
              <a:cs typeface="Tahoma" panose="020B0604030504040204" pitchFamily="34" charset="0"/>
            </a:endParaRPr>
          </a:p>
        </p:txBody>
      </p:sp>
      <p:sp>
        <p:nvSpPr>
          <p:cNvPr id="11" name="TextBox 10">
            <a:extLst>
              <a:ext uri="{FF2B5EF4-FFF2-40B4-BE49-F238E27FC236}">
                <a16:creationId xmlns:a16="http://schemas.microsoft.com/office/drawing/2014/main" id="{01921C33-F190-04BD-18EB-936EEBBCD3C7}"/>
              </a:ext>
            </a:extLst>
          </p:cNvPr>
          <p:cNvSpPr txBox="1"/>
          <p:nvPr/>
        </p:nvSpPr>
        <p:spPr>
          <a:xfrm>
            <a:off x="117987" y="3429000"/>
            <a:ext cx="3864078" cy="923330"/>
          </a:xfrm>
          <a:prstGeom prst="rect">
            <a:avLst/>
          </a:prstGeom>
          <a:noFill/>
        </p:spPr>
        <p:txBody>
          <a:bodyPr wrap="square" rtlCol="0">
            <a:spAutoFit/>
          </a:bodyPr>
          <a:lstStyle/>
          <a:p>
            <a:r>
              <a:rPr lang="en-IN" dirty="0">
                <a:solidFill>
                  <a:schemeClr val="tx2"/>
                </a:solidFill>
                <a:latin typeface="Tahoma" panose="020B0604030504040204" pitchFamily="34" charset="0"/>
                <a:ea typeface="Tahoma" panose="020B0604030504040204" pitchFamily="34" charset="0"/>
                <a:cs typeface="Tahoma" panose="020B0604030504040204" pitchFamily="34" charset="0"/>
              </a:rPr>
              <a:t>The data of this project includes two excel sheets which consists data of IT Agents and IT Tickets. </a:t>
            </a:r>
            <a:endParaRPr lang="en-US" dirty="0">
              <a:solidFill>
                <a:schemeClr val="tx2"/>
              </a:solidFill>
              <a:latin typeface="Tahoma" panose="020B0604030504040204" pitchFamily="34" charset="0"/>
              <a:ea typeface="Tahoma" panose="020B0604030504040204" pitchFamily="34" charset="0"/>
              <a:cs typeface="Tahoma" panose="020B0604030504040204" pitchFamily="34" charset="0"/>
            </a:endParaRPr>
          </a:p>
        </p:txBody>
      </p:sp>
      <p:pic>
        <p:nvPicPr>
          <p:cNvPr id="15" name="Picture 14">
            <a:extLst>
              <a:ext uri="{FF2B5EF4-FFF2-40B4-BE49-F238E27FC236}">
                <a16:creationId xmlns:a16="http://schemas.microsoft.com/office/drawing/2014/main" id="{8DA78AA7-49F3-A1E6-C28D-5FA4D7C5B226}"/>
              </a:ext>
            </a:extLst>
          </p:cNvPr>
          <p:cNvPicPr>
            <a:picLocks noChangeAspect="1"/>
          </p:cNvPicPr>
          <p:nvPr/>
        </p:nvPicPr>
        <p:blipFill>
          <a:blip r:embed="rId2"/>
          <a:stretch>
            <a:fillRect/>
          </a:stretch>
        </p:blipFill>
        <p:spPr>
          <a:xfrm>
            <a:off x="4409768" y="280514"/>
            <a:ext cx="7300451" cy="2919886"/>
          </a:xfrm>
          <a:prstGeom prst="rect">
            <a:avLst/>
          </a:prstGeom>
        </p:spPr>
      </p:pic>
      <p:pic>
        <p:nvPicPr>
          <p:cNvPr id="17" name="Picture 16">
            <a:extLst>
              <a:ext uri="{FF2B5EF4-FFF2-40B4-BE49-F238E27FC236}">
                <a16:creationId xmlns:a16="http://schemas.microsoft.com/office/drawing/2014/main" id="{85781427-8AE0-4B54-B11B-39721EAF8536}"/>
              </a:ext>
            </a:extLst>
          </p:cNvPr>
          <p:cNvPicPr>
            <a:picLocks noChangeAspect="1"/>
          </p:cNvPicPr>
          <p:nvPr/>
        </p:nvPicPr>
        <p:blipFill>
          <a:blip r:embed="rId3"/>
          <a:stretch>
            <a:fillRect/>
          </a:stretch>
        </p:blipFill>
        <p:spPr>
          <a:xfrm>
            <a:off x="4409768" y="3429001"/>
            <a:ext cx="7300451" cy="3111616"/>
          </a:xfrm>
          <a:prstGeom prst="rect">
            <a:avLst/>
          </a:prstGeom>
        </p:spPr>
      </p:pic>
    </p:spTree>
    <p:extLst>
      <p:ext uri="{BB962C8B-B14F-4D97-AF65-F5344CB8AC3E}">
        <p14:creationId xmlns:p14="http://schemas.microsoft.com/office/powerpoint/2010/main" val="4122396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91133-2B2D-CB5C-25A3-A6BBC6AC48F6}"/>
              </a:ext>
            </a:extLst>
          </p:cNvPr>
          <p:cNvSpPr>
            <a:spLocks noGrp="1"/>
          </p:cNvSpPr>
          <p:nvPr>
            <p:ph type="title"/>
          </p:nvPr>
        </p:nvSpPr>
        <p:spPr>
          <a:xfrm>
            <a:off x="603504" y="431386"/>
            <a:ext cx="10515600" cy="575321"/>
          </a:xfrm>
        </p:spPr>
        <p:txBody>
          <a:bodyPr/>
          <a:lstStyle/>
          <a:p>
            <a:r>
              <a:rPr lang="en-US" dirty="0">
                <a:latin typeface="Berlin Sans FB" panose="020E0602020502020306" pitchFamily="34" charset="0"/>
                <a:ea typeface="Tahoma" panose="020B0604030504040204" pitchFamily="34" charset="0"/>
                <a:cs typeface="Tahoma" panose="020B0604030504040204" pitchFamily="34" charset="0"/>
              </a:rPr>
              <a:t>Attributes of data</a:t>
            </a:r>
            <a:br>
              <a:rPr lang="en-US" dirty="0">
                <a:latin typeface="Berlin Sans FB" panose="020E0602020502020306" pitchFamily="34" charset="0"/>
                <a:ea typeface="Tahoma" panose="020B0604030504040204" pitchFamily="34" charset="0"/>
                <a:cs typeface="Tahoma" panose="020B0604030504040204" pitchFamily="34" charset="0"/>
              </a:rPr>
            </a:br>
            <a:r>
              <a:rPr lang="en-US" dirty="0">
                <a:latin typeface="Berlin Sans FB" panose="020E0602020502020306" pitchFamily="34" charset="0"/>
                <a:ea typeface="Tahoma" panose="020B0604030504040204" pitchFamily="34" charset="0"/>
                <a:cs typeface="Tahoma" panose="020B0604030504040204" pitchFamily="34" charset="0"/>
              </a:rPr>
              <a:t>tickets sheet</a:t>
            </a:r>
            <a:br>
              <a:rPr lang="en-US" dirty="0">
                <a:latin typeface="Berlin Sans FB" panose="020E0602020502020306" pitchFamily="34" charset="0"/>
                <a:ea typeface="Tahoma" panose="020B0604030504040204" pitchFamily="34" charset="0"/>
                <a:cs typeface="Tahoma" panose="020B0604030504040204" pitchFamily="34" charset="0"/>
              </a:rPr>
            </a:br>
            <a:endParaRPr lang="en-US" dirty="0">
              <a:latin typeface="Berlin Sans FB" panose="020E0602020502020306" pitchFamily="34" charset="0"/>
              <a:ea typeface="Tahoma" panose="020B0604030504040204" pitchFamily="34" charset="0"/>
              <a:cs typeface="Tahoma" panose="020B0604030504040204" pitchFamily="34" charset="0"/>
            </a:endParaRPr>
          </a:p>
        </p:txBody>
      </p:sp>
      <p:sp>
        <p:nvSpPr>
          <p:cNvPr id="4" name="Text Placeholder 3">
            <a:extLst>
              <a:ext uri="{FF2B5EF4-FFF2-40B4-BE49-F238E27FC236}">
                <a16:creationId xmlns:a16="http://schemas.microsoft.com/office/drawing/2014/main" id="{C86737C8-4322-77C9-4E34-94E5EE136DBC}"/>
              </a:ext>
            </a:extLst>
          </p:cNvPr>
          <p:cNvSpPr>
            <a:spLocks noGrp="1"/>
          </p:cNvSpPr>
          <p:nvPr>
            <p:ph type="body" sz="quarter" idx="15"/>
          </p:nvPr>
        </p:nvSpPr>
        <p:spPr>
          <a:xfrm>
            <a:off x="329394" y="3093909"/>
            <a:ext cx="5895397" cy="3636302"/>
          </a:xfrm>
        </p:spPr>
        <p:txBody>
          <a:bodyPr/>
          <a:lstStyle/>
          <a:p>
            <a:r>
              <a:rPr lang="en-US" sz="1800" u="sng" dirty="0">
                <a:latin typeface="Tahoma" panose="020B0604030504040204" pitchFamily="34" charset="0"/>
                <a:ea typeface="Tahoma" panose="020B0604030504040204" pitchFamily="34" charset="0"/>
                <a:cs typeface="Tahoma" panose="020B0604030504040204" pitchFamily="34" charset="0"/>
              </a:rPr>
              <a:t>Tickets Sheet</a:t>
            </a:r>
            <a:r>
              <a:rPr lang="en-US" sz="1800" dirty="0">
                <a:latin typeface="Tahoma" panose="020B0604030504040204" pitchFamily="34" charset="0"/>
                <a:ea typeface="Tahoma" panose="020B0604030504040204" pitchFamily="34" charset="0"/>
                <a:cs typeface="Tahoma" panose="020B0604030504040204" pitchFamily="34" charset="0"/>
              </a:rPr>
              <a:t>: Contains information about IT support tickets.</a:t>
            </a:r>
          </a:p>
          <a:p>
            <a:r>
              <a:rPr lang="en-US" sz="1800" u="sng" dirty="0">
                <a:latin typeface="Tahoma" panose="020B0604030504040204" pitchFamily="34" charset="0"/>
                <a:ea typeface="Tahoma" panose="020B0604030504040204" pitchFamily="34" charset="0"/>
                <a:cs typeface="Tahoma" panose="020B0604030504040204" pitchFamily="34" charset="0"/>
              </a:rPr>
              <a:t>ID</a:t>
            </a:r>
            <a:r>
              <a:rPr lang="en-US" sz="1800" dirty="0">
                <a:latin typeface="Tahoma" panose="020B0604030504040204" pitchFamily="34" charset="0"/>
                <a:ea typeface="Tahoma" panose="020B0604030504040204" pitchFamily="34" charset="0"/>
                <a:cs typeface="Tahoma" panose="020B0604030504040204" pitchFamily="34" charset="0"/>
              </a:rPr>
              <a:t>: Unique identifier for the ticket.</a:t>
            </a:r>
          </a:p>
          <a:p>
            <a:r>
              <a:rPr lang="en-US" sz="1800" u="sng" dirty="0">
                <a:latin typeface="Tahoma" panose="020B0604030504040204" pitchFamily="34" charset="0"/>
                <a:ea typeface="Tahoma" panose="020B0604030504040204" pitchFamily="34" charset="0"/>
                <a:cs typeface="Tahoma" panose="020B0604030504040204" pitchFamily="34" charset="0"/>
              </a:rPr>
              <a:t>Ticket Fecha</a:t>
            </a:r>
            <a:r>
              <a:rPr lang="en-US" sz="1800" dirty="0">
                <a:latin typeface="Tahoma" panose="020B0604030504040204" pitchFamily="34" charset="0"/>
                <a:ea typeface="Tahoma" panose="020B0604030504040204" pitchFamily="34" charset="0"/>
                <a:cs typeface="Tahoma" panose="020B0604030504040204" pitchFamily="34" charset="0"/>
              </a:rPr>
              <a:t>: Date of the ticket.</a:t>
            </a:r>
          </a:p>
          <a:p>
            <a:r>
              <a:rPr lang="en-US" sz="1800" u="sng" dirty="0">
                <a:latin typeface="Tahoma" panose="020B0604030504040204" pitchFamily="34" charset="0"/>
                <a:ea typeface="Tahoma" panose="020B0604030504040204" pitchFamily="34" charset="0"/>
                <a:cs typeface="Tahoma" panose="020B0604030504040204" pitchFamily="34" charset="0"/>
              </a:rPr>
              <a:t>Employee ID</a:t>
            </a:r>
            <a:r>
              <a:rPr lang="en-US" sz="1800" dirty="0">
                <a:latin typeface="Tahoma" panose="020B0604030504040204" pitchFamily="34" charset="0"/>
                <a:ea typeface="Tahoma" panose="020B0604030504040204" pitchFamily="34" charset="0"/>
                <a:cs typeface="Tahoma" panose="020B0604030504040204" pitchFamily="34" charset="0"/>
              </a:rPr>
              <a:t>: ID of the employee who raised the ticket.</a:t>
            </a:r>
          </a:p>
          <a:p>
            <a:r>
              <a:rPr lang="en-US" sz="1800" u="sng" dirty="0">
                <a:latin typeface="Tahoma" panose="020B0604030504040204" pitchFamily="34" charset="0"/>
                <a:ea typeface="Tahoma" panose="020B0604030504040204" pitchFamily="34" charset="0"/>
                <a:cs typeface="Tahoma" panose="020B0604030504040204" pitchFamily="34" charset="0"/>
              </a:rPr>
              <a:t>Agent ID</a:t>
            </a:r>
            <a:r>
              <a:rPr lang="en-US" sz="1800" dirty="0">
                <a:latin typeface="Tahoma" panose="020B0604030504040204" pitchFamily="34" charset="0"/>
                <a:ea typeface="Tahoma" panose="020B0604030504040204" pitchFamily="34" charset="0"/>
                <a:cs typeface="Tahoma" panose="020B0604030504040204" pitchFamily="34" charset="0"/>
              </a:rPr>
              <a:t>: ID of the agent assigned to the ticket.</a:t>
            </a:r>
          </a:p>
          <a:p>
            <a:r>
              <a:rPr lang="en-US" sz="1800" u="sng" dirty="0">
                <a:latin typeface="Tahoma" panose="020B0604030504040204" pitchFamily="34" charset="0"/>
                <a:ea typeface="Tahoma" panose="020B0604030504040204" pitchFamily="34" charset="0"/>
                <a:cs typeface="Tahoma" panose="020B0604030504040204" pitchFamily="34" charset="0"/>
              </a:rPr>
              <a:t>Request Category</a:t>
            </a:r>
            <a:r>
              <a:rPr lang="en-US" sz="1800" dirty="0">
                <a:latin typeface="Tahoma" panose="020B0604030504040204" pitchFamily="34" charset="0"/>
                <a:ea typeface="Tahoma" panose="020B0604030504040204" pitchFamily="34" charset="0"/>
                <a:cs typeface="Tahoma" panose="020B0604030504040204" pitchFamily="34" charset="0"/>
              </a:rPr>
              <a:t>: Category of the request (e.g., Login Access, System, Software).</a:t>
            </a:r>
            <a:endParaRPr lang="en-US" sz="1800" u="sng" dirty="0">
              <a:latin typeface="Tahoma" panose="020B0604030504040204" pitchFamily="34" charset="0"/>
              <a:ea typeface="Tahoma" panose="020B0604030504040204" pitchFamily="34" charset="0"/>
              <a:cs typeface="Tahoma" panose="020B0604030504040204" pitchFamily="34" charset="0"/>
            </a:endParaRPr>
          </a:p>
          <a:p>
            <a:endParaRPr lang="en-US" sz="1800" dirty="0">
              <a:latin typeface="Tahoma" panose="020B0604030504040204" pitchFamily="34" charset="0"/>
              <a:ea typeface="Tahoma" panose="020B0604030504040204" pitchFamily="34" charset="0"/>
              <a:cs typeface="Tahoma" panose="020B0604030504040204" pitchFamily="34" charset="0"/>
            </a:endParaRPr>
          </a:p>
        </p:txBody>
      </p:sp>
      <p:sp>
        <p:nvSpPr>
          <p:cNvPr id="5" name="Text Placeholder 4">
            <a:extLst>
              <a:ext uri="{FF2B5EF4-FFF2-40B4-BE49-F238E27FC236}">
                <a16:creationId xmlns:a16="http://schemas.microsoft.com/office/drawing/2014/main" id="{EEAACD48-B184-C932-E41F-216DF4C1A5BF}"/>
              </a:ext>
            </a:extLst>
          </p:cNvPr>
          <p:cNvSpPr>
            <a:spLocks noGrp="1"/>
          </p:cNvSpPr>
          <p:nvPr>
            <p:ph type="body" sz="quarter" idx="16"/>
          </p:nvPr>
        </p:nvSpPr>
        <p:spPr>
          <a:xfrm>
            <a:off x="6224791" y="3093909"/>
            <a:ext cx="5486343" cy="3545430"/>
          </a:xfrm>
        </p:spPr>
        <p:txBody>
          <a:bodyPr/>
          <a:lstStyle/>
          <a:p>
            <a:r>
              <a:rPr lang="en-US" sz="1800" u="sng" dirty="0">
                <a:latin typeface="Tahoma" panose="020B0604030504040204" pitchFamily="34" charset="0"/>
                <a:ea typeface="Tahoma" panose="020B0604030504040204" pitchFamily="34" charset="0"/>
                <a:cs typeface="Tahoma" panose="020B0604030504040204" pitchFamily="34" charset="0"/>
              </a:rPr>
              <a:t>Issue Type</a:t>
            </a:r>
            <a:r>
              <a:rPr lang="en-US" sz="1800" dirty="0">
                <a:latin typeface="Tahoma" panose="020B0604030504040204" pitchFamily="34" charset="0"/>
                <a:ea typeface="Tahoma" panose="020B0604030504040204" pitchFamily="34" charset="0"/>
                <a:cs typeface="Tahoma" panose="020B0604030504040204" pitchFamily="34" charset="0"/>
              </a:rPr>
              <a:t>: Type of issue (e.g., IT Error, IT Request).</a:t>
            </a:r>
          </a:p>
          <a:p>
            <a:r>
              <a:rPr lang="en-US" sz="1800" u="sng" dirty="0">
                <a:latin typeface="Tahoma" panose="020B0604030504040204" pitchFamily="34" charset="0"/>
                <a:ea typeface="Tahoma" panose="020B0604030504040204" pitchFamily="34" charset="0"/>
                <a:cs typeface="Tahoma" panose="020B0604030504040204" pitchFamily="34" charset="0"/>
              </a:rPr>
              <a:t>Severity</a:t>
            </a:r>
            <a:r>
              <a:rPr lang="en-US" sz="1800" dirty="0">
                <a:latin typeface="Tahoma" panose="020B0604030504040204" pitchFamily="34" charset="0"/>
                <a:ea typeface="Tahoma" panose="020B0604030504040204" pitchFamily="34" charset="0"/>
                <a:cs typeface="Tahoma" panose="020B0604030504040204" pitchFamily="34" charset="0"/>
              </a:rPr>
              <a:t>: Severity of the issue.</a:t>
            </a:r>
          </a:p>
          <a:p>
            <a:r>
              <a:rPr lang="en-US" sz="1800" u="sng" dirty="0">
                <a:latin typeface="Tahoma" panose="020B0604030504040204" pitchFamily="34" charset="0"/>
                <a:ea typeface="Tahoma" panose="020B0604030504040204" pitchFamily="34" charset="0"/>
                <a:cs typeface="Tahoma" panose="020B0604030504040204" pitchFamily="34" charset="0"/>
              </a:rPr>
              <a:t>Priority</a:t>
            </a:r>
            <a:r>
              <a:rPr lang="en-US" sz="1800" dirty="0">
                <a:latin typeface="Tahoma" panose="020B0604030504040204" pitchFamily="34" charset="0"/>
                <a:ea typeface="Tahoma" panose="020B0604030504040204" pitchFamily="34" charset="0"/>
                <a:cs typeface="Tahoma" panose="020B0604030504040204" pitchFamily="34" charset="0"/>
              </a:rPr>
              <a:t>: Priority level of the issue</a:t>
            </a:r>
          </a:p>
          <a:p>
            <a:r>
              <a:rPr lang="en-US" sz="1800" u="sng" dirty="0">
                <a:latin typeface="Tahoma" panose="020B0604030504040204" pitchFamily="34" charset="0"/>
                <a:ea typeface="Tahoma" panose="020B0604030504040204" pitchFamily="34" charset="0"/>
                <a:cs typeface="Tahoma" panose="020B0604030504040204" pitchFamily="34" charset="0"/>
              </a:rPr>
              <a:t>Resolution Time (Days)</a:t>
            </a:r>
            <a:r>
              <a:rPr lang="en-US" sz="1800" dirty="0">
                <a:latin typeface="Tahoma" panose="020B0604030504040204" pitchFamily="34" charset="0"/>
                <a:ea typeface="Tahoma" panose="020B0604030504040204" pitchFamily="34" charset="0"/>
                <a:cs typeface="Tahoma" panose="020B0604030504040204" pitchFamily="34" charset="0"/>
              </a:rPr>
              <a:t>: Time taken to resolve the ticket.</a:t>
            </a:r>
          </a:p>
          <a:p>
            <a:r>
              <a:rPr lang="en-US" sz="1800" u="sng" dirty="0">
                <a:latin typeface="Tahoma" panose="020B0604030504040204" pitchFamily="34" charset="0"/>
                <a:ea typeface="Tahoma" panose="020B0604030504040204" pitchFamily="34" charset="0"/>
                <a:cs typeface="Tahoma" panose="020B0604030504040204" pitchFamily="34" charset="0"/>
              </a:rPr>
              <a:t>Satisfaction Rate</a:t>
            </a:r>
            <a:r>
              <a:rPr lang="en-US" sz="1800" dirty="0">
                <a:latin typeface="Tahoma" panose="020B0604030504040204" pitchFamily="34" charset="0"/>
                <a:ea typeface="Tahoma" panose="020B0604030504040204" pitchFamily="34" charset="0"/>
                <a:cs typeface="Tahoma" panose="020B0604030504040204" pitchFamily="34" charset="0"/>
              </a:rPr>
              <a:t>: Satisfaction rate provided by the employee (1-5 scale).</a:t>
            </a:r>
          </a:p>
          <a:p>
            <a:endParaRPr lang="en-US" sz="1800" i="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01526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1F8AA-3312-8C65-2129-A849ED7247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7316C-97E5-51EF-F481-B8D9E915231A}"/>
              </a:ext>
            </a:extLst>
          </p:cNvPr>
          <p:cNvSpPr>
            <a:spLocks noGrp="1"/>
          </p:cNvSpPr>
          <p:nvPr>
            <p:ph type="title"/>
          </p:nvPr>
        </p:nvSpPr>
        <p:spPr>
          <a:xfrm>
            <a:off x="501273" y="383935"/>
            <a:ext cx="10515600" cy="575321"/>
          </a:xfrm>
        </p:spPr>
        <p:txBody>
          <a:bodyPr/>
          <a:lstStyle/>
          <a:p>
            <a:r>
              <a:rPr lang="en-US" dirty="0">
                <a:latin typeface="Berlin Sans FB" panose="020E0602020502020306" pitchFamily="34" charset="0"/>
                <a:ea typeface="Tahoma" panose="020B0604030504040204" pitchFamily="34" charset="0"/>
                <a:cs typeface="Tahoma" panose="020B0604030504040204" pitchFamily="34" charset="0"/>
              </a:rPr>
              <a:t>Attributes of data</a:t>
            </a:r>
            <a:br>
              <a:rPr lang="en-US" dirty="0">
                <a:latin typeface="Berlin Sans FB" panose="020E0602020502020306" pitchFamily="34" charset="0"/>
                <a:ea typeface="Tahoma" panose="020B0604030504040204" pitchFamily="34" charset="0"/>
                <a:cs typeface="Tahoma" panose="020B0604030504040204" pitchFamily="34" charset="0"/>
              </a:rPr>
            </a:br>
            <a:r>
              <a:rPr lang="en-US" dirty="0">
                <a:latin typeface="Berlin Sans FB" panose="020E0602020502020306" pitchFamily="34" charset="0"/>
                <a:ea typeface="Tahoma" panose="020B0604030504040204" pitchFamily="34" charset="0"/>
                <a:cs typeface="Tahoma" panose="020B0604030504040204" pitchFamily="34" charset="0"/>
              </a:rPr>
              <a:t>it agents </a:t>
            </a:r>
            <a:br>
              <a:rPr lang="en-US" dirty="0">
                <a:latin typeface="Berlin Sans FB" panose="020E0602020502020306" pitchFamily="34" charset="0"/>
                <a:ea typeface="Tahoma" panose="020B0604030504040204" pitchFamily="34" charset="0"/>
                <a:cs typeface="Tahoma" panose="020B0604030504040204" pitchFamily="34" charset="0"/>
              </a:rPr>
            </a:br>
            <a:endParaRPr lang="en-US" dirty="0">
              <a:latin typeface="Berlin Sans FB" panose="020E0602020502020306" pitchFamily="34" charset="0"/>
              <a:ea typeface="Tahoma" panose="020B0604030504040204" pitchFamily="34" charset="0"/>
              <a:cs typeface="Tahoma" panose="020B0604030504040204" pitchFamily="34" charset="0"/>
            </a:endParaRPr>
          </a:p>
        </p:txBody>
      </p:sp>
      <p:sp>
        <p:nvSpPr>
          <p:cNvPr id="4" name="Text Placeholder 3">
            <a:extLst>
              <a:ext uri="{FF2B5EF4-FFF2-40B4-BE49-F238E27FC236}">
                <a16:creationId xmlns:a16="http://schemas.microsoft.com/office/drawing/2014/main" id="{21D0AEF5-BA35-934A-7444-2F2B373313F5}"/>
              </a:ext>
            </a:extLst>
          </p:cNvPr>
          <p:cNvSpPr>
            <a:spLocks noGrp="1"/>
          </p:cNvSpPr>
          <p:nvPr>
            <p:ph type="body" sz="quarter" idx="15"/>
          </p:nvPr>
        </p:nvSpPr>
        <p:spPr>
          <a:xfrm>
            <a:off x="603503" y="3429000"/>
            <a:ext cx="6933197" cy="3085390"/>
          </a:xfrm>
        </p:spPr>
        <p:txBody>
          <a:bodyPr/>
          <a:lstStyle/>
          <a:p>
            <a:pPr marL="457200" lvl="0" indent="-311150" algn="l" rtl="0">
              <a:lnSpc>
                <a:spcPct val="100000"/>
              </a:lnSpc>
              <a:spcBef>
                <a:spcPts val="1000"/>
              </a:spcBef>
              <a:spcAft>
                <a:spcPts val="0"/>
              </a:spcAft>
              <a:buClr>
                <a:schemeClr val="dk1"/>
              </a:buClr>
              <a:buSzPts val="1300"/>
              <a:buFont typeface="Wingdings" panose="05000000000000000000" pitchFamily="2" charset="2"/>
              <a:buChar char="§"/>
            </a:pPr>
            <a:r>
              <a:rPr lang="en-US" sz="1800" u="sng" dirty="0">
                <a:latin typeface="Tahoma" panose="020B0604030504040204" pitchFamily="34" charset="0"/>
                <a:ea typeface="Tahoma" panose="020B0604030504040204" pitchFamily="34" charset="0"/>
                <a:cs typeface="Tahoma" panose="020B0604030504040204" pitchFamily="34" charset="0"/>
                <a:sym typeface="Lato"/>
              </a:rPr>
              <a:t>IT Agents</a:t>
            </a:r>
            <a:r>
              <a:rPr lang="en-US" sz="1800" dirty="0">
                <a:latin typeface="Tahoma" panose="020B0604030504040204" pitchFamily="34" charset="0"/>
                <a:ea typeface="Tahoma" panose="020B0604030504040204" pitchFamily="34" charset="0"/>
                <a:cs typeface="Tahoma" panose="020B0604030504040204" pitchFamily="34" charset="0"/>
                <a:sym typeface="Lato"/>
              </a:rPr>
              <a:t>: Contains information about IT agents.</a:t>
            </a:r>
          </a:p>
          <a:p>
            <a:pPr marL="457200" lvl="0" indent="-311150" algn="l" rtl="0">
              <a:lnSpc>
                <a:spcPct val="100000"/>
              </a:lnSpc>
              <a:spcBef>
                <a:spcPts val="1000"/>
              </a:spcBef>
              <a:spcAft>
                <a:spcPts val="0"/>
              </a:spcAft>
              <a:buClr>
                <a:schemeClr val="dk1"/>
              </a:buClr>
              <a:buSzPts val="1300"/>
              <a:buFont typeface="Wingdings" panose="05000000000000000000" pitchFamily="2" charset="2"/>
              <a:buChar char="§"/>
            </a:pPr>
            <a:r>
              <a:rPr lang="en-US" sz="1800" u="sng" dirty="0">
                <a:latin typeface="Tahoma" panose="020B0604030504040204" pitchFamily="34" charset="0"/>
                <a:ea typeface="Tahoma" panose="020B0604030504040204" pitchFamily="34" charset="0"/>
                <a:cs typeface="Tahoma" panose="020B0604030504040204" pitchFamily="34" charset="0"/>
                <a:sym typeface="Lato"/>
              </a:rPr>
              <a:t>Agent ID</a:t>
            </a:r>
            <a:r>
              <a:rPr lang="en-US" sz="1800" dirty="0">
                <a:latin typeface="Tahoma" panose="020B0604030504040204" pitchFamily="34" charset="0"/>
                <a:ea typeface="Tahoma" panose="020B0604030504040204" pitchFamily="34" charset="0"/>
                <a:cs typeface="Tahoma" panose="020B0604030504040204" pitchFamily="34" charset="0"/>
                <a:sym typeface="Lato"/>
              </a:rPr>
              <a:t>: Unique identifier for the agent.</a:t>
            </a:r>
          </a:p>
          <a:p>
            <a:pPr marL="457200" lvl="0" indent="-311150" algn="l" rtl="0">
              <a:lnSpc>
                <a:spcPct val="100000"/>
              </a:lnSpc>
              <a:spcBef>
                <a:spcPts val="1000"/>
              </a:spcBef>
              <a:spcAft>
                <a:spcPts val="0"/>
              </a:spcAft>
              <a:buClr>
                <a:schemeClr val="dk1"/>
              </a:buClr>
              <a:buSzPts val="1300"/>
              <a:buFont typeface="Wingdings" panose="05000000000000000000" pitchFamily="2" charset="2"/>
              <a:buChar char="§"/>
            </a:pPr>
            <a:r>
              <a:rPr lang="en-US" sz="1800" u="sng" dirty="0">
                <a:latin typeface="Tahoma" panose="020B0604030504040204" pitchFamily="34" charset="0"/>
                <a:ea typeface="Tahoma" panose="020B0604030504040204" pitchFamily="34" charset="0"/>
                <a:cs typeface="Tahoma" panose="020B0604030504040204" pitchFamily="34" charset="0"/>
                <a:sym typeface="Lato"/>
              </a:rPr>
              <a:t>Full Name</a:t>
            </a:r>
            <a:r>
              <a:rPr lang="en-US" sz="1800" dirty="0">
                <a:latin typeface="Tahoma" panose="020B0604030504040204" pitchFamily="34" charset="0"/>
                <a:ea typeface="Tahoma" panose="020B0604030504040204" pitchFamily="34" charset="0"/>
                <a:cs typeface="Tahoma" panose="020B0604030504040204" pitchFamily="34" charset="0"/>
                <a:sym typeface="Lato"/>
              </a:rPr>
              <a:t>: Full name of the agent.</a:t>
            </a:r>
          </a:p>
          <a:p>
            <a:pPr marL="457200" lvl="0" indent="-311150" algn="l" rtl="0">
              <a:lnSpc>
                <a:spcPct val="100000"/>
              </a:lnSpc>
              <a:spcBef>
                <a:spcPts val="1000"/>
              </a:spcBef>
              <a:spcAft>
                <a:spcPts val="0"/>
              </a:spcAft>
              <a:buClr>
                <a:schemeClr val="dk1"/>
              </a:buClr>
              <a:buSzPts val="1300"/>
              <a:buFont typeface="Wingdings" panose="05000000000000000000" pitchFamily="2" charset="2"/>
              <a:buChar char="§"/>
            </a:pPr>
            <a:r>
              <a:rPr lang="en-US" sz="1800" u="sng" dirty="0">
                <a:latin typeface="Tahoma" panose="020B0604030504040204" pitchFamily="34" charset="0"/>
                <a:ea typeface="Tahoma" panose="020B0604030504040204" pitchFamily="34" charset="0"/>
                <a:cs typeface="Tahoma" panose="020B0604030504040204" pitchFamily="34" charset="0"/>
                <a:sym typeface="Lato"/>
              </a:rPr>
              <a:t>Email</a:t>
            </a:r>
            <a:r>
              <a:rPr lang="en-US" sz="1800" dirty="0">
                <a:latin typeface="Tahoma" panose="020B0604030504040204" pitchFamily="34" charset="0"/>
                <a:ea typeface="Tahoma" panose="020B0604030504040204" pitchFamily="34" charset="0"/>
                <a:cs typeface="Tahoma" panose="020B0604030504040204" pitchFamily="34" charset="0"/>
                <a:sym typeface="Lato"/>
              </a:rPr>
              <a:t>: Email address of the agent.</a:t>
            </a:r>
          </a:p>
          <a:p>
            <a:pPr marL="457200" lvl="0" indent="-311150" algn="l" rtl="0">
              <a:lnSpc>
                <a:spcPct val="100000"/>
              </a:lnSpc>
              <a:spcBef>
                <a:spcPts val="1000"/>
              </a:spcBef>
              <a:spcAft>
                <a:spcPts val="0"/>
              </a:spcAft>
              <a:buClr>
                <a:schemeClr val="dk1"/>
              </a:buClr>
              <a:buSzPts val="1300"/>
              <a:buFont typeface="Wingdings" panose="05000000000000000000" pitchFamily="2" charset="2"/>
              <a:buChar char="§"/>
            </a:pPr>
            <a:r>
              <a:rPr lang="en-US" sz="1800" u="sng" dirty="0">
                <a:latin typeface="Tahoma" panose="020B0604030504040204" pitchFamily="34" charset="0"/>
                <a:ea typeface="Tahoma" panose="020B0604030504040204" pitchFamily="34" charset="0"/>
                <a:cs typeface="Tahoma" panose="020B0604030504040204" pitchFamily="34" charset="0"/>
                <a:sym typeface="Lato"/>
              </a:rPr>
              <a:t>Year of Birth</a:t>
            </a:r>
            <a:r>
              <a:rPr lang="en-US" sz="1800" dirty="0">
                <a:latin typeface="Tahoma" panose="020B0604030504040204" pitchFamily="34" charset="0"/>
                <a:ea typeface="Tahoma" panose="020B0604030504040204" pitchFamily="34" charset="0"/>
                <a:cs typeface="Tahoma" panose="020B0604030504040204" pitchFamily="34" charset="0"/>
                <a:sym typeface="Lato"/>
              </a:rPr>
              <a:t>: Year the agent was born.</a:t>
            </a:r>
          </a:p>
          <a:p>
            <a:pPr marL="457200" lvl="0" indent="-311150" algn="l" rtl="0">
              <a:lnSpc>
                <a:spcPct val="100000"/>
              </a:lnSpc>
              <a:spcBef>
                <a:spcPts val="1000"/>
              </a:spcBef>
              <a:spcAft>
                <a:spcPts val="0"/>
              </a:spcAft>
              <a:buClr>
                <a:schemeClr val="dk1"/>
              </a:buClr>
              <a:buSzPts val="1300"/>
              <a:buFont typeface="Wingdings" panose="05000000000000000000" pitchFamily="2" charset="2"/>
              <a:buChar char="§"/>
            </a:pPr>
            <a:r>
              <a:rPr lang="en-US" sz="1800" u="sng" dirty="0">
                <a:latin typeface="Tahoma" panose="020B0604030504040204" pitchFamily="34" charset="0"/>
                <a:ea typeface="Tahoma" panose="020B0604030504040204" pitchFamily="34" charset="0"/>
                <a:cs typeface="Tahoma" panose="020B0604030504040204" pitchFamily="34" charset="0"/>
                <a:sym typeface="Lato"/>
              </a:rPr>
              <a:t>Month of Birth</a:t>
            </a:r>
            <a:r>
              <a:rPr lang="en-US" sz="1800" dirty="0">
                <a:latin typeface="Tahoma" panose="020B0604030504040204" pitchFamily="34" charset="0"/>
                <a:ea typeface="Tahoma" panose="020B0604030504040204" pitchFamily="34" charset="0"/>
                <a:cs typeface="Tahoma" panose="020B0604030504040204" pitchFamily="34" charset="0"/>
                <a:sym typeface="Lato"/>
              </a:rPr>
              <a:t>: Month the agent was born.</a:t>
            </a:r>
          </a:p>
          <a:p>
            <a:pPr marL="457200" lvl="0" indent="-311150" algn="l" rtl="0">
              <a:lnSpc>
                <a:spcPct val="100000"/>
              </a:lnSpc>
              <a:spcBef>
                <a:spcPts val="1000"/>
              </a:spcBef>
              <a:spcAft>
                <a:spcPts val="0"/>
              </a:spcAft>
              <a:buClr>
                <a:schemeClr val="dk1"/>
              </a:buClr>
              <a:buSzPts val="1300"/>
              <a:buFont typeface="Wingdings" panose="05000000000000000000" pitchFamily="2" charset="2"/>
              <a:buChar char="§"/>
            </a:pPr>
            <a:r>
              <a:rPr lang="en-US" sz="1800" u="sng" dirty="0">
                <a:latin typeface="Tahoma" panose="020B0604030504040204" pitchFamily="34" charset="0"/>
                <a:ea typeface="Tahoma" panose="020B0604030504040204" pitchFamily="34" charset="0"/>
                <a:cs typeface="Tahoma" panose="020B0604030504040204" pitchFamily="34" charset="0"/>
                <a:sym typeface="Lato"/>
              </a:rPr>
              <a:t>Day of Birth</a:t>
            </a:r>
            <a:r>
              <a:rPr lang="en-US" sz="1800" dirty="0">
                <a:latin typeface="Tahoma" panose="020B0604030504040204" pitchFamily="34" charset="0"/>
                <a:ea typeface="Tahoma" panose="020B0604030504040204" pitchFamily="34" charset="0"/>
                <a:cs typeface="Tahoma" panose="020B0604030504040204" pitchFamily="34" charset="0"/>
                <a:sym typeface="Lato"/>
              </a:rPr>
              <a:t>: Day the agent was born.</a:t>
            </a:r>
          </a:p>
          <a:p>
            <a:pPr marL="457200" lvl="0" indent="-311150" algn="l" rtl="0">
              <a:lnSpc>
                <a:spcPct val="100000"/>
              </a:lnSpc>
              <a:spcBef>
                <a:spcPts val="1000"/>
              </a:spcBef>
              <a:spcAft>
                <a:spcPts val="0"/>
              </a:spcAft>
              <a:buClr>
                <a:schemeClr val="dk1"/>
              </a:buClr>
              <a:buSzPts val="1300"/>
              <a:buFont typeface="Lato"/>
              <a:buChar char="➢"/>
            </a:pPr>
            <a:endParaRPr lang="en-US" sz="1800" dirty="0">
              <a:solidFill>
                <a:schemeClr val="dk1"/>
              </a:solidFill>
              <a:latin typeface="Tahoma" panose="020B0604030504040204" pitchFamily="34" charset="0"/>
              <a:ea typeface="Tahoma" panose="020B0604030504040204" pitchFamily="34" charset="0"/>
              <a:cs typeface="Tahoma" panose="020B0604030504040204" pitchFamily="34" charset="0"/>
              <a:sym typeface="Lato"/>
            </a:endParaRPr>
          </a:p>
        </p:txBody>
      </p:sp>
    </p:spTree>
    <p:extLst>
      <p:ext uri="{BB962C8B-B14F-4D97-AF65-F5344CB8AC3E}">
        <p14:creationId xmlns:p14="http://schemas.microsoft.com/office/powerpoint/2010/main" val="1313530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45C07-ECA5-8950-C4F8-65244EB32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9007F-C171-B9A3-E150-CC06652ED17C}"/>
              </a:ext>
            </a:extLst>
          </p:cNvPr>
          <p:cNvSpPr>
            <a:spLocks noGrp="1"/>
          </p:cNvSpPr>
          <p:nvPr>
            <p:ph type="title"/>
          </p:nvPr>
        </p:nvSpPr>
        <p:spPr/>
        <p:txBody>
          <a:bodyPr/>
          <a:lstStyle/>
          <a:p>
            <a:r>
              <a:rPr lang="en-IN" sz="2900" dirty="0">
                <a:solidFill>
                  <a:schemeClr val="accent6">
                    <a:lumMod val="50000"/>
                  </a:schemeClr>
                </a:solidFill>
              </a:rPr>
              <a:t> </a:t>
            </a:r>
            <a:endParaRPr lang="en-US" sz="2900" dirty="0">
              <a:solidFill>
                <a:schemeClr val="accent6">
                  <a:lumMod val="50000"/>
                </a:schemeClr>
              </a:solidFill>
            </a:endParaRPr>
          </a:p>
        </p:txBody>
      </p:sp>
      <p:sp>
        <p:nvSpPr>
          <p:cNvPr id="3" name="Text Placeholder 2">
            <a:extLst>
              <a:ext uri="{FF2B5EF4-FFF2-40B4-BE49-F238E27FC236}">
                <a16:creationId xmlns:a16="http://schemas.microsoft.com/office/drawing/2014/main" id="{0AE2285D-CEB3-FF1B-D89A-67EB3D417C96}"/>
              </a:ext>
            </a:extLst>
          </p:cNvPr>
          <p:cNvSpPr>
            <a:spLocks noGrp="1"/>
          </p:cNvSpPr>
          <p:nvPr>
            <p:ph type="body" sz="quarter" idx="13"/>
          </p:nvPr>
        </p:nvSpPr>
        <p:spPr>
          <a:xfrm>
            <a:off x="-5080" y="3063796"/>
            <a:ext cx="4828032" cy="490538"/>
          </a:xfrm>
        </p:spPr>
        <p:txBody>
          <a:bodyPr/>
          <a:lstStyle/>
          <a:p>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Recommendations</a:t>
            </a:r>
          </a:p>
        </p:txBody>
      </p:sp>
      <p:sp>
        <p:nvSpPr>
          <p:cNvPr id="5" name="Text Placeholder 4">
            <a:extLst>
              <a:ext uri="{FF2B5EF4-FFF2-40B4-BE49-F238E27FC236}">
                <a16:creationId xmlns:a16="http://schemas.microsoft.com/office/drawing/2014/main" id="{C7AD98CB-3D90-3B5C-3A1C-32AB4595FD70}"/>
              </a:ext>
            </a:extLst>
          </p:cNvPr>
          <p:cNvSpPr>
            <a:spLocks noGrp="1"/>
          </p:cNvSpPr>
          <p:nvPr>
            <p:ph type="body" sz="quarter" idx="15"/>
          </p:nvPr>
        </p:nvSpPr>
        <p:spPr>
          <a:xfrm>
            <a:off x="-5081" y="3429000"/>
            <a:ext cx="4202233" cy="1682750"/>
          </a:xfrm>
        </p:spPr>
        <p:txBody>
          <a:bodyPr/>
          <a:lstStyle/>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Implement AI tools to intelligently route tickets to the most qualified agents based on expertise and availability, ensuring quicker resolution and higher quality service.  </a:t>
            </a:r>
          </a:p>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AI can also prioritize tickets, helping to address </a:t>
            </a:r>
            <a:r>
              <a:rPr lang="en-US" sz="1800" dirty="0">
                <a:latin typeface="Tahoma" panose="020B0604030504040204" pitchFamily="34" charset="0"/>
                <a:ea typeface="Tahoma" panose="020B0604030504040204" pitchFamily="34" charset="0"/>
                <a:cs typeface="Tahoma" panose="020B0604030504040204" pitchFamily="34" charset="0"/>
              </a:rPr>
              <a:t>critical issues faster and more efficiently</a:t>
            </a:r>
          </a:p>
        </p:txBody>
      </p:sp>
      <p:sp>
        <p:nvSpPr>
          <p:cNvPr id="9" name="Text Placeholder 8">
            <a:extLst>
              <a:ext uri="{FF2B5EF4-FFF2-40B4-BE49-F238E27FC236}">
                <a16:creationId xmlns:a16="http://schemas.microsoft.com/office/drawing/2014/main" id="{390F262A-33AB-44B2-EC48-3DC793EF2889}"/>
              </a:ext>
            </a:extLst>
          </p:cNvPr>
          <p:cNvSpPr>
            <a:spLocks noGrp="1"/>
          </p:cNvSpPr>
          <p:nvPr>
            <p:ph type="body" sz="quarter" idx="16"/>
          </p:nvPr>
        </p:nvSpPr>
        <p:spPr/>
        <p:txBody>
          <a:bodyPr/>
          <a:lstStyle/>
          <a:p>
            <a:endParaRPr lang="en-US"/>
          </a:p>
        </p:txBody>
      </p:sp>
      <p:sp>
        <p:nvSpPr>
          <p:cNvPr id="6" name="Title 1">
            <a:extLst>
              <a:ext uri="{FF2B5EF4-FFF2-40B4-BE49-F238E27FC236}">
                <a16:creationId xmlns:a16="http://schemas.microsoft.com/office/drawing/2014/main" id="{9195B18C-2204-6AD0-0B9D-D12A79939829}"/>
              </a:ext>
            </a:extLst>
          </p:cNvPr>
          <p:cNvSpPr txBox="1">
            <a:spLocks/>
          </p:cNvSpPr>
          <p:nvPr/>
        </p:nvSpPr>
        <p:spPr>
          <a:xfrm>
            <a:off x="193102" y="154802"/>
            <a:ext cx="9013373" cy="704088"/>
          </a:xfrm>
          <a:prstGeom prst="rect">
            <a:avLst/>
          </a:prstGeom>
        </p:spPr>
        <p:txBody>
          <a:bodyPr vert="horz" lIns="91440" tIns="45720" rIns="91440" bIns="45720" rtlCol="0" anchor="t">
            <a:noAutofit/>
          </a:bodyPr>
          <a:lstStyle>
            <a:lvl1pPr algn="l" defTabSz="914400" rtl="0" eaLnBrk="1" latinLnBrk="0" hangingPunct="1">
              <a:lnSpc>
                <a:spcPct val="80000"/>
              </a:lnSpc>
              <a:spcBef>
                <a:spcPct val="0"/>
              </a:spcBef>
              <a:buNone/>
              <a:defRPr sz="5000" kern="1200" cap="all" baseline="0">
                <a:solidFill>
                  <a:schemeClr val="accent4"/>
                </a:solidFill>
                <a:latin typeface="+mj-lt"/>
                <a:ea typeface="+mj-ea"/>
                <a:cs typeface="+mj-cs"/>
              </a:defRPr>
            </a:lvl1pPr>
          </a:lstStyle>
          <a:p>
            <a:pPr algn="ctr"/>
            <a:r>
              <a:rPr lang="en-US" dirty="0">
                <a:solidFill>
                  <a:schemeClr val="bg1"/>
                </a:solidFill>
                <a:latin typeface="Berlin Sans FB" panose="020E0602020502020306" pitchFamily="34" charset="0"/>
                <a:ea typeface="Tahoma" panose="020B0604030504040204" pitchFamily="34" charset="0"/>
                <a:cs typeface="Tahoma" panose="020B0604030504040204" pitchFamily="34" charset="0"/>
              </a:rPr>
              <a:t>volume of ticket over time</a:t>
            </a:r>
            <a:endParaRPr lang="en-PK" dirty="0">
              <a:solidFill>
                <a:schemeClr val="bg1"/>
              </a:solidFill>
              <a:latin typeface="Berlin Sans FB" panose="020E0602020502020306"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5B428106-E3A8-AE8C-144A-D8650416BA94}"/>
              </a:ext>
            </a:extLst>
          </p:cNvPr>
          <p:cNvSpPr txBox="1"/>
          <p:nvPr/>
        </p:nvSpPr>
        <p:spPr>
          <a:xfrm>
            <a:off x="-5080" y="1190831"/>
            <a:ext cx="4202232" cy="1292662"/>
          </a:xfrm>
          <a:prstGeom prst="rect">
            <a:avLst/>
          </a:prstGeom>
          <a:noFill/>
        </p:spPr>
        <p:txBody>
          <a:bodyPr wrap="square" rtlCol="0">
            <a:spAutoFit/>
          </a:bodyPr>
          <a:lstStyle/>
          <a:p>
            <a:r>
              <a:rPr lang="en-IN" sz="2400" b="1" dirty="0">
                <a:latin typeface="Tahoma" panose="020B0604030504040204" pitchFamily="34" charset="0"/>
                <a:ea typeface="Tahoma" panose="020B0604030504040204" pitchFamily="34" charset="0"/>
                <a:cs typeface="Tahoma" panose="020B0604030504040204" pitchFamily="34" charset="0"/>
              </a:rPr>
              <a:t>Insights</a:t>
            </a:r>
          </a:p>
          <a:p>
            <a:endParaRPr lang="en-IN" dirty="0"/>
          </a:p>
          <a:p>
            <a:pPr marL="285750" indent="-285750">
              <a:buFont typeface="Arial" panose="020B0604020202020204" pitchFamily="34" charset="0"/>
              <a:buChar char="•"/>
            </a:pPr>
            <a:r>
              <a:rPr lang="en-IN" dirty="0">
                <a:latin typeface="Tahoma" panose="020B0604030504040204" pitchFamily="34" charset="0"/>
                <a:ea typeface="Tahoma" panose="020B0604030504040204" pitchFamily="34" charset="0"/>
                <a:cs typeface="Tahoma" panose="020B0604030504040204" pitchFamily="34" charset="0"/>
              </a:rPr>
              <a:t>The volume of tickets are steadily increasing over the past five years </a:t>
            </a:r>
            <a:endParaRPr lang="en-US"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YEAR WISE TICKET COUNT">
            <a:extLst>
              <a:ext uri="{FF2B5EF4-FFF2-40B4-BE49-F238E27FC236}">
                <a16:creationId xmlns:a16="http://schemas.microsoft.com/office/drawing/2014/main" id="{456E5501-4B0F-0C49-BE08-0B9C9A334559}"/>
              </a:ext>
            </a:extLst>
          </p:cNvPr>
          <p:cNvGraphicFramePr>
            <a:graphicFrameLocks/>
          </p:cNvGraphicFramePr>
          <p:nvPr>
            <p:extLst>
              <p:ext uri="{D42A27DB-BD31-4B8C-83A1-F6EECF244321}">
                <p14:modId xmlns:p14="http://schemas.microsoft.com/office/powerpoint/2010/main" val="2273051908"/>
              </p:ext>
            </p:extLst>
          </p:nvPr>
        </p:nvGraphicFramePr>
        <p:xfrm>
          <a:off x="4197152" y="1113181"/>
          <a:ext cx="7337918" cy="51456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53300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A4AEB-0947-164A-1F90-137039018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A9BC9-8D6F-569D-4152-2A57E3B2E551}"/>
              </a:ext>
            </a:extLst>
          </p:cNvPr>
          <p:cNvSpPr>
            <a:spLocks noGrp="1"/>
          </p:cNvSpPr>
          <p:nvPr>
            <p:ph type="title"/>
          </p:nvPr>
        </p:nvSpPr>
        <p:spPr/>
        <p:txBody>
          <a:bodyPr/>
          <a:lstStyle/>
          <a:p>
            <a:r>
              <a:rPr lang="en-IN" sz="2900" dirty="0">
                <a:solidFill>
                  <a:schemeClr val="accent6">
                    <a:lumMod val="50000"/>
                  </a:schemeClr>
                </a:solidFill>
              </a:rPr>
              <a:t> </a:t>
            </a:r>
            <a:endParaRPr lang="en-US" sz="2900" dirty="0">
              <a:solidFill>
                <a:schemeClr val="accent6">
                  <a:lumMod val="50000"/>
                </a:schemeClr>
              </a:solidFill>
            </a:endParaRPr>
          </a:p>
        </p:txBody>
      </p:sp>
      <p:sp>
        <p:nvSpPr>
          <p:cNvPr id="3" name="Text Placeholder 2">
            <a:extLst>
              <a:ext uri="{FF2B5EF4-FFF2-40B4-BE49-F238E27FC236}">
                <a16:creationId xmlns:a16="http://schemas.microsoft.com/office/drawing/2014/main" id="{2718D48A-20C4-555A-FB22-0B632AABF90C}"/>
              </a:ext>
            </a:extLst>
          </p:cNvPr>
          <p:cNvSpPr>
            <a:spLocks noGrp="1"/>
          </p:cNvSpPr>
          <p:nvPr>
            <p:ph type="body" sz="quarter" idx="13"/>
          </p:nvPr>
        </p:nvSpPr>
        <p:spPr>
          <a:xfrm>
            <a:off x="57395" y="3070800"/>
            <a:ext cx="4828032" cy="490538"/>
          </a:xfrm>
        </p:spPr>
        <p:txBody>
          <a:bodyPr/>
          <a:lstStyle/>
          <a:p>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Recommendations</a:t>
            </a:r>
          </a:p>
        </p:txBody>
      </p:sp>
      <p:sp>
        <p:nvSpPr>
          <p:cNvPr id="5" name="Text Placeholder 4">
            <a:extLst>
              <a:ext uri="{FF2B5EF4-FFF2-40B4-BE49-F238E27FC236}">
                <a16:creationId xmlns:a16="http://schemas.microsoft.com/office/drawing/2014/main" id="{C1F4D723-C3AA-5529-149B-93A923A3D67B}"/>
              </a:ext>
            </a:extLst>
          </p:cNvPr>
          <p:cNvSpPr>
            <a:spLocks noGrp="1"/>
          </p:cNvSpPr>
          <p:nvPr>
            <p:ph type="body" sz="quarter" idx="15"/>
          </p:nvPr>
        </p:nvSpPr>
        <p:spPr>
          <a:xfrm>
            <a:off x="57395" y="3589445"/>
            <a:ext cx="4828032" cy="3227149"/>
          </a:xfrm>
        </p:spPr>
        <p:txBody>
          <a:bodyPr/>
          <a:lstStyle/>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Equip agents with faster, more reliable tools (e.g., high-performance computers, better networking equipment) to reduce delays and improve efficiency in handling complex tasks, especially hardware-related tickets.</a:t>
            </a:r>
          </a:p>
          <a:p>
            <a:r>
              <a:rPr lang="en-US" sz="1800" dirty="0">
                <a:latin typeface="Tahoma" panose="020B0604030504040204" pitchFamily="34" charset="0"/>
                <a:ea typeface="Tahoma" panose="020B0604030504040204" pitchFamily="34" charset="0"/>
                <a:cs typeface="Tahoma" panose="020B0604030504040204" pitchFamily="34" charset="0"/>
              </a:rPr>
              <a:t>issues faster and more efficiently</a:t>
            </a:r>
          </a:p>
        </p:txBody>
      </p:sp>
      <p:sp>
        <p:nvSpPr>
          <p:cNvPr id="8" name="Text Placeholder 7">
            <a:extLst>
              <a:ext uri="{FF2B5EF4-FFF2-40B4-BE49-F238E27FC236}">
                <a16:creationId xmlns:a16="http://schemas.microsoft.com/office/drawing/2014/main" id="{13FED3D7-D37A-E476-7F34-9E8FA6EC92A5}"/>
              </a:ext>
            </a:extLst>
          </p:cNvPr>
          <p:cNvSpPr>
            <a:spLocks noGrp="1"/>
          </p:cNvSpPr>
          <p:nvPr>
            <p:ph type="body" sz="quarter" idx="16"/>
          </p:nvPr>
        </p:nvSpPr>
        <p:spPr/>
        <p:txBody>
          <a:bodyPr/>
          <a:lstStyle/>
          <a:p>
            <a:endParaRPr lang="en-US"/>
          </a:p>
        </p:txBody>
      </p:sp>
      <p:sp>
        <p:nvSpPr>
          <p:cNvPr id="6" name="Title 1">
            <a:extLst>
              <a:ext uri="{FF2B5EF4-FFF2-40B4-BE49-F238E27FC236}">
                <a16:creationId xmlns:a16="http://schemas.microsoft.com/office/drawing/2014/main" id="{A35A3C11-F32A-68B8-4B7B-B7EE2528FEDD}"/>
              </a:ext>
            </a:extLst>
          </p:cNvPr>
          <p:cNvSpPr txBox="1">
            <a:spLocks/>
          </p:cNvSpPr>
          <p:nvPr/>
        </p:nvSpPr>
        <p:spPr>
          <a:xfrm>
            <a:off x="283975" y="128904"/>
            <a:ext cx="10336696" cy="704088"/>
          </a:xfrm>
          <a:prstGeom prst="rect">
            <a:avLst/>
          </a:prstGeom>
        </p:spPr>
        <p:txBody>
          <a:bodyPr vert="horz" lIns="91440" tIns="45720" rIns="91440" bIns="45720" rtlCol="0" anchor="t">
            <a:noAutofit/>
          </a:bodyPr>
          <a:lstStyle>
            <a:lvl1pPr algn="l" defTabSz="914400" rtl="0" eaLnBrk="1" latinLnBrk="0" hangingPunct="1">
              <a:lnSpc>
                <a:spcPct val="80000"/>
              </a:lnSpc>
              <a:spcBef>
                <a:spcPct val="0"/>
              </a:spcBef>
              <a:buNone/>
              <a:defRPr sz="5000" kern="1200" cap="all" baseline="0">
                <a:solidFill>
                  <a:schemeClr val="accent4"/>
                </a:solidFill>
                <a:latin typeface="+mj-lt"/>
                <a:ea typeface="+mj-ea"/>
                <a:cs typeface="+mj-cs"/>
              </a:defRPr>
            </a:lvl1pPr>
          </a:lstStyle>
          <a:p>
            <a:r>
              <a:rPr lang="en-US" dirty="0">
                <a:solidFill>
                  <a:schemeClr val="bg1"/>
                </a:solidFill>
                <a:latin typeface="Berlin Sans FB" panose="020E0602020502020306" pitchFamily="34" charset="0"/>
                <a:ea typeface="Tahoma" panose="020B0604030504040204" pitchFamily="34" charset="0"/>
                <a:cs typeface="Tahoma" panose="020B0604030504040204" pitchFamily="34" charset="0"/>
              </a:rPr>
              <a:t>Count of tickets by request category</a:t>
            </a:r>
            <a:endParaRPr lang="en-PK" dirty="0">
              <a:solidFill>
                <a:schemeClr val="bg1"/>
              </a:solidFill>
              <a:latin typeface="Berlin Sans FB" panose="020E0602020502020306"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0AC39302-595B-357A-AA56-0B525EAC74BE}"/>
              </a:ext>
            </a:extLst>
          </p:cNvPr>
          <p:cNvSpPr txBox="1"/>
          <p:nvPr/>
        </p:nvSpPr>
        <p:spPr>
          <a:xfrm>
            <a:off x="57394" y="1690639"/>
            <a:ext cx="4747465" cy="1292662"/>
          </a:xfrm>
          <a:prstGeom prst="rect">
            <a:avLst/>
          </a:prstGeom>
          <a:noFill/>
        </p:spPr>
        <p:txBody>
          <a:bodyPr wrap="square" rtlCol="0">
            <a:spAutoFit/>
          </a:bodyPr>
          <a:lstStyle/>
          <a:p>
            <a:r>
              <a:rPr lang="en-IN" sz="2400" b="1" dirty="0">
                <a:latin typeface="Tahoma" panose="020B0604030504040204" pitchFamily="34" charset="0"/>
                <a:ea typeface="Tahoma" panose="020B0604030504040204" pitchFamily="34" charset="0"/>
                <a:cs typeface="Tahoma" panose="020B0604030504040204" pitchFamily="34" charset="0"/>
              </a:rPr>
              <a:t>Insights</a:t>
            </a:r>
          </a:p>
          <a:p>
            <a:endParaRPr lang="en-IN"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n-IN" dirty="0">
                <a:latin typeface="Tahoma" panose="020B0604030504040204" pitchFamily="34" charset="0"/>
                <a:ea typeface="Tahoma" panose="020B0604030504040204" pitchFamily="34" charset="0"/>
                <a:cs typeface="Tahoma" panose="020B0604030504040204" pitchFamily="34" charset="0"/>
              </a:rPr>
              <a:t>The volume of tickets are steadily increasing over the past five years </a:t>
            </a:r>
            <a:endParaRPr lang="en-US"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Chart 3">
            <a:extLst>
              <a:ext uri="{FF2B5EF4-FFF2-40B4-BE49-F238E27FC236}">
                <a16:creationId xmlns:a16="http://schemas.microsoft.com/office/drawing/2014/main" id="{CCAEA315-5B83-1ECE-93F4-31618C72B23C}"/>
              </a:ext>
            </a:extLst>
          </p:cNvPr>
          <p:cNvGraphicFramePr>
            <a:graphicFrameLocks/>
          </p:cNvGraphicFramePr>
          <p:nvPr>
            <p:extLst>
              <p:ext uri="{D42A27DB-BD31-4B8C-83A1-F6EECF244321}">
                <p14:modId xmlns:p14="http://schemas.microsoft.com/office/powerpoint/2010/main" val="1259469879"/>
              </p:ext>
            </p:extLst>
          </p:nvPr>
        </p:nvGraphicFramePr>
        <p:xfrm>
          <a:off x="4992282" y="1015881"/>
          <a:ext cx="6505985" cy="459878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67632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D879E-2D9E-117E-708A-D4921975E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21383-1115-C805-4D73-A5A8CF479AD8}"/>
              </a:ext>
            </a:extLst>
          </p:cNvPr>
          <p:cNvSpPr>
            <a:spLocks noGrp="1"/>
          </p:cNvSpPr>
          <p:nvPr>
            <p:ph type="title"/>
          </p:nvPr>
        </p:nvSpPr>
        <p:spPr/>
        <p:txBody>
          <a:bodyPr/>
          <a:lstStyle/>
          <a:p>
            <a:r>
              <a:rPr lang="en-IN" sz="2900" dirty="0">
                <a:solidFill>
                  <a:schemeClr val="accent6">
                    <a:lumMod val="50000"/>
                  </a:schemeClr>
                </a:solidFill>
              </a:rPr>
              <a:t> </a:t>
            </a:r>
            <a:endParaRPr lang="en-US" sz="2900" dirty="0">
              <a:solidFill>
                <a:schemeClr val="accent6">
                  <a:lumMod val="50000"/>
                </a:schemeClr>
              </a:solidFill>
            </a:endParaRPr>
          </a:p>
        </p:txBody>
      </p:sp>
      <p:sp>
        <p:nvSpPr>
          <p:cNvPr id="3" name="Text Placeholder 2">
            <a:extLst>
              <a:ext uri="{FF2B5EF4-FFF2-40B4-BE49-F238E27FC236}">
                <a16:creationId xmlns:a16="http://schemas.microsoft.com/office/drawing/2014/main" id="{BD381E85-FFAC-FFAF-3271-19D1F1C5DD20}"/>
              </a:ext>
            </a:extLst>
          </p:cNvPr>
          <p:cNvSpPr>
            <a:spLocks noGrp="1"/>
          </p:cNvSpPr>
          <p:nvPr>
            <p:ph type="body" sz="quarter" idx="13"/>
          </p:nvPr>
        </p:nvSpPr>
        <p:spPr>
          <a:xfrm>
            <a:off x="-5080" y="3072903"/>
            <a:ext cx="4828032" cy="490538"/>
          </a:xfrm>
        </p:spPr>
        <p:txBody>
          <a:bodyPr/>
          <a:lstStyle/>
          <a:p>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Recommendations</a:t>
            </a:r>
          </a:p>
        </p:txBody>
      </p:sp>
      <p:sp>
        <p:nvSpPr>
          <p:cNvPr id="5" name="Text Placeholder 4">
            <a:extLst>
              <a:ext uri="{FF2B5EF4-FFF2-40B4-BE49-F238E27FC236}">
                <a16:creationId xmlns:a16="http://schemas.microsoft.com/office/drawing/2014/main" id="{72D589BF-1AA6-0FFC-62D7-FC95D55F6F9F}"/>
              </a:ext>
            </a:extLst>
          </p:cNvPr>
          <p:cNvSpPr>
            <a:spLocks noGrp="1"/>
          </p:cNvSpPr>
          <p:nvPr>
            <p:ph type="body" sz="quarter" idx="15"/>
          </p:nvPr>
        </p:nvSpPr>
        <p:spPr>
          <a:xfrm>
            <a:off x="0" y="3576504"/>
            <a:ext cx="4754880" cy="3169392"/>
          </a:xfrm>
        </p:spPr>
        <p:txBody>
          <a:bodyPr/>
          <a:lstStyle/>
          <a:p>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Use automation tools to handle repetitive tasks like ticket categorization or status updates, freeing up agents to focus on complex issues and speeding up resolution times. </a:t>
            </a:r>
            <a:r>
              <a:rPr lang="en-US" sz="1600" dirty="0">
                <a:latin typeface="Tahoma" panose="020B0604030504040204" pitchFamily="34" charset="0"/>
                <a:ea typeface="Tahoma" panose="020B0604030504040204" pitchFamily="34" charset="0"/>
                <a:cs typeface="Tahoma" panose="020B0604030504040204" pitchFamily="34" charset="0"/>
              </a:rPr>
              <a:t>issues faster and more efficiently</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8D39F17-BA0E-FA1C-5DBC-31EAE1A2F886}"/>
              </a:ext>
            </a:extLst>
          </p:cNvPr>
          <p:cNvSpPr>
            <a:spLocks noGrp="1"/>
          </p:cNvSpPr>
          <p:nvPr>
            <p:ph type="body" sz="quarter" idx="16"/>
          </p:nvPr>
        </p:nvSpPr>
        <p:spPr/>
        <p:txBody>
          <a:bodyPr/>
          <a:lstStyle/>
          <a:p>
            <a:endParaRPr lang="en-US"/>
          </a:p>
        </p:txBody>
      </p:sp>
      <p:sp>
        <p:nvSpPr>
          <p:cNvPr id="6" name="Title 1">
            <a:extLst>
              <a:ext uri="{FF2B5EF4-FFF2-40B4-BE49-F238E27FC236}">
                <a16:creationId xmlns:a16="http://schemas.microsoft.com/office/drawing/2014/main" id="{7117289F-BD10-7418-8BE4-22BEFEA5F1F1}"/>
              </a:ext>
            </a:extLst>
          </p:cNvPr>
          <p:cNvSpPr txBox="1">
            <a:spLocks/>
          </p:cNvSpPr>
          <p:nvPr/>
        </p:nvSpPr>
        <p:spPr>
          <a:xfrm>
            <a:off x="49676" y="293349"/>
            <a:ext cx="9397685" cy="704088"/>
          </a:xfrm>
          <a:prstGeom prst="rect">
            <a:avLst/>
          </a:prstGeom>
        </p:spPr>
        <p:txBody>
          <a:bodyPr vert="horz" lIns="91440" tIns="45720" rIns="91440" bIns="45720" rtlCol="0" anchor="t">
            <a:noAutofit/>
          </a:bodyPr>
          <a:lstStyle>
            <a:lvl1pPr algn="l" defTabSz="914400" rtl="0" eaLnBrk="1" latinLnBrk="0" hangingPunct="1">
              <a:lnSpc>
                <a:spcPct val="80000"/>
              </a:lnSpc>
              <a:spcBef>
                <a:spcPct val="0"/>
              </a:spcBef>
              <a:buNone/>
              <a:defRPr sz="5000" kern="1200" cap="all" baseline="0">
                <a:solidFill>
                  <a:schemeClr val="accent4"/>
                </a:solidFill>
                <a:latin typeface="+mj-lt"/>
                <a:ea typeface="+mj-ea"/>
                <a:cs typeface="+mj-cs"/>
              </a:defRPr>
            </a:lvl1pPr>
          </a:lstStyle>
          <a:p>
            <a:pPr algn="ctr"/>
            <a:r>
              <a:rPr lang="en-US" dirty="0">
                <a:solidFill>
                  <a:schemeClr val="bg1"/>
                </a:solidFill>
                <a:latin typeface="Berlin Sans FB" panose="020E0602020502020306" pitchFamily="34" charset="0"/>
                <a:ea typeface="Tahoma" panose="020B0604030504040204" pitchFamily="34" charset="0"/>
                <a:cs typeface="Tahoma" panose="020B0604030504040204" pitchFamily="34" charset="0"/>
              </a:rPr>
              <a:t>Tickets by resolution time </a:t>
            </a:r>
            <a:endParaRPr lang="en-PK" dirty="0">
              <a:solidFill>
                <a:schemeClr val="bg1"/>
              </a:solidFill>
              <a:latin typeface="Berlin Sans FB" panose="020E0602020502020306"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6EE13817-4788-65B4-06D2-31551898BD30}"/>
              </a:ext>
            </a:extLst>
          </p:cNvPr>
          <p:cNvSpPr txBox="1"/>
          <p:nvPr/>
        </p:nvSpPr>
        <p:spPr>
          <a:xfrm>
            <a:off x="-5080" y="1190831"/>
            <a:ext cx="4719068" cy="1292662"/>
          </a:xfrm>
          <a:prstGeom prst="rect">
            <a:avLst/>
          </a:prstGeom>
          <a:noFill/>
        </p:spPr>
        <p:txBody>
          <a:bodyPr wrap="square" rtlCol="0">
            <a:spAutoFit/>
          </a:bodyPr>
          <a:lstStyle/>
          <a:p>
            <a:r>
              <a:rPr lang="en-IN" sz="2400" b="1" dirty="0">
                <a:latin typeface="Tahoma" panose="020B0604030504040204" pitchFamily="34" charset="0"/>
                <a:ea typeface="Tahoma" panose="020B0604030504040204" pitchFamily="34" charset="0"/>
                <a:cs typeface="Tahoma" panose="020B0604030504040204" pitchFamily="34" charset="0"/>
              </a:rPr>
              <a:t>Insights</a:t>
            </a:r>
          </a:p>
          <a:p>
            <a:endParaRPr lang="en-IN"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n-IN" dirty="0">
                <a:latin typeface="Tahoma" panose="020B0604030504040204" pitchFamily="34" charset="0"/>
                <a:ea typeface="Tahoma" panose="020B0604030504040204" pitchFamily="34" charset="0"/>
                <a:cs typeface="Tahoma" panose="020B0604030504040204" pitchFamily="34" charset="0"/>
              </a:rPr>
              <a:t>The volume of tickets are steadily increasing over the past five years </a:t>
            </a:r>
            <a:endParaRPr lang="en-US"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Chart 3">
            <a:extLst>
              <a:ext uri="{FF2B5EF4-FFF2-40B4-BE49-F238E27FC236}">
                <a16:creationId xmlns:a16="http://schemas.microsoft.com/office/drawing/2014/main" id="{9C314BB2-468B-37B3-2A6F-1C2AEFED64CF}"/>
              </a:ext>
            </a:extLst>
          </p:cNvPr>
          <p:cNvGraphicFramePr>
            <a:graphicFrameLocks/>
          </p:cNvGraphicFramePr>
          <p:nvPr>
            <p:extLst>
              <p:ext uri="{D42A27DB-BD31-4B8C-83A1-F6EECF244321}">
                <p14:modId xmlns:p14="http://schemas.microsoft.com/office/powerpoint/2010/main" val="163038922"/>
              </p:ext>
            </p:extLst>
          </p:nvPr>
        </p:nvGraphicFramePr>
        <p:xfrm>
          <a:off x="4873014" y="1113012"/>
          <a:ext cx="6670689" cy="492698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24204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a:extLst>
            <a:ext uri="{FF2B5EF4-FFF2-40B4-BE49-F238E27FC236}">
              <a16:creationId xmlns:a16="http://schemas.microsoft.com/office/drawing/2014/main" id="{C849D045-58F1-4BA6-980F-3F9C3E031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1ACBB-3475-3DED-EE26-21356909A434}"/>
              </a:ext>
            </a:extLst>
          </p:cNvPr>
          <p:cNvSpPr>
            <a:spLocks noGrp="1"/>
          </p:cNvSpPr>
          <p:nvPr>
            <p:ph type="title"/>
          </p:nvPr>
        </p:nvSpPr>
        <p:spPr/>
        <p:txBody>
          <a:bodyPr/>
          <a:lstStyle/>
          <a:p>
            <a:r>
              <a:rPr lang="en-IN" sz="2900" dirty="0">
                <a:solidFill>
                  <a:schemeClr val="accent6">
                    <a:lumMod val="50000"/>
                  </a:schemeClr>
                </a:solidFill>
              </a:rPr>
              <a:t> </a:t>
            </a:r>
            <a:endParaRPr lang="en-US" sz="2900" dirty="0">
              <a:solidFill>
                <a:schemeClr val="accent6">
                  <a:lumMod val="50000"/>
                </a:schemeClr>
              </a:solidFill>
            </a:endParaRPr>
          </a:p>
        </p:txBody>
      </p:sp>
      <p:sp>
        <p:nvSpPr>
          <p:cNvPr id="3" name="Text Placeholder 2">
            <a:extLst>
              <a:ext uri="{FF2B5EF4-FFF2-40B4-BE49-F238E27FC236}">
                <a16:creationId xmlns:a16="http://schemas.microsoft.com/office/drawing/2014/main" id="{44F550FF-4411-4B3D-EA56-4B170ADD29DC}"/>
              </a:ext>
            </a:extLst>
          </p:cNvPr>
          <p:cNvSpPr>
            <a:spLocks noGrp="1"/>
          </p:cNvSpPr>
          <p:nvPr>
            <p:ph type="body" sz="quarter" idx="13"/>
          </p:nvPr>
        </p:nvSpPr>
        <p:spPr>
          <a:xfrm>
            <a:off x="0" y="3023955"/>
            <a:ext cx="4828032" cy="490538"/>
          </a:xfrm>
        </p:spPr>
        <p:txBody>
          <a:bodyPr/>
          <a:lstStyle/>
          <a:p>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Recommendations</a:t>
            </a:r>
          </a:p>
        </p:txBody>
      </p:sp>
      <p:sp>
        <p:nvSpPr>
          <p:cNvPr id="5" name="Text Placeholder 4">
            <a:extLst>
              <a:ext uri="{FF2B5EF4-FFF2-40B4-BE49-F238E27FC236}">
                <a16:creationId xmlns:a16="http://schemas.microsoft.com/office/drawing/2014/main" id="{2E6EFC79-BA58-A2EF-A24C-8C97BF3951CE}"/>
              </a:ext>
            </a:extLst>
          </p:cNvPr>
          <p:cNvSpPr>
            <a:spLocks noGrp="1"/>
          </p:cNvSpPr>
          <p:nvPr>
            <p:ph type="body" sz="quarter" idx="15"/>
          </p:nvPr>
        </p:nvSpPr>
        <p:spPr>
          <a:xfrm>
            <a:off x="-19991" y="3381518"/>
            <a:ext cx="4754880" cy="3476482"/>
          </a:xfrm>
        </p:spPr>
        <p:txBody>
          <a:bodyPr/>
          <a:lstStyle/>
          <a:p>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Reallocate Agents Based on Ticket Volume and Complexity:</a:t>
            </a:r>
          </a:p>
          <a:p>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By tracking ticket volume and complexity, agents can be reassigned to areas with higher demand, ensuring tasks are handled by those with the right expertise. This helps balance workloads and prevents delays, improving resolution times, issues</a:t>
            </a:r>
            <a:r>
              <a:rPr lang="en-US" sz="1600" dirty="0">
                <a:latin typeface="Tahoma" panose="020B0604030504040204" pitchFamily="34" charset="0"/>
                <a:ea typeface="Tahoma" panose="020B0604030504040204" pitchFamily="34" charset="0"/>
                <a:cs typeface="Tahoma" panose="020B0604030504040204" pitchFamily="34" charset="0"/>
              </a:rPr>
              <a:t> faster and more efficiently.</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32D0A311-9780-5A15-CC06-47BEB214E544}"/>
              </a:ext>
            </a:extLst>
          </p:cNvPr>
          <p:cNvSpPr>
            <a:spLocks noGrp="1"/>
          </p:cNvSpPr>
          <p:nvPr>
            <p:ph type="body" sz="quarter" idx="16"/>
          </p:nvPr>
        </p:nvSpPr>
        <p:spPr/>
        <p:txBody>
          <a:bodyPr/>
          <a:lstStyle/>
          <a:p>
            <a:endParaRPr lang="en-US"/>
          </a:p>
        </p:txBody>
      </p:sp>
      <p:sp>
        <p:nvSpPr>
          <p:cNvPr id="6" name="Title 1">
            <a:extLst>
              <a:ext uri="{FF2B5EF4-FFF2-40B4-BE49-F238E27FC236}">
                <a16:creationId xmlns:a16="http://schemas.microsoft.com/office/drawing/2014/main" id="{071636E8-A261-3841-66C2-112392270C8A}"/>
              </a:ext>
            </a:extLst>
          </p:cNvPr>
          <p:cNvSpPr txBox="1">
            <a:spLocks/>
          </p:cNvSpPr>
          <p:nvPr/>
        </p:nvSpPr>
        <p:spPr>
          <a:xfrm>
            <a:off x="-75025" y="136677"/>
            <a:ext cx="9738455" cy="704088"/>
          </a:xfrm>
          <a:prstGeom prst="rect">
            <a:avLst/>
          </a:prstGeom>
        </p:spPr>
        <p:txBody>
          <a:bodyPr vert="horz" lIns="91440" tIns="45720" rIns="91440" bIns="45720" rtlCol="0" anchor="t">
            <a:noAutofit/>
          </a:bodyPr>
          <a:lstStyle>
            <a:lvl1pPr algn="l" defTabSz="914400" rtl="0" eaLnBrk="1" latinLnBrk="0" hangingPunct="1">
              <a:lnSpc>
                <a:spcPct val="80000"/>
              </a:lnSpc>
              <a:spcBef>
                <a:spcPct val="0"/>
              </a:spcBef>
              <a:buNone/>
              <a:defRPr sz="5000" kern="1200" cap="all" baseline="0">
                <a:solidFill>
                  <a:schemeClr val="accent4"/>
                </a:solidFill>
                <a:latin typeface="+mj-lt"/>
                <a:ea typeface="+mj-ea"/>
                <a:cs typeface="+mj-cs"/>
              </a:defRPr>
            </a:lvl1pPr>
          </a:lstStyle>
          <a:p>
            <a:pPr algn="ctr"/>
            <a:r>
              <a:rPr lang="en-IN" dirty="0">
                <a:solidFill>
                  <a:schemeClr val="bg1"/>
                </a:solidFill>
                <a:latin typeface="Berlin Sans FB" panose="020E0602020502020306" pitchFamily="34" charset="0"/>
                <a:ea typeface="Tahoma" panose="020B0604030504040204" pitchFamily="34" charset="0"/>
                <a:cs typeface="Tahoma" panose="020B0604030504040204" pitchFamily="34" charset="0"/>
              </a:rPr>
              <a:t>S</a:t>
            </a:r>
            <a:r>
              <a:rPr lang="en-US" dirty="0">
                <a:solidFill>
                  <a:schemeClr val="bg1"/>
                </a:solidFill>
                <a:latin typeface="Berlin Sans FB" panose="020E0602020502020306" pitchFamily="34" charset="0"/>
                <a:ea typeface="Tahoma" panose="020B0604030504040204" pitchFamily="34" charset="0"/>
                <a:cs typeface="Tahoma" panose="020B0604030504040204" pitchFamily="34" charset="0"/>
              </a:rPr>
              <a:t>ATISFACTION RATE OVER Years </a:t>
            </a:r>
            <a:endParaRPr lang="en-PK" dirty="0">
              <a:solidFill>
                <a:schemeClr val="bg1"/>
              </a:solidFill>
              <a:latin typeface="Berlin Sans FB" panose="020E0602020502020306"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DE51ABB3-576A-8921-A488-8723F4D3CEE7}"/>
              </a:ext>
            </a:extLst>
          </p:cNvPr>
          <p:cNvSpPr txBox="1"/>
          <p:nvPr/>
        </p:nvSpPr>
        <p:spPr>
          <a:xfrm>
            <a:off x="-5081" y="1190831"/>
            <a:ext cx="4739970" cy="1292662"/>
          </a:xfrm>
          <a:prstGeom prst="rect">
            <a:avLst/>
          </a:prstGeom>
          <a:noFill/>
        </p:spPr>
        <p:txBody>
          <a:bodyPr wrap="square" rtlCol="0">
            <a:spAutoFit/>
          </a:bodyPr>
          <a:lstStyle/>
          <a:p>
            <a:r>
              <a:rPr lang="en-IN" sz="2400" b="1" dirty="0">
                <a:latin typeface="Tahoma" panose="020B0604030504040204" pitchFamily="34" charset="0"/>
                <a:ea typeface="Tahoma" panose="020B0604030504040204" pitchFamily="34" charset="0"/>
                <a:cs typeface="Tahoma" panose="020B0604030504040204" pitchFamily="34" charset="0"/>
              </a:rPr>
              <a:t>Insights</a:t>
            </a:r>
          </a:p>
          <a:p>
            <a:endParaRPr lang="en-IN"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n-IN" dirty="0">
                <a:latin typeface="Tahoma" panose="020B0604030504040204" pitchFamily="34" charset="0"/>
                <a:ea typeface="Tahoma" panose="020B0604030504040204" pitchFamily="34" charset="0"/>
                <a:cs typeface="Tahoma" panose="020B0604030504040204" pitchFamily="34" charset="0"/>
              </a:rPr>
              <a:t>The volume of tickets are steadily increasing over the past five years </a:t>
            </a:r>
            <a:endParaRPr lang="en-US"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Chart 3">
            <a:extLst>
              <a:ext uri="{FF2B5EF4-FFF2-40B4-BE49-F238E27FC236}">
                <a16:creationId xmlns:a16="http://schemas.microsoft.com/office/drawing/2014/main" id="{239292FF-7FFA-8F4F-0BB7-BDBCF732B079}"/>
              </a:ext>
            </a:extLst>
          </p:cNvPr>
          <p:cNvGraphicFramePr>
            <a:graphicFrameLocks/>
          </p:cNvGraphicFramePr>
          <p:nvPr>
            <p:extLst>
              <p:ext uri="{D42A27DB-BD31-4B8C-83A1-F6EECF244321}">
                <p14:modId xmlns:p14="http://schemas.microsoft.com/office/powerpoint/2010/main" val="1808274226"/>
              </p:ext>
            </p:extLst>
          </p:nvPr>
        </p:nvGraphicFramePr>
        <p:xfrm>
          <a:off x="4754880" y="799889"/>
          <a:ext cx="6788823" cy="496480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767756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03E5A6-86FB-64C6-B738-1FC347E1BFC3}"/>
              </a:ext>
            </a:extLst>
          </p:cNvPr>
          <p:cNvSpPr>
            <a:spLocks noGrp="1"/>
          </p:cNvSpPr>
          <p:nvPr>
            <p:ph type="ftr" sz="quarter" idx="11"/>
          </p:nvPr>
        </p:nvSpPr>
        <p:spPr>
          <a:xfrm>
            <a:off x="57395" y="124901"/>
            <a:ext cx="11248540" cy="646893"/>
          </a:xfrm>
        </p:spPr>
        <p:txBody>
          <a:bodyPr/>
          <a:lstStyle/>
          <a:p>
            <a:r>
              <a:rPr lang="en-US" sz="5000" cap="all" dirty="0">
                <a:solidFill>
                  <a:schemeClr val="bg1"/>
                </a:solidFill>
                <a:latin typeface="Berlin Sans FB" panose="020E0602020502020306" pitchFamily="34" charset="0"/>
                <a:ea typeface="Tahoma" panose="020B0604030504040204" pitchFamily="34" charset="0"/>
                <a:cs typeface="Tahoma" panose="020B0604030504040204" pitchFamily="34" charset="0"/>
              </a:rPr>
              <a:t>AGENT</a:t>
            </a:r>
            <a:r>
              <a:rPr lang="en-US" sz="5000" dirty="0">
                <a:solidFill>
                  <a:schemeClr val="bg1"/>
                </a:solidFill>
                <a:latin typeface="Berlin Sans FB" panose="020E0602020502020306" pitchFamily="34" charset="0"/>
                <a:ea typeface="Tahoma" panose="020B0604030504040204" pitchFamily="34" charset="0"/>
                <a:cs typeface="Tahoma" panose="020B0604030504040204" pitchFamily="34" charset="0"/>
              </a:rPr>
              <a:t> WISE PERFORMANCE ANALYSIS</a:t>
            </a:r>
            <a:endParaRPr lang="en-US" sz="5000" noProof="0" dirty="0">
              <a:solidFill>
                <a:schemeClr val="bg1"/>
              </a:solidFill>
              <a:latin typeface="Berlin Sans FB" panose="020E0602020502020306" pitchFamily="34" charset="0"/>
            </a:endParaRPr>
          </a:p>
        </p:txBody>
      </p:sp>
      <p:sp>
        <p:nvSpPr>
          <p:cNvPr id="23" name="Text Placeholder 22">
            <a:extLst>
              <a:ext uri="{FF2B5EF4-FFF2-40B4-BE49-F238E27FC236}">
                <a16:creationId xmlns:a16="http://schemas.microsoft.com/office/drawing/2014/main" id="{D8401E1B-3177-A5A6-48F2-ADE55ECF133B}"/>
              </a:ext>
            </a:extLst>
          </p:cNvPr>
          <p:cNvSpPr>
            <a:spLocks noGrp="1"/>
          </p:cNvSpPr>
          <p:nvPr>
            <p:ph type="body" sz="quarter" idx="16"/>
          </p:nvPr>
        </p:nvSpPr>
        <p:spPr/>
        <p:txBody>
          <a:bodyPr/>
          <a:lstStyle/>
          <a:p>
            <a:endParaRPr lang="en-US"/>
          </a:p>
        </p:txBody>
      </p:sp>
      <p:sp>
        <p:nvSpPr>
          <p:cNvPr id="9" name="TextBox 8">
            <a:extLst>
              <a:ext uri="{FF2B5EF4-FFF2-40B4-BE49-F238E27FC236}">
                <a16:creationId xmlns:a16="http://schemas.microsoft.com/office/drawing/2014/main" id="{2CB28980-8936-CDC8-0611-6DAB5E836D3F}"/>
              </a:ext>
            </a:extLst>
          </p:cNvPr>
          <p:cNvSpPr txBox="1"/>
          <p:nvPr/>
        </p:nvSpPr>
        <p:spPr>
          <a:xfrm>
            <a:off x="57394" y="829207"/>
            <a:ext cx="3872821" cy="2123658"/>
          </a:xfrm>
          <a:prstGeom prst="rect">
            <a:avLst/>
          </a:prstGeom>
          <a:noFill/>
        </p:spPr>
        <p:txBody>
          <a:bodyPr wrap="square" rtlCol="0">
            <a:spAutoFit/>
          </a:bodyPr>
          <a:lstStyle/>
          <a:p>
            <a:r>
              <a:rPr lang="en-IN" sz="2400" b="1" dirty="0">
                <a:latin typeface="Tahoma" panose="020B0604030504040204" pitchFamily="34" charset="0"/>
                <a:ea typeface="Tahoma" panose="020B0604030504040204" pitchFamily="34" charset="0"/>
                <a:cs typeface="Tahoma" panose="020B0604030504040204" pitchFamily="34" charset="0"/>
              </a:rPr>
              <a:t>Insights</a:t>
            </a:r>
          </a:p>
          <a:p>
            <a:endParaRPr lang="en-IN"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n-US" dirty="0"/>
              <a:t>Agent performance varies significantly, with some agents taking longer resolution times despite moderate satisfaction scores.</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0" name="Text Placeholder 2">
            <a:extLst>
              <a:ext uri="{FF2B5EF4-FFF2-40B4-BE49-F238E27FC236}">
                <a16:creationId xmlns:a16="http://schemas.microsoft.com/office/drawing/2014/main" id="{248A9A92-1E72-E4E7-6DCC-B8DE1246E091}"/>
              </a:ext>
            </a:extLst>
          </p:cNvPr>
          <p:cNvSpPr txBox="1">
            <a:spLocks/>
          </p:cNvSpPr>
          <p:nvPr/>
        </p:nvSpPr>
        <p:spPr>
          <a:xfrm>
            <a:off x="0" y="3071280"/>
            <a:ext cx="4828032" cy="490538"/>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2200" b="1" kern="1200">
                <a:solidFill>
                  <a:schemeClr val="accent5"/>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Recommendations</a:t>
            </a:r>
          </a:p>
        </p:txBody>
      </p:sp>
      <p:sp>
        <p:nvSpPr>
          <p:cNvPr id="11" name="Text Placeholder 4">
            <a:extLst>
              <a:ext uri="{FF2B5EF4-FFF2-40B4-BE49-F238E27FC236}">
                <a16:creationId xmlns:a16="http://schemas.microsoft.com/office/drawing/2014/main" id="{A3222AFB-4FA1-B3DF-C665-5B384FD6F953}"/>
              </a:ext>
            </a:extLst>
          </p:cNvPr>
          <p:cNvSpPr txBox="1">
            <a:spLocks/>
          </p:cNvSpPr>
          <p:nvPr/>
        </p:nvSpPr>
        <p:spPr>
          <a:xfrm>
            <a:off x="0" y="3491171"/>
            <a:ext cx="3996813" cy="2043049"/>
          </a:xfrm>
          <a:prstGeom prst="rect">
            <a:avLst/>
          </a:prstGeom>
        </p:spPr>
        <p:txBody>
          <a:bodyPr vert="horz" lIns="91440" tIns="45720" rIns="91440" bIns="45720" rtlCol="0">
            <a:noAutofit/>
          </a:bodyPr>
          <a:lstStyle>
            <a:lvl1pPr marL="283464" indent="-283464" algn="l" defTabSz="914400" rtl="0" eaLnBrk="1" latinLnBrk="0" hangingPunct="1">
              <a:lnSpc>
                <a:spcPct val="150000"/>
              </a:lnSpc>
              <a:spcBef>
                <a:spcPts val="0"/>
              </a:spcBef>
              <a:buFont typeface="Arial" panose="020B0604020202020204" pitchFamily="34" charset="0"/>
              <a:buChar char="•"/>
              <a:defRPr sz="1600" kern="1200">
                <a:solidFill>
                  <a:schemeClr val="accent5"/>
                </a:solidFill>
                <a:latin typeface="+mn-lt"/>
                <a:ea typeface="+mn-ea"/>
                <a:cs typeface="+mn-cs"/>
              </a:defRPr>
            </a:lvl1pPr>
            <a:lvl2pPr marL="685800" indent="-283464" algn="l" defTabSz="914400" rtl="0" eaLnBrk="1" latinLnBrk="0" hangingPunct="1">
              <a:lnSpc>
                <a:spcPct val="150000"/>
              </a:lnSpc>
              <a:spcBef>
                <a:spcPts val="0"/>
              </a:spcBef>
              <a:buFont typeface="Arial" panose="020B0604020202020204" pitchFamily="34" charset="0"/>
              <a:buChar char="•"/>
              <a:defRPr sz="1600" kern="1200">
                <a:solidFill>
                  <a:schemeClr val="accent5"/>
                </a:solidFill>
                <a:latin typeface="+mn-lt"/>
                <a:ea typeface="+mn-ea"/>
                <a:cs typeface="+mn-cs"/>
              </a:defRPr>
            </a:lvl2pPr>
            <a:lvl3pPr marL="1143000" indent="-283464" algn="l" defTabSz="914400" rtl="0" eaLnBrk="1" latinLnBrk="0" hangingPunct="1">
              <a:lnSpc>
                <a:spcPct val="150000"/>
              </a:lnSpc>
              <a:spcBef>
                <a:spcPts val="0"/>
              </a:spcBef>
              <a:buFont typeface="Arial" panose="020B0604020202020204" pitchFamily="34" charset="0"/>
              <a:buChar char="•"/>
              <a:defRPr sz="1600" kern="1200">
                <a:solidFill>
                  <a:schemeClr val="accent5"/>
                </a:solidFill>
                <a:latin typeface="+mn-lt"/>
                <a:ea typeface="+mn-ea"/>
                <a:cs typeface="+mn-cs"/>
              </a:defRPr>
            </a:lvl3pPr>
            <a:lvl4pPr marL="1600200" indent="-283464" algn="l" defTabSz="914400" rtl="0" eaLnBrk="1" latinLnBrk="0" hangingPunct="1">
              <a:lnSpc>
                <a:spcPct val="150000"/>
              </a:lnSpc>
              <a:spcBef>
                <a:spcPts val="0"/>
              </a:spcBef>
              <a:buFont typeface="Arial" panose="020B0604020202020204" pitchFamily="34" charset="0"/>
              <a:buChar char="•"/>
              <a:defRPr sz="1600" kern="1200">
                <a:solidFill>
                  <a:schemeClr val="accent5"/>
                </a:solidFill>
                <a:latin typeface="+mn-lt"/>
                <a:ea typeface="+mn-ea"/>
                <a:cs typeface="+mn-cs"/>
              </a:defRPr>
            </a:lvl4pPr>
            <a:lvl5pPr marL="2057400" indent="-283464" algn="l" defTabSz="914400" rtl="0" eaLnBrk="1" latinLnBrk="0" hangingPunct="1">
              <a:lnSpc>
                <a:spcPct val="150000"/>
              </a:lnSpc>
              <a:spcBef>
                <a:spcPts val="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Identify and support underperforming agents through targeted training to reduce resolution time and improve consistency issues faster and more efficiently.</a:t>
            </a:r>
          </a:p>
        </p:txBody>
      </p:sp>
      <p:graphicFrame>
        <p:nvGraphicFramePr>
          <p:cNvPr id="12" name="AVG. SATISFACTION_RESOLUTION_EACH AGENT">
            <a:extLst>
              <a:ext uri="{FF2B5EF4-FFF2-40B4-BE49-F238E27FC236}">
                <a16:creationId xmlns:a16="http://schemas.microsoft.com/office/drawing/2014/main" id="{DFAD0D75-1DB0-4351-D86E-5E8A766525BE}"/>
              </a:ext>
            </a:extLst>
          </p:cNvPr>
          <p:cNvGraphicFramePr>
            <a:graphicFrameLocks/>
          </p:cNvGraphicFramePr>
          <p:nvPr>
            <p:extLst>
              <p:ext uri="{D42A27DB-BD31-4B8C-83A1-F6EECF244321}">
                <p14:modId xmlns:p14="http://schemas.microsoft.com/office/powerpoint/2010/main" val="3917399005"/>
              </p:ext>
            </p:extLst>
          </p:nvPr>
        </p:nvGraphicFramePr>
        <p:xfrm>
          <a:off x="3972227" y="938659"/>
          <a:ext cx="8162378" cy="52463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27926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F5960-12F4-C805-F478-FEEA519B56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765C4-A2EF-44AF-2B70-9991AB71374C}"/>
              </a:ext>
            </a:extLst>
          </p:cNvPr>
          <p:cNvSpPr>
            <a:spLocks noGrp="1"/>
          </p:cNvSpPr>
          <p:nvPr>
            <p:ph type="title"/>
          </p:nvPr>
        </p:nvSpPr>
        <p:spPr/>
        <p:txBody>
          <a:bodyPr/>
          <a:lstStyle/>
          <a:p>
            <a:r>
              <a:rPr lang="en-IN" sz="2900" dirty="0">
                <a:solidFill>
                  <a:schemeClr val="accent6">
                    <a:lumMod val="50000"/>
                  </a:schemeClr>
                </a:solidFill>
              </a:rPr>
              <a:t> </a:t>
            </a:r>
            <a:endParaRPr lang="en-US" sz="2900" dirty="0">
              <a:solidFill>
                <a:schemeClr val="accent6">
                  <a:lumMod val="50000"/>
                </a:schemeClr>
              </a:solidFill>
            </a:endParaRPr>
          </a:p>
        </p:txBody>
      </p:sp>
      <p:sp>
        <p:nvSpPr>
          <p:cNvPr id="3" name="Text Placeholder 2">
            <a:extLst>
              <a:ext uri="{FF2B5EF4-FFF2-40B4-BE49-F238E27FC236}">
                <a16:creationId xmlns:a16="http://schemas.microsoft.com/office/drawing/2014/main" id="{FEC42F86-6EC1-2180-4631-7733A606EA91}"/>
              </a:ext>
            </a:extLst>
          </p:cNvPr>
          <p:cNvSpPr>
            <a:spLocks noGrp="1"/>
          </p:cNvSpPr>
          <p:nvPr>
            <p:ph type="body" sz="quarter" idx="13"/>
          </p:nvPr>
        </p:nvSpPr>
        <p:spPr>
          <a:xfrm>
            <a:off x="0" y="3268808"/>
            <a:ext cx="4828032" cy="490538"/>
          </a:xfrm>
        </p:spPr>
        <p:txBody>
          <a:bodyPr/>
          <a:lstStyle/>
          <a:p>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Recommendations</a:t>
            </a:r>
          </a:p>
        </p:txBody>
      </p:sp>
      <p:sp>
        <p:nvSpPr>
          <p:cNvPr id="5" name="Text Placeholder 4">
            <a:extLst>
              <a:ext uri="{FF2B5EF4-FFF2-40B4-BE49-F238E27FC236}">
                <a16:creationId xmlns:a16="http://schemas.microsoft.com/office/drawing/2014/main" id="{E279A998-D0D1-9633-FCE5-634E9F194BAE}"/>
              </a:ext>
            </a:extLst>
          </p:cNvPr>
          <p:cNvSpPr>
            <a:spLocks noGrp="1"/>
          </p:cNvSpPr>
          <p:nvPr>
            <p:ph type="body" sz="quarter" idx="15"/>
          </p:nvPr>
        </p:nvSpPr>
        <p:spPr>
          <a:xfrm>
            <a:off x="-65882" y="4142728"/>
            <a:ext cx="4754880" cy="2625594"/>
          </a:xfrm>
        </p:spPr>
        <p:txBody>
          <a:bodyPr/>
          <a:lstStyle/>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Focus on training IT agents in resolving hardware issues efficiently and consider reallocating resources to reduce resolution time, leveraging the successful practices from login access cases. Issues</a:t>
            </a:r>
            <a:r>
              <a:rPr lang="en-US" sz="1800" dirty="0">
                <a:latin typeface="Tahoma" panose="020B0604030504040204" pitchFamily="34" charset="0"/>
                <a:ea typeface="Tahoma" panose="020B0604030504040204" pitchFamily="34" charset="0"/>
                <a:cs typeface="Tahoma" panose="020B0604030504040204" pitchFamily="34" charset="0"/>
              </a:rPr>
              <a:t> faster and more efficiently</a:t>
            </a:r>
          </a:p>
        </p:txBody>
      </p:sp>
      <p:sp>
        <p:nvSpPr>
          <p:cNvPr id="8" name="Text Placeholder 7">
            <a:extLst>
              <a:ext uri="{FF2B5EF4-FFF2-40B4-BE49-F238E27FC236}">
                <a16:creationId xmlns:a16="http://schemas.microsoft.com/office/drawing/2014/main" id="{2D772CB8-B503-9DFB-AAA9-95EEA8F62CCC}"/>
              </a:ext>
            </a:extLst>
          </p:cNvPr>
          <p:cNvSpPr>
            <a:spLocks noGrp="1"/>
          </p:cNvSpPr>
          <p:nvPr>
            <p:ph type="body" sz="quarter" idx="16"/>
          </p:nvPr>
        </p:nvSpPr>
        <p:spPr/>
        <p:txBody>
          <a:bodyPr/>
          <a:lstStyle/>
          <a:p>
            <a:endParaRPr lang="en-US"/>
          </a:p>
        </p:txBody>
      </p:sp>
      <p:sp>
        <p:nvSpPr>
          <p:cNvPr id="6" name="Title 1">
            <a:extLst>
              <a:ext uri="{FF2B5EF4-FFF2-40B4-BE49-F238E27FC236}">
                <a16:creationId xmlns:a16="http://schemas.microsoft.com/office/drawing/2014/main" id="{3504EB03-B933-3513-84FE-273B8FE78355}"/>
              </a:ext>
            </a:extLst>
          </p:cNvPr>
          <p:cNvSpPr txBox="1">
            <a:spLocks/>
          </p:cNvSpPr>
          <p:nvPr/>
        </p:nvSpPr>
        <p:spPr>
          <a:xfrm>
            <a:off x="0" y="89678"/>
            <a:ext cx="12192000" cy="704088"/>
          </a:xfrm>
          <a:prstGeom prst="rect">
            <a:avLst/>
          </a:prstGeom>
        </p:spPr>
        <p:txBody>
          <a:bodyPr vert="horz" lIns="91440" tIns="45720" rIns="91440" bIns="45720" rtlCol="0" anchor="t">
            <a:noAutofit/>
          </a:bodyPr>
          <a:lstStyle>
            <a:lvl1pPr algn="l" defTabSz="914400" rtl="0" eaLnBrk="1" latinLnBrk="0" hangingPunct="1">
              <a:lnSpc>
                <a:spcPct val="80000"/>
              </a:lnSpc>
              <a:spcBef>
                <a:spcPct val="0"/>
              </a:spcBef>
              <a:buNone/>
              <a:defRPr sz="5000" kern="1200" cap="all" baseline="0">
                <a:solidFill>
                  <a:schemeClr val="accent4"/>
                </a:solidFill>
                <a:latin typeface="+mj-lt"/>
                <a:ea typeface="+mj-ea"/>
                <a:cs typeface="+mj-cs"/>
              </a:defRPr>
            </a:lvl1pPr>
          </a:lstStyle>
          <a:p>
            <a:r>
              <a:rPr lang="en-US" dirty="0">
                <a:solidFill>
                  <a:schemeClr val="bg1"/>
                </a:solidFill>
                <a:latin typeface="Berlin Sans FB" panose="020E0602020502020306" pitchFamily="34" charset="0"/>
                <a:ea typeface="Tahoma" panose="020B0604030504040204" pitchFamily="34" charset="0"/>
                <a:cs typeface="Tahoma" panose="020B0604030504040204" pitchFamily="34" charset="0"/>
              </a:rPr>
              <a:t>Average resolution time by request category</a:t>
            </a:r>
            <a:endParaRPr lang="en-PK" dirty="0">
              <a:solidFill>
                <a:schemeClr val="bg1"/>
              </a:solidFill>
              <a:latin typeface="Berlin Sans FB" panose="020E0602020502020306" pitchFamily="34" charset="0"/>
              <a:ea typeface="Tahoma" panose="020B0604030504040204" pitchFamily="34" charset="0"/>
              <a:cs typeface="Tahoma" panose="020B0604030504040204" pitchFamily="34" charset="0"/>
            </a:endParaRPr>
          </a:p>
        </p:txBody>
      </p:sp>
      <p:sp>
        <p:nvSpPr>
          <p:cNvPr id="7" name="TextBox 6">
            <a:extLst>
              <a:ext uri="{FF2B5EF4-FFF2-40B4-BE49-F238E27FC236}">
                <a16:creationId xmlns:a16="http://schemas.microsoft.com/office/drawing/2014/main" id="{2531B8EB-752F-F6A5-55A7-5318D66BC455}"/>
              </a:ext>
            </a:extLst>
          </p:cNvPr>
          <p:cNvSpPr txBox="1"/>
          <p:nvPr/>
        </p:nvSpPr>
        <p:spPr>
          <a:xfrm>
            <a:off x="0" y="1414464"/>
            <a:ext cx="4202832" cy="1569660"/>
          </a:xfrm>
          <a:prstGeom prst="rect">
            <a:avLst/>
          </a:prstGeom>
          <a:noFill/>
        </p:spPr>
        <p:txBody>
          <a:bodyPr wrap="square" rtlCol="0">
            <a:spAutoFit/>
          </a:bodyPr>
          <a:lstStyle/>
          <a:p>
            <a:r>
              <a:rPr lang="en-IN" sz="2400" b="1" dirty="0">
                <a:latin typeface="Tahoma" panose="020B0604030504040204" pitchFamily="34" charset="0"/>
                <a:ea typeface="Tahoma" panose="020B0604030504040204" pitchFamily="34" charset="0"/>
                <a:cs typeface="Tahoma" panose="020B0604030504040204" pitchFamily="34" charset="0"/>
              </a:rPr>
              <a:t>Insights</a:t>
            </a:r>
          </a:p>
          <a:p>
            <a:pPr marL="285750" indent="-28575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Login access has taken the least amount of time to resolve whereas IT Agents are taking a lot of time to resolve hardware issues </a:t>
            </a:r>
          </a:p>
        </p:txBody>
      </p:sp>
      <p:graphicFrame>
        <p:nvGraphicFramePr>
          <p:cNvPr id="4" name="Chart 3">
            <a:extLst>
              <a:ext uri="{FF2B5EF4-FFF2-40B4-BE49-F238E27FC236}">
                <a16:creationId xmlns:a16="http://schemas.microsoft.com/office/drawing/2014/main" id="{DAD8D5E5-BDA1-572C-074D-2367A309895C}"/>
              </a:ext>
            </a:extLst>
          </p:cNvPr>
          <p:cNvGraphicFramePr>
            <a:graphicFrameLocks/>
          </p:cNvGraphicFramePr>
          <p:nvPr>
            <p:extLst>
              <p:ext uri="{D42A27DB-BD31-4B8C-83A1-F6EECF244321}">
                <p14:modId xmlns:p14="http://schemas.microsoft.com/office/powerpoint/2010/main" val="855442616"/>
              </p:ext>
            </p:extLst>
          </p:nvPr>
        </p:nvGraphicFramePr>
        <p:xfrm>
          <a:off x="4623116" y="978820"/>
          <a:ext cx="6965380" cy="508883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68861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D259D-D03A-ADDF-A926-B63B4313A8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D69E0-72D7-E221-D18B-75A4F2367FF0}"/>
              </a:ext>
            </a:extLst>
          </p:cNvPr>
          <p:cNvSpPr>
            <a:spLocks noGrp="1"/>
          </p:cNvSpPr>
          <p:nvPr>
            <p:ph type="title"/>
          </p:nvPr>
        </p:nvSpPr>
        <p:spPr/>
        <p:txBody>
          <a:bodyPr/>
          <a:lstStyle/>
          <a:p>
            <a:r>
              <a:rPr lang="en-IN" sz="2900" dirty="0">
                <a:solidFill>
                  <a:schemeClr val="accent6">
                    <a:lumMod val="50000"/>
                  </a:schemeClr>
                </a:solidFill>
              </a:rPr>
              <a:t> </a:t>
            </a:r>
            <a:endParaRPr lang="en-US" sz="2900" dirty="0">
              <a:solidFill>
                <a:schemeClr val="accent6">
                  <a:lumMod val="50000"/>
                </a:schemeClr>
              </a:solidFill>
            </a:endParaRPr>
          </a:p>
        </p:txBody>
      </p:sp>
      <p:sp>
        <p:nvSpPr>
          <p:cNvPr id="3" name="Text Placeholder 2">
            <a:extLst>
              <a:ext uri="{FF2B5EF4-FFF2-40B4-BE49-F238E27FC236}">
                <a16:creationId xmlns:a16="http://schemas.microsoft.com/office/drawing/2014/main" id="{ECDCB2D9-7794-C8A8-186C-FBE17C559634}"/>
              </a:ext>
            </a:extLst>
          </p:cNvPr>
          <p:cNvSpPr>
            <a:spLocks noGrp="1"/>
          </p:cNvSpPr>
          <p:nvPr>
            <p:ph type="body" sz="quarter" idx="13"/>
          </p:nvPr>
        </p:nvSpPr>
        <p:spPr>
          <a:xfrm>
            <a:off x="0" y="3063447"/>
            <a:ext cx="4828032" cy="490538"/>
          </a:xfrm>
        </p:spPr>
        <p:txBody>
          <a:bodyPr/>
          <a:lstStyle/>
          <a:p>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Recommendations</a:t>
            </a:r>
          </a:p>
        </p:txBody>
      </p:sp>
      <p:sp>
        <p:nvSpPr>
          <p:cNvPr id="5" name="Text Placeholder 4">
            <a:extLst>
              <a:ext uri="{FF2B5EF4-FFF2-40B4-BE49-F238E27FC236}">
                <a16:creationId xmlns:a16="http://schemas.microsoft.com/office/drawing/2014/main" id="{5F841FE6-7845-9E8C-B9AF-D7FF20EB5214}"/>
              </a:ext>
            </a:extLst>
          </p:cNvPr>
          <p:cNvSpPr>
            <a:spLocks noGrp="1"/>
          </p:cNvSpPr>
          <p:nvPr>
            <p:ph type="body" sz="quarter" idx="15"/>
          </p:nvPr>
        </p:nvSpPr>
        <p:spPr>
          <a:xfrm>
            <a:off x="0" y="3442063"/>
            <a:ext cx="4828032" cy="3247882"/>
          </a:xfrm>
        </p:spPr>
        <p:txBody>
          <a:bodyPr/>
          <a:lstStyle/>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Implement AI tools to intelligently route tickets to the most qualified agents based on expertise and availability, ensuring quicker resolution and higher quality service.  </a:t>
            </a:r>
          </a:p>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AI can also prioritize tickets, helping to address </a:t>
            </a:r>
            <a:r>
              <a:rPr lang="en-US" sz="1800" dirty="0">
                <a:latin typeface="Tahoma" panose="020B0604030504040204" pitchFamily="34" charset="0"/>
                <a:ea typeface="Tahoma" panose="020B0604030504040204" pitchFamily="34" charset="0"/>
                <a:cs typeface="Tahoma" panose="020B0604030504040204" pitchFamily="34" charset="0"/>
              </a:rPr>
              <a:t>critical issues faster and more efficiently</a:t>
            </a:r>
          </a:p>
        </p:txBody>
      </p:sp>
      <p:sp>
        <p:nvSpPr>
          <p:cNvPr id="9" name="Text Placeholder 8">
            <a:extLst>
              <a:ext uri="{FF2B5EF4-FFF2-40B4-BE49-F238E27FC236}">
                <a16:creationId xmlns:a16="http://schemas.microsoft.com/office/drawing/2014/main" id="{ABEE49F4-2F8B-F120-FD73-D303BCCC3A62}"/>
              </a:ext>
            </a:extLst>
          </p:cNvPr>
          <p:cNvSpPr>
            <a:spLocks noGrp="1"/>
          </p:cNvSpPr>
          <p:nvPr>
            <p:ph type="body" sz="quarter" idx="16"/>
          </p:nvPr>
        </p:nvSpPr>
        <p:spPr/>
        <p:txBody>
          <a:bodyPr/>
          <a:lstStyle/>
          <a:p>
            <a:endParaRPr lang="en-US"/>
          </a:p>
        </p:txBody>
      </p:sp>
      <p:sp>
        <p:nvSpPr>
          <p:cNvPr id="6" name="Title 1">
            <a:extLst>
              <a:ext uri="{FF2B5EF4-FFF2-40B4-BE49-F238E27FC236}">
                <a16:creationId xmlns:a16="http://schemas.microsoft.com/office/drawing/2014/main" id="{D6DBA5C6-CE6E-9F8A-3621-3F781EE8D016}"/>
              </a:ext>
            </a:extLst>
          </p:cNvPr>
          <p:cNvSpPr txBox="1">
            <a:spLocks/>
          </p:cNvSpPr>
          <p:nvPr/>
        </p:nvSpPr>
        <p:spPr>
          <a:xfrm>
            <a:off x="1" y="329876"/>
            <a:ext cx="12191999" cy="704088"/>
          </a:xfrm>
          <a:prstGeom prst="rect">
            <a:avLst/>
          </a:prstGeom>
        </p:spPr>
        <p:txBody>
          <a:bodyPr vert="horz" lIns="91440" tIns="45720" rIns="91440" bIns="45720" rtlCol="0" anchor="t">
            <a:noAutofit/>
          </a:bodyPr>
          <a:lstStyle>
            <a:lvl1pPr algn="l" defTabSz="914400" rtl="0" eaLnBrk="1" latinLnBrk="0" hangingPunct="1">
              <a:lnSpc>
                <a:spcPct val="80000"/>
              </a:lnSpc>
              <a:spcBef>
                <a:spcPct val="0"/>
              </a:spcBef>
              <a:buNone/>
              <a:defRPr sz="5000" kern="1200" cap="all" baseline="0">
                <a:solidFill>
                  <a:schemeClr val="accent4"/>
                </a:solidFill>
                <a:latin typeface="+mj-lt"/>
                <a:ea typeface="+mj-ea"/>
                <a:cs typeface="+mj-cs"/>
              </a:defRPr>
            </a:lvl1pPr>
          </a:lstStyle>
          <a:p>
            <a:pPr algn="ctr"/>
            <a:endParaRPr lang="en-PK" sz="3200" b="1" dirty="0">
              <a:solidFill>
                <a:srgbClr val="778284"/>
              </a:solidFill>
            </a:endParaRPr>
          </a:p>
        </p:txBody>
      </p:sp>
      <p:sp>
        <p:nvSpPr>
          <p:cNvPr id="7" name="TextBox 6">
            <a:extLst>
              <a:ext uri="{FF2B5EF4-FFF2-40B4-BE49-F238E27FC236}">
                <a16:creationId xmlns:a16="http://schemas.microsoft.com/office/drawing/2014/main" id="{B5034828-6997-B957-DA23-5B0E823AC588}"/>
              </a:ext>
            </a:extLst>
          </p:cNvPr>
          <p:cNvSpPr txBox="1"/>
          <p:nvPr/>
        </p:nvSpPr>
        <p:spPr>
          <a:xfrm>
            <a:off x="109219" y="1037546"/>
            <a:ext cx="3768214" cy="1846659"/>
          </a:xfrm>
          <a:prstGeom prst="rect">
            <a:avLst/>
          </a:prstGeom>
          <a:noFill/>
        </p:spPr>
        <p:txBody>
          <a:bodyPr wrap="square" rtlCol="0">
            <a:spAutoFit/>
          </a:bodyPr>
          <a:lstStyle/>
          <a:p>
            <a:r>
              <a:rPr lang="en-IN" sz="2400" b="1" dirty="0">
                <a:latin typeface="Tahoma" panose="020B0604030504040204" pitchFamily="34" charset="0"/>
                <a:ea typeface="Tahoma" panose="020B0604030504040204" pitchFamily="34" charset="0"/>
                <a:cs typeface="Tahoma" panose="020B0604030504040204" pitchFamily="34" charset="0"/>
              </a:rPr>
              <a:t>Insights</a:t>
            </a:r>
          </a:p>
          <a:p>
            <a:pPr marL="285750" indent="-28575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The average satisfaction rates among the senior agents are much higher and the middle-aged agents have the lowest satisfaction rates</a:t>
            </a:r>
          </a:p>
        </p:txBody>
      </p:sp>
      <p:sp>
        <p:nvSpPr>
          <p:cNvPr id="8" name="TextBox 7">
            <a:extLst>
              <a:ext uri="{FF2B5EF4-FFF2-40B4-BE49-F238E27FC236}">
                <a16:creationId xmlns:a16="http://schemas.microsoft.com/office/drawing/2014/main" id="{35661D3D-953B-EA6A-576A-F9163A0EEF78}"/>
              </a:ext>
            </a:extLst>
          </p:cNvPr>
          <p:cNvSpPr txBox="1"/>
          <p:nvPr/>
        </p:nvSpPr>
        <p:spPr>
          <a:xfrm>
            <a:off x="0" y="168055"/>
            <a:ext cx="10842172" cy="861774"/>
          </a:xfrm>
          <a:prstGeom prst="rect">
            <a:avLst/>
          </a:prstGeom>
          <a:noFill/>
        </p:spPr>
        <p:txBody>
          <a:bodyPr wrap="square">
            <a:spAutoFit/>
          </a:bodyPr>
          <a:lstStyle/>
          <a:p>
            <a:pPr algn="ctr"/>
            <a:r>
              <a:rPr lang="en-US" sz="5000" cap="all" dirty="0">
                <a:solidFill>
                  <a:schemeClr val="bg1"/>
                </a:solidFill>
                <a:latin typeface="Berlin Sans FB" panose="020E0602020502020306" pitchFamily="34" charset="0"/>
                <a:ea typeface="Tahoma" panose="020B0604030504040204" pitchFamily="34" charset="0"/>
                <a:cs typeface="Tahoma" panose="020B0604030504040204" pitchFamily="34" charset="0"/>
              </a:rPr>
              <a:t>Age group by satisfaction rate </a:t>
            </a:r>
          </a:p>
        </p:txBody>
      </p:sp>
      <p:graphicFrame>
        <p:nvGraphicFramePr>
          <p:cNvPr id="4" name="Chart 3">
            <a:extLst>
              <a:ext uri="{FF2B5EF4-FFF2-40B4-BE49-F238E27FC236}">
                <a16:creationId xmlns:a16="http://schemas.microsoft.com/office/drawing/2014/main" id="{56BE41C0-B2F8-727A-E8DB-6F4F8BC4BDA4}"/>
              </a:ext>
            </a:extLst>
          </p:cNvPr>
          <p:cNvGraphicFramePr>
            <a:graphicFrameLocks/>
          </p:cNvGraphicFramePr>
          <p:nvPr>
            <p:extLst>
              <p:ext uri="{D42A27DB-BD31-4B8C-83A1-F6EECF244321}">
                <p14:modId xmlns:p14="http://schemas.microsoft.com/office/powerpoint/2010/main" val="2353869151"/>
              </p:ext>
            </p:extLst>
          </p:nvPr>
        </p:nvGraphicFramePr>
        <p:xfrm>
          <a:off x="4864098" y="1191650"/>
          <a:ext cx="6595881" cy="44992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29294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B95B64E-144A-A356-6049-A5867D4A9F30}"/>
              </a:ext>
            </a:extLst>
          </p:cNvPr>
          <p:cNvSpPr txBox="1"/>
          <p:nvPr/>
        </p:nvSpPr>
        <p:spPr>
          <a:xfrm>
            <a:off x="26974" y="79221"/>
            <a:ext cx="10389236" cy="861774"/>
          </a:xfrm>
          <a:prstGeom prst="rect">
            <a:avLst/>
          </a:prstGeom>
          <a:noFill/>
        </p:spPr>
        <p:txBody>
          <a:bodyPr wrap="square">
            <a:spAutoFit/>
          </a:bodyPr>
          <a:lstStyle/>
          <a:p>
            <a:pPr algn="ctr"/>
            <a:r>
              <a:rPr lang="en-US" sz="5000" cap="all" dirty="0">
                <a:solidFill>
                  <a:schemeClr val="bg1"/>
                </a:solidFill>
                <a:latin typeface="Berlin Sans FB" panose="020E0602020502020306" pitchFamily="34" charset="0"/>
                <a:ea typeface="Tahoma" panose="020B0604030504040204" pitchFamily="34" charset="0"/>
                <a:cs typeface="Tahoma" panose="020B0604030504040204" pitchFamily="34" charset="0"/>
              </a:rPr>
              <a:t>Age group by satisfaction rate </a:t>
            </a:r>
          </a:p>
        </p:txBody>
      </p:sp>
      <p:sp>
        <p:nvSpPr>
          <p:cNvPr id="10" name="TextBox 9">
            <a:extLst>
              <a:ext uri="{FF2B5EF4-FFF2-40B4-BE49-F238E27FC236}">
                <a16:creationId xmlns:a16="http://schemas.microsoft.com/office/drawing/2014/main" id="{B617CF08-C2E8-0BDD-51D3-200DC5064776}"/>
              </a:ext>
            </a:extLst>
          </p:cNvPr>
          <p:cNvSpPr txBox="1"/>
          <p:nvPr/>
        </p:nvSpPr>
        <p:spPr>
          <a:xfrm>
            <a:off x="0" y="1114227"/>
            <a:ext cx="4672923" cy="1384995"/>
          </a:xfrm>
          <a:prstGeom prst="rect">
            <a:avLst/>
          </a:prstGeom>
          <a:noFill/>
        </p:spPr>
        <p:txBody>
          <a:bodyPr wrap="square" rtlCol="0">
            <a:spAutoFit/>
          </a:bodyPr>
          <a:lstStyle/>
          <a:p>
            <a:r>
              <a:rPr lang="en-IN" sz="2400" b="1" dirty="0">
                <a:latin typeface="Tahoma" panose="020B0604030504040204" pitchFamily="34" charset="0"/>
                <a:ea typeface="Tahoma" panose="020B0604030504040204" pitchFamily="34" charset="0"/>
                <a:cs typeface="Tahoma" panose="020B0604030504040204" pitchFamily="34" charset="0"/>
              </a:rPr>
              <a:t>Insights</a:t>
            </a:r>
          </a:p>
          <a:p>
            <a:endParaRPr lang="en-IN" sz="2400" b="1"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Agents aged </a:t>
            </a:r>
            <a:r>
              <a:rPr lang="en-US" b="1" dirty="0">
                <a:latin typeface="Tahoma" panose="020B0604030504040204" pitchFamily="34" charset="0"/>
                <a:ea typeface="Tahoma" panose="020B0604030504040204" pitchFamily="34" charset="0"/>
                <a:cs typeface="Tahoma" panose="020B0604030504040204" pitchFamily="34" charset="0"/>
              </a:rPr>
              <a:t>35–44</a:t>
            </a:r>
            <a:r>
              <a:rPr lang="en-US" dirty="0">
                <a:latin typeface="Tahoma" panose="020B0604030504040204" pitchFamily="34" charset="0"/>
                <a:ea typeface="Tahoma" panose="020B0604030504040204" pitchFamily="34" charset="0"/>
                <a:cs typeface="Tahoma" panose="020B0604030504040204" pitchFamily="34" charset="0"/>
              </a:rPr>
              <a:t> handled the highest percentage of tickets (38%).</a:t>
            </a:r>
          </a:p>
        </p:txBody>
      </p:sp>
      <p:sp>
        <p:nvSpPr>
          <p:cNvPr id="11" name="Text Placeholder 2">
            <a:extLst>
              <a:ext uri="{FF2B5EF4-FFF2-40B4-BE49-F238E27FC236}">
                <a16:creationId xmlns:a16="http://schemas.microsoft.com/office/drawing/2014/main" id="{8719C428-D20A-B2F1-0082-2F8B57C54399}"/>
              </a:ext>
            </a:extLst>
          </p:cNvPr>
          <p:cNvSpPr>
            <a:spLocks noGrp="1"/>
          </p:cNvSpPr>
          <p:nvPr>
            <p:ph type="body" sz="quarter" idx="13"/>
          </p:nvPr>
        </p:nvSpPr>
        <p:spPr>
          <a:xfrm>
            <a:off x="26974" y="3091979"/>
            <a:ext cx="4828032" cy="490538"/>
          </a:xfrm>
        </p:spPr>
        <p:txBody>
          <a:bodyPr/>
          <a:lstStyle/>
          <a:p>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Recommendations</a:t>
            </a:r>
          </a:p>
        </p:txBody>
      </p:sp>
      <p:sp>
        <p:nvSpPr>
          <p:cNvPr id="4" name="Text Placeholder 3">
            <a:extLst>
              <a:ext uri="{FF2B5EF4-FFF2-40B4-BE49-F238E27FC236}">
                <a16:creationId xmlns:a16="http://schemas.microsoft.com/office/drawing/2014/main" id="{94B260F4-1C65-8189-E7C5-C07C636CB4C2}"/>
              </a:ext>
            </a:extLst>
          </p:cNvPr>
          <p:cNvSpPr>
            <a:spLocks noGrp="1"/>
          </p:cNvSpPr>
          <p:nvPr>
            <p:ph type="body" sz="quarter" idx="16"/>
          </p:nvPr>
        </p:nvSpPr>
        <p:spPr/>
        <p:txBody>
          <a:bodyPr/>
          <a:lstStyle/>
          <a:p>
            <a:endParaRPr lang="en-US"/>
          </a:p>
        </p:txBody>
      </p:sp>
      <p:sp>
        <p:nvSpPr>
          <p:cNvPr id="12" name="Text Placeholder 4">
            <a:extLst>
              <a:ext uri="{FF2B5EF4-FFF2-40B4-BE49-F238E27FC236}">
                <a16:creationId xmlns:a16="http://schemas.microsoft.com/office/drawing/2014/main" id="{411A217C-5C88-B32F-BEEF-13020A904FC1}"/>
              </a:ext>
            </a:extLst>
          </p:cNvPr>
          <p:cNvSpPr txBox="1">
            <a:spLocks/>
          </p:cNvSpPr>
          <p:nvPr/>
        </p:nvSpPr>
        <p:spPr>
          <a:xfrm>
            <a:off x="0" y="3628681"/>
            <a:ext cx="5310335" cy="2709643"/>
          </a:xfrm>
          <a:prstGeom prst="rect">
            <a:avLst/>
          </a:prstGeom>
        </p:spPr>
        <p:txBody>
          <a:bodyPr vert="horz" lIns="91440" tIns="45720" rIns="91440" bIns="45720" rtlCol="0">
            <a:noAutofit/>
          </a:bodyPr>
          <a:lstStyle>
            <a:lvl1pPr marL="283464" indent="-283464" algn="l" defTabSz="914400" rtl="0" eaLnBrk="1" latinLnBrk="0" hangingPunct="1">
              <a:lnSpc>
                <a:spcPct val="150000"/>
              </a:lnSpc>
              <a:spcBef>
                <a:spcPts val="0"/>
              </a:spcBef>
              <a:buFont typeface="Arial" panose="020B0604020202020204" pitchFamily="34" charset="0"/>
              <a:buChar char="•"/>
              <a:defRPr sz="1600" kern="1200">
                <a:solidFill>
                  <a:schemeClr val="accent5"/>
                </a:solidFill>
                <a:latin typeface="+mn-lt"/>
                <a:ea typeface="+mn-ea"/>
                <a:cs typeface="+mn-cs"/>
              </a:defRPr>
            </a:lvl1pPr>
            <a:lvl2pPr marL="685800" indent="-283464" algn="l" defTabSz="914400" rtl="0" eaLnBrk="1" latinLnBrk="0" hangingPunct="1">
              <a:lnSpc>
                <a:spcPct val="150000"/>
              </a:lnSpc>
              <a:spcBef>
                <a:spcPts val="0"/>
              </a:spcBef>
              <a:buFont typeface="Arial" panose="020B0604020202020204" pitchFamily="34" charset="0"/>
              <a:buChar char="•"/>
              <a:defRPr sz="1600" kern="1200">
                <a:solidFill>
                  <a:schemeClr val="accent5"/>
                </a:solidFill>
                <a:latin typeface="+mn-lt"/>
                <a:ea typeface="+mn-ea"/>
                <a:cs typeface="+mn-cs"/>
              </a:defRPr>
            </a:lvl2pPr>
            <a:lvl3pPr marL="1143000" indent="-283464" algn="l" defTabSz="914400" rtl="0" eaLnBrk="1" latinLnBrk="0" hangingPunct="1">
              <a:lnSpc>
                <a:spcPct val="150000"/>
              </a:lnSpc>
              <a:spcBef>
                <a:spcPts val="0"/>
              </a:spcBef>
              <a:buFont typeface="Arial" panose="020B0604020202020204" pitchFamily="34" charset="0"/>
              <a:buChar char="•"/>
              <a:defRPr sz="1600" kern="1200">
                <a:solidFill>
                  <a:schemeClr val="accent5"/>
                </a:solidFill>
                <a:latin typeface="+mn-lt"/>
                <a:ea typeface="+mn-ea"/>
                <a:cs typeface="+mn-cs"/>
              </a:defRPr>
            </a:lvl3pPr>
            <a:lvl4pPr marL="1600200" indent="-283464" algn="l" defTabSz="914400" rtl="0" eaLnBrk="1" latinLnBrk="0" hangingPunct="1">
              <a:lnSpc>
                <a:spcPct val="150000"/>
              </a:lnSpc>
              <a:spcBef>
                <a:spcPts val="0"/>
              </a:spcBef>
              <a:buFont typeface="Arial" panose="020B0604020202020204" pitchFamily="34" charset="0"/>
              <a:buChar char="•"/>
              <a:defRPr sz="1600" kern="1200">
                <a:solidFill>
                  <a:schemeClr val="accent5"/>
                </a:solidFill>
                <a:latin typeface="+mn-lt"/>
                <a:ea typeface="+mn-ea"/>
                <a:cs typeface="+mn-cs"/>
              </a:defRPr>
            </a:lvl4pPr>
            <a:lvl5pPr marL="2057400" indent="-283464" algn="l" defTabSz="914400" rtl="0" eaLnBrk="1" latinLnBrk="0" hangingPunct="1">
              <a:lnSpc>
                <a:spcPct val="150000"/>
              </a:lnSpc>
              <a:spcBef>
                <a:spcPts val="0"/>
              </a:spcBef>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Consider retaining and upskilling the 35–44 age group, as they form the core of the ticket resolution workforce.</a:t>
            </a:r>
          </a:p>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Encourage knowledge sharing from the experienced 35–44 age group to younger agents to balance performance across age groups.</a:t>
            </a:r>
          </a:p>
        </p:txBody>
      </p:sp>
      <p:graphicFrame>
        <p:nvGraphicFramePr>
          <p:cNvPr id="13" name="Chart 12">
            <a:extLst>
              <a:ext uri="{FF2B5EF4-FFF2-40B4-BE49-F238E27FC236}">
                <a16:creationId xmlns:a16="http://schemas.microsoft.com/office/drawing/2014/main" id="{127DD1B7-5ECB-CB93-2413-575699B35A97}"/>
              </a:ext>
            </a:extLst>
          </p:cNvPr>
          <p:cNvGraphicFramePr>
            <a:graphicFrameLocks/>
          </p:cNvGraphicFramePr>
          <p:nvPr>
            <p:extLst>
              <p:ext uri="{D42A27DB-BD31-4B8C-83A1-F6EECF244321}">
                <p14:modId xmlns:p14="http://schemas.microsoft.com/office/powerpoint/2010/main" val="3575743080"/>
              </p:ext>
            </p:extLst>
          </p:nvPr>
        </p:nvGraphicFramePr>
        <p:xfrm>
          <a:off x="5475041" y="1099723"/>
          <a:ext cx="5986196" cy="47480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92458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157AE-B4E1-0F1F-1324-D811D5B44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3DD5D5-F484-7007-FBAA-E6B99DB151E9}"/>
              </a:ext>
            </a:extLst>
          </p:cNvPr>
          <p:cNvSpPr>
            <a:spLocks noGrp="1"/>
          </p:cNvSpPr>
          <p:nvPr>
            <p:ph type="title"/>
          </p:nvPr>
        </p:nvSpPr>
        <p:spPr/>
        <p:txBody>
          <a:bodyPr/>
          <a:lstStyle/>
          <a:p>
            <a:r>
              <a:rPr lang="en-IN" sz="2900" dirty="0">
                <a:solidFill>
                  <a:schemeClr val="accent6">
                    <a:lumMod val="50000"/>
                  </a:schemeClr>
                </a:solidFill>
              </a:rPr>
              <a:t> </a:t>
            </a:r>
            <a:endParaRPr lang="en-US" sz="2900" dirty="0">
              <a:solidFill>
                <a:schemeClr val="accent6">
                  <a:lumMod val="50000"/>
                </a:schemeClr>
              </a:solidFill>
            </a:endParaRPr>
          </a:p>
        </p:txBody>
      </p:sp>
      <p:sp>
        <p:nvSpPr>
          <p:cNvPr id="3" name="Text Placeholder 2">
            <a:extLst>
              <a:ext uri="{FF2B5EF4-FFF2-40B4-BE49-F238E27FC236}">
                <a16:creationId xmlns:a16="http://schemas.microsoft.com/office/drawing/2014/main" id="{0E459769-0527-2B8E-83CE-B3B5F4FD0018}"/>
              </a:ext>
            </a:extLst>
          </p:cNvPr>
          <p:cNvSpPr>
            <a:spLocks noGrp="1"/>
          </p:cNvSpPr>
          <p:nvPr>
            <p:ph type="body" sz="quarter" idx="13"/>
          </p:nvPr>
        </p:nvSpPr>
        <p:spPr>
          <a:xfrm>
            <a:off x="-45436" y="3029077"/>
            <a:ext cx="4828032" cy="490538"/>
          </a:xfrm>
        </p:spPr>
        <p:txBody>
          <a:bodyPr/>
          <a:lstStyle/>
          <a:p>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Recommendations</a:t>
            </a:r>
          </a:p>
        </p:txBody>
      </p:sp>
      <p:sp>
        <p:nvSpPr>
          <p:cNvPr id="5" name="Text Placeholder 4">
            <a:extLst>
              <a:ext uri="{FF2B5EF4-FFF2-40B4-BE49-F238E27FC236}">
                <a16:creationId xmlns:a16="http://schemas.microsoft.com/office/drawing/2014/main" id="{C78D08E3-2B62-5663-2033-BAAF9B47A6C7}"/>
              </a:ext>
            </a:extLst>
          </p:cNvPr>
          <p:cNvSpPr>
            <a:spLocks noGrp="1"/>
          </p:cNvSpPr>
          <p:nvPr>
            <p:ph type="body" sz="quarter" idx="15"/>
          </p:nvPr>
        </p:nvSpPr>
        <p:spPr>
          <a:xfrm>
            <a:off x="-45436" y="3446537"/>
            <a:ext cx="5322317" cy="3411463"/>
          </a:xfrm>
        </p:spPr>
        <p:txBody>
          <a:bodyPr/>
          <a:lstStyle/>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Use Analytics to Predict Demand and Adjust Staffing:</a:t>
            </a:r>
          </a:p>
          <a:p>
            <a:r>
              <a:rPr lang="en-US" sz="1800" dirty="0">
                <a:solidFill>
                  <a:schemeClr val="tx1"/>
                </a:solidFill>
                <a:latin typeface="Tahoma" panose="020B0604030504040204" pitchFamily="34" charset="0"/>
                <a:ea typeface="Tahoma" panose="020B0604030504040204" pitchFamily="34" charset="0"/>
                <a:cs typeface="Tahoma" panose="020B0604030504040204" pitchFamily="34" charset="0"/>
              </a:rPr>
              <a:t>Analytics tools can forecast ticket trends, allowing for proactive staffing adjustments during peak times. This ensures the right number of agents are available, optimizing efficiency and preventing both overstaffing and understaffing, </a:t>
            </a:r>
            <a:r>
              <a:rPr lang="en-US" sz="1800" dirty="0">
                <a:latin typeface="Tahoma" panose="020B0604030504040204" pitchFamily="34" charset="0"/>
                <a:ea typeface="Tahoma" panose="020B0604030504040204" pitchFamily="34" charset="0"/>
                <a:cs typeface="Tahoma" panose="020B0604030504040204" pitchFamily="34" charset="0"/>
              </a:rPr>
              <a:t>issues faster and more efficiently</a:t>
            </a:r>
          </a:p>
        </p:txBody>
      </p:sp>
      <p:sp>
        <p:nvSpPr>
          <p:cNvPr id="4" name="Text Placeholder 3">
            <a:extLst>
              <a:ext uri="{FF2B5EF4-FFF2-40B4-BE49-F238E27FC236}">
                <a16:creationId xmlns:a16="http://schemas.microsoft.com/office/drawing/2014/main" id="{A79E10A1-F421-480C-0C07-5E1AE20A0AC3}"/>
              </a:ext>
            </a:extLst>
          </p:cNvPr>
          <p:cNvSpPr>
            <a:spLocks noGrp="1"/>
          </p:cNvSpPr>
          <p:nvPr>
            <p:ph type="body" sz="quarter" idx="16"/>
          </p:nvPr>
        </p:nvSpPr>
        <p:spPr/>
        <p:txBody>
          <a:bodyPr/>
          <a:lstStyle/>
          <a:p>
            <a:endParaRPr lang="en-US"/>
          </a:p>
        </p:txBody>
      </p:sp>
      <p:sp>
        <p:nvSpPr>
          <p:cNvPr id="6" name="Title 1">
            <a:extLst>
              <a:ext uri="{FF2B5EF4-FFF2-40B4-BE49-F238E27FC236}">
                <a16:creationId xmlns:a16="http://schemas.microsoft.com/office/drawing/2014/main" id="{6EE7D12E-5420-1A28-5EFB-5769721304A9}"/>
              </a:ext>
            </a:extLst>
          </p:cNvPr>
          <p:cNvSpPr txBox="1">
            <a:spLocks/>
          </p:cNvSpPr>
          <p:nvPr/>
        </p:nvSpPr>
        <p:spPr>
          <a:xfrm>
            <a:off x="1" y="329876"/>
            <a:ext cx="12191999" cy="704088"/>
          </a:xfrm>
          <a:prstGeom prst="rect">
            <a:avLst/>
          </a:prstGeom>
        </p:spPr>
        <p:txBody>
          <a:bodyPr vert="horz" lIns="91440" tIns="45720" rIns="91440" bIns="45720" rtlCol="0" anchor="t">
            <a:noAutofit/>
          </a:bodyPr>
          <a:lstStyle>
            <a:lvl1pPr algn="l" defTabSz="914400" rtl="0" eaLnBrk="1" latinLnBrk="0" hangingPunct="1">
              <a:lnSpc>
                <a:spcPct val="80000"/>
              </a:lnSpc>
              <a:spcBef>
                <a:spcPct val="0"/>
              </a:spcBef>
              <a:buNone/>
              <a:defRPr sz="5000" kern="1200" cap="all" baseline="0">
                <a:solidFill>
                  <a:schemeClr val="accent4"/>
                </a:solidFill>
                <a:latin typeface="+mj-lt"/>
                <a:ea typeface="+mj-ea"/>
                <a:cs typeface="+mj-cs"/>
              </a:defRPr>
            </a:lvl1pPr>
          </a:lstStyle>
          <a:p>
            <a:pPr algn="ctr"/>
            <a:endParaRPr lang="en-PK" sz="3200" b="1" dirty="0">
              <a:solidFill>
                <a:srgbClr val="778284"/>
              </a:solidFill>
            </a:endParaRPr>
          </a:p>
        </p:txBody>
      </p:sp>
      <p:sp>
        <p:nvSpPr>
          <p:cNvPr id="7" name="TextBox 6">
            <a:extLst>
              <a:ext uri="{FF2B5EF4-FFF2-40B4-BE49-F238E27FC236}">
                <a16:creationId xmlns:a16="http://schemas.microsoft.com/office/drawing/2014/main" id="{02F9A9E4-4CC7-2EB9-52B3-60E2C57A2C9A}"/>
              </a:ext>
            </a:extLst>
          </p:cNvPr>
          <p:cNvSpPr txBox="1"/>
          <p:nvPr/>
        </p:nvSpPr>
        <p:spPr>
          <a:xfrm>
            <a:off x="109219" y="1037546"/>
            <a:ext cx="3974344" cy="1661993"/>
          </a:xfrm>
          <a:prstGeom prst="rect">
            <a:avLst/>
          </a:prstGeom>
          <a:noFill/>
        </p:spPr>
        <p:txBody>
          <a:bodyPr wrap="square" rtlCol="0">
            <a:spAutoFit/>
          </a:bodyPr>
          <a:lstStyle/>
          <a:p>
            <a:r>
              <a:rPr lang="en-IN" sz="2400" b="1" dirty="0">
                <a:latin typeface="Tahoma" panose="020B0604030504040204" pitchFamily="34" charset="0"/>
                <a:ea typeface="Tahoma" panose="020B0604030504040204" pitchFamily="34" charset="0"/>
                <a:cs typeface="Tahoma" panose="020B0604030504040204" pitchFamily="34" charset="0"/>
              </a:rPr>
              <a:t>Insights</a:t>
            </a:r>
          </a:p>
          <a:p>
            <a:endParaRPr lang="en-IN" sz="2400" b="1"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Most of the tickets received from the IT agents have a severity rating of two </a:t>
            </a:r>
          </a:p>
        </p:txBody>
      </p:sp>
      <p:sp>
        <p:nvSpPr>
          <p:cNvPr id="8" name="TextBox 7">
            <a:extLst>
              <a:ext uri="{FF2B5EF4-FFF2-40B4-BE49-F238E27FC236}">
                <a16:creationId xmlns:a16="http://schemas.microsoft.com/office/drawing/2014/main" id="{FFDB202F-E601-16AA-CA3E-21E6B4F92FCA}"/>
              </a:ext>
            </a:extLst>
          </p:cNvPr>
          <p:cNvSpPr txBox="1"/>
          <p:nvPr/>
        </p:nvSpPr>
        <p:spPr>
          <a:xfrm>
            <a:off x="0" y="17537"/>
            <a:ext cx="7394714" cy="861774"/>
          </a:xfrm>
          <a:prstGeom prst="rect">
            <a:avLst/>
          </a:prstGeom>
          <a:noFill/>
        </p:spPr>
        <p:txBody>
          <a:bodyPr wrap="square">
            <a:spAutoFit/>
          </a:bodyPr>
          <a:lstStyle/>
          <a:p>
            <a:pPr algn="ctr"/>
            <a:r>
              <a:rPr lang="en-US" sz="5000" cap="all" dirty="0">
                <a:solidFill>
                  <a:schemeClr val="bg1"/>
                </a:solidFill>
                <a:latin typeface="Berlin Sans FB" panose="020E0602020502020306" pitchFamily="34" charset="0"/>
                <a:ea typeface="Tahoma" panose="020B0604030504040204" pitchFamily="34" charset="0"/>
                <a:cs typeface="Tahoma" panose="020B0604030504040204" pitchFamily="34" charset="0"/>
              </a:rPr>
              <a:t>Ticket by severity rate</a:t>
            </a:r>
          </a:p>
        </p:txBody>
      </p:sp>
      <p:graphicFrame>
        <p:nvGraphicFramePr>
          <p:cNvPr id="9" name="Chart 8">
            <a:extLst>
              <a:ext uri="{FF2B5EF4-FFF2-40B4-BE49-F238E27FC236}">
                <a16:creationId xmlns:a16="http://schemas.microsoft.com/office/drawing/2014/main" id="{840ACB5B-4419-BFD3-6F63-79D71F3595DA}"/>
              </a:ext>
            </a:extLst>
          </p:cNvPr>
          <p:cNvGraphicFramePr>
            <a:graphicFrameLocks/>
          </p:cNvGraphicFramePr>
          <p:nvPr>
            <p:extLst>
              <p:ext uri="{D42A27DB-BD31-4B8C-83A1-F6EECF244321}">
                <p14:modId xmlns:p14="http://schemas.microsoft.com/office/powerpoint/2010/main" val="1951956100"/>
              </p:ext>
            </p:extLst>
          </p:nvPr>
        </p:nvGraphicFramePr>
        <p:xfrm>
          <a:off x="5276881" y="1101749"/>
          <a:ext cx="6291128" cy="47367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49883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C747D-8EA1-4E4D-C9A7-CF4080932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9F2D1-7AB0-691D-ACE3-39AEC6D9454F}"/>
              </a:ext>
            </a:extLst>
          </p:cNvPr>
          <p:cNvSpPr>
            <a:spLocks noGrp="1"/>
          </p:cNvSpPr>
          <p:nvPr>
            <p:ph type="title"/>
          </p:nvPr>
        </p:nvSpPr>
        <p:spPr/>
        <p:txBody>
          <a:bodyPr/>
          <a:lstStyle/>
          <a:p>
            <a:r>
              <a:rPr lang="en-IN" sz="2900" dirty="0">
                <a:solidFill>
                  <a:schemeClr val="accent6">
                    <a:lumMod val="50000"/>
                  </a:schemeClr>
                </a:solidFill>
              </a:rPr>
              <a:t> </a:t>
            </a:r>
            <a:endParaRPr lang="en-US" sz="2900" dirty="0">
              <a:solidFill>
                <a:schemeClr val="accent6">
                  <a:lumMod val="50000"/>
                </a:schemeClr>
              </a:solidFill>
            </a:endParaRPr>
          </a:p>
        </p:txBody>
      </p:sp>
      <p:sp>
        <p:nvSpPr>
          <p:cNvPr id="3" name="Text Placeholder 2">
            <a:extLst>
              <a:ext uri="{FF2B5EF4-FFF2-40B4-BE49-F238E27FC236}">
                <a16:creationId xmlns:a16="http://schemas.microsoft.com/office/drawing/2014/main" id="{F37A3E79-CFB3-CDDC-E4F5-258DD840F66A}"/>
              </a:ext>
            </a:extLst>
          </p:cNvPr>
          <p:cNvSpPr>
            <a:spLocks noGrp="1"/>
          </p:cNvSpPr>
          <p:nvPr>
            <p:ph type="body" sz="quarter" idx="13"/>
          </p:nvPr>
        </p:nvSpPr>
        <p:spPr>
          <a:xfrm>
            <a:off x="-17997" y="3044481"/>
            <a:ext cx="4828032" cy="490538"/>
          </a:xfrm>
        </p:spPr>
        <p:txBody>
          <a:bodyPr/>
          <a:lstStyle/>
          <a:p>
            <a:r>
              <a:rPr lang="en-US" sz="2400" dirty="0">
                <a:solidFill>
                  <a:schemeClr val="tx1"/>
                </a:solidFill>
                <a:latin typeface="Tahoma" panose="020B0604030504040204" pitchFamily="34" charset="0"/>
                <a:ea typeface="Tahoma" panose="020B0604030504040204" pitchFamily="34" charset="0"/>
                <a:cs typeface="Tahoma" panose="020B0604030504040204" pitchFamily="34" charset="0"/>
              </a:rPr>
              <a:t>Recommendations</a:t>
            </a:r>
          </a:p>
        </p:txBody>
      </p:sp>
      <p:sp>
        <p:nvSpPr>
          <p:cNvPr id="5" name="Text Placeholder 4">
            <a:extLst>
              <a:ext uri="{FF2B5EF4-FFF2-40B4-BE49-F238E27FC236}">
                <a16:creationId xmlns:a16="http://schemas.microsoft.com/office/drawing/2014/main" id="{967C3436-1030-A8F9-AF5E-EAE192D198BE}"/>
              </a:ext>
            </a:extLst>
          </p:cNvPr>
          <p:cNvSpPr>
            <a:spLocks noGrp="1"/>
          </p:cNvSpPr>
          <p:nvPr>
            <p:ph type="body" sz="quarter" idx="15"/>
          </p:nvPr>
        </p:nvSpPr>
        <p:spPr>
          <a:xfrm>
            <a:off x="-17997" y="3322509"/>
            <a:ext cx="5691821" cy="3502551"/>
          </a:xfrm>
        </p:spPr>
        <p:txBody>
          <a:bodyPr/>
          <a:lstStyle/>
          <a:p>
            <a:r>
              <a:rPr lang="en-US" sz="1700" dirty="0">
                <a:solidFill>
                  <a:schemeClr val="tx1"/>
                </a:solidFill>
                <a:latin typeface="Tahoma" panose="020B0604030504040204" pitchFamily="34" charset="0"/>
                <a:ea typeface="Tahoma" panose="020B0604030504040204" pitchFamily="34" charset="0"/>
                <a:cs typeface="Tahoma" panose="020B0604030504040204" pitchFamily="34" charset="0"/>
              </a:rPr>
              <a:t>Reducing agent workload stress by automating repetitive tasks, such as ticket categorization, allows agents to focus on more complex issues, improving job satisfaction. </a:t>
            </a:r>
            <a:br>
              <a:rPr lang="en-US" sz="1700" dirty="0">
                <a:solidFill>
                  <a:schemeClr val="tx1"/>
                </a:solidFill>
                <a:latin typeface="Tahoma" panose="020B0604030504040204" pitchFamily="34" charset="0"/>
                <a:ea typeface="Tahoma" panose="020B0604030504040204" pitchFamily="34" charset="0"/>
                <a:cs typeface="Tahoma" panose="020B0604030504040204" pitchFamily="34" charset="0"/>
              </a:rPr>
            </a:br>
            <a:r>
              <a:rPr lang="en-US" sz="1700" dirty="0">
                <a:solidFill>
                  <a:schemeClr val="tx1"/>
                </a:solidFill>
                <a:latin typeface="Tahoma" panose="020B0604030504040204" pitchFamily="34" charset="0"/>
                <a:ea typeface="Tahoma" panose="020B0604030504040204" pitchFamily="34" charset="0"/>
                <a:cs typeface="Tahoma" panose="020B0604030504040204" pitchFamily="34" charset="0"/>
              </a:rPr>
              <a:t>Prioritizing faster resolution of critical tickets also enhances service delivery, boosting both employee morale and customer satisfaction. Efficient workflows lead to a more productive and satisfied team, benefiting everyone, </a:t>
            </a:r>
            <a:r>
              <a:rPr lang="en-US" sz="1700" dirty="0">
                <a:latin typeface="Tahoma" panose="020B0604030504040204" pitchFamily="34" charset="0"/>
                <a:ea typeface="Tahoma" panose="020B0604030504040204" pitchFamily="34" charset="0"/>
                <a:cs typeface="Tahoma" panose="020B0604030504040204" pitchFamily="34" charset="0"/>
              </a:rPr>
              <a:t>issues faster and more efficiently.</a:t>
            </a:r>
          </a:p>
        </p:txBody>
      </p:sp>
      <p:sp>
        <p:nvSpPr>
          <p:cNvPr id="9" name="Text Placeholder 8">
            <a:extLst>
              <a:ext uri="{FF2B5EF4-FFF2-40B4-BE49-F238E27FC236}">
                <a16:creationId xmlns:a16="http://schemas.microsoft.com/office/drawing/2014/main" id="{FE450C31-C0D9-5227-2DA5-22F36A91F1D6}"/>
              </a:ext>
            </a:extLst>
          </p:cNvPr>
          <p:cNvSpPr>
            <a:spLocks noGrp="1"/>
          </p:cNvSpPr>
          <p:nvPr>
            <p:ph type="body" sz="quarter" idx="16"/>
          </p:nvPr>
        </p:nvSpPr>
        <p:spPr/>
        <p:txBody>
          <a:bodyPr/>
          <a:lstStyle/>
          <a:p>
            <a:endParaRPr lang="en-US"/>
          </a:p>
        </p:txBody>
      </p:sp>
      <p:sp>
        <p:nvSpPr>
          <p:cNvPr id="6" name="Title 1">
            <a:extLst>
              <a:ext uri="{FF2B5EF4-FFF2-40B4-BE49-F238E27FC236}">
                <a16:creationId xmlns:a16="http://schemas.microsoft.com/office/drawing/2014/main" id="{57C0B9F1-EC91-00F3-E13C-A53EE107C5B3}"/>
              </a:ext>
            </a:extLst>
          </p:cNvPr>
          <p:cNvSpPr txBox="1">
            <a:spLocks/>
          </p:cNvSpPr>
          <p:nvPr/>
        </p:nvSpPr>
        <p:spPr>
          <a:xfrm>
            <a:off x="1" y="329876"/>
            <a:ext cx="12191999" cy="704088"/>
          </a:xfrm>
          <a:prstGeom prst="rect">
            <a:avLst/>
          </a:prstGeom>
        </p:spPr>
        <p:txBody>
          <a:bodyPr vert="horz" lIns="91440" tIns="45720" rIns="91440" bIns="45720" rtlCol="0" anchor="t">
            <a:noAutofit/>
          </a:bodyPr>
          <a:lstStyle>
            <a:lvl1pPr algn="l" defTabSz="914400" rtl="0" eaLnBrk="1" latinLnBrk="0" hangingPunct="1">
              <a:lnSpc>
                <a:spcPct val="80000"/>
              </a:lnSpc>
              <a:spcBef>
                <a:spcPct val="0"/>
              </a:spcBef>
              <a:buNone/>
              <a:defRPr sz="5000" kern="1200" cap="all" baseline="0">
                <a:solidFill>
                  <a:schemeClr val="accent4"/>
                </a:solidFill>
                <a:latin typeface="+mj-lt"/>
                <a:ea typeface="+mj-ea"/>
                <a:cs typeface="+mj-cs"/>
              </a:defRPr>
            </a:lvl1pPr>
          </a:lstStyle>
          <a:p>
            <a:pPr algn="ctr"/>
            <a:endParaRPr lang="en-PK" sz="3200" b="1" dirty="0">
              <a:solidFill>
                <a:srgbClr val="778284"/>
              </a:solidFill>
            </a:endParaRPr>
          </a:p>
        </p:txBody>
      </p:sp>
      <p:sp>
        <p:nvSpPr>
          <p:cNvPr id="7" name="TextBox 6">
            <a:extLst>
              <a:ext uri="{FF2B5EF4-FFF2-40B4-BE49-F238E27FC236}">
                <a16:creationId xmlns:a16="http://schemas.microsoft.com/office/drawing/2014/main" id="{B471A2EC-30FB-9057-60EF-9DAAC67795CF}"/>
              </a:ext>
            </a:extLst>
          </p:cNvPr>
          <p:cNvSpPr txBox="1"/>
          <p:nvPr/>
        </p:nvSpPr>
        <p:spPr>
          <a:xfrm>
            <a:off x="109218" y="1037546"/>
            <a:ext cx="4828030" cy="1384995"/>
          </a:xfrm>
          <a:prstGeom prst="rect">
            <a:avLst/>
          </a:prstGeom>
          <a:noFill/>
        </p:spPr>
        <p:txBody>
          <a:bodyPr wrap="square" rtlCol="0">
            <a:spAutoFit/>
          </a:bodyPr>
          <a:lstStyle/>
          <a:p>
            <a:r>
              <a:rPr lang="en-IN" sz="2400" b="1" dirty="0">
                <a:latin typeface="Tahoma" panose="020B0604030504040204" pitchFamily="34" charset="0"/>
                <a:ea typeface="Tahoma" panose="020B0604030504040204" pitchFamily="34" charset="0"/>
                <a:cs typeface="Tahoma" panose="020B0604030504040204" pitchFamily="34" charset="0"/>
              </a:rPr>
              <a:t>Insights</a:t>
            </a:r>
          </a:p>
          <a:p>
            <a:endParaRPr lang="en-IN" sz="2400" b="1"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n-US" dirty="0">
                <a:latin typeface="Tahoma" panose="020B0604030504040204" pitchFamily="34" charset="0"/>
                <a:ea typeface="Tahoma" panose="020B0604030504040204" pitchFamily="34" charset="0"/>
                <a:cs typeface="Tahoma" panose="020B0604030504040204" pitchFamily="34" charset="0"/>
              </a:rPr>
              <a:t>Most of the tickets have a Priority rating of 3, which is the maximum rating.</a:t>
            </a:r>
          </a:p>
        </p:txBody>
      </p:sp>
      <p:sp>
        <p:nvSpPr>
          <p:cNvPr id="8" name="TextBox 7">
            <a:extLst>
              <a:ext uri="{FF2B5EF4-FFF2-40B4-BE49-F238E27FC236}">
                <a16:creationId xmlns:a16="http://schemas.microsoft.com/office/drawing/2014/main" id="{6818D069-C0F9-F868-7772-9D78AC694420}"/>
              </a:ext>
            </a:extLst>
          </p:cNvPr>
          <p:cNvSpPr txBox="1"/>
          <p:nvPr/>
        </p:nvSpPr>
        <p:spPr>
          <a:xfrm>
            <a:off x="-17996" y="32940"/>
            <a:ext cx="5850846" cy="861774"/>
          </a:xfrm>
          <a:prstGeom prst="rect">
            <a:avLst/>
          </a:prstGeom>
          <a:noFill/>
        </p:spPr>
        <p:txBody>
          <a:bodyPr wrap="square">
            <a:spAutoFit/>
          </a:bodyPr>
          <a:lstStyle/>
          <a:p>
            <a:pPr algn="ctr"/>
            <a:r>
              <a:rPr lang="en-US" sz="5000" cap="all" dirty="0">
                <a:solidFill>
                  <a:schemeClr val="bg1"/>
                </a:solidFill>
                <a:latin typeface="Berlin Sans FB" panose="020E0602020502020306" pitchFamily="34" charset="0"/>
                <a:ea typeface="Tahoma" panose="020B0604030504040204" pitchFamily="34" charset="0"/>
                <a:cs typeface="Tahoma" panose="020B0604030504040204" pitchFamily="34" charset="0"/>
              </a:rPr>
              <a:t>Ticket by priority </a:t>
            </a:r>
          </a:p>
        </p:txBody>
      </p:sp>
      <p:graphicFrame>
        <p:nvGraphicFramePr>
          <p:cNvPr id="4" name="Chart 3">
            <a:extLst>
              <a:ext uri="{FF2B5EF4-FFF2-40B4-BE49-F238E27FC236}">
                <a16:creationId xmlns:a16="http://schemas.microsoft.com/office/drawing/2014/main" id="{1B592AF3-3C05-9012-F182-2A6C4200478A}"/>
              </a:ext>
            </a:extLst>
          </p:cNvPr>
          <p:cNvGraphicFramePr>
            <a:graphicFrameLocks/>
          </p:cNvGraphicFramePr>
          <p:nvPr>
            <p:extLst>
              <p:ext uri="{D42A27DB-BD31-4B8C-83A1-F6EECF244321}">
                <p14:modId xmlns:p14="http://schemas.microsoft.com/office/powerpoint/2010/main" val="820975807"/>
              </p:ext>
            </p:extLst>
          </p:nvPr>
        </p:nvGraphicFramePr>
        <p:xfrm>
          <a:off x="5481572" y="1119928"/>
          <a:ext cx="5947672" cy="441924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04160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2C4D-3F97-1652-3A4A-C989986D9B65}"/>
              </a:ext>
            </a:extLst>
          </p:cNvPr>
          <p:cNvSpPr>
            <a:spLocks noGrp="1"/>
          </p:cNvSpPr>
          <p:nvPr>
            <p:ph type="title"/>
          </p:nvPr>
        </p:nvSpPr>
        <p:spPr/>
        <p:txBody>
          <a:bodyPr/>
          <a:lstStyle/>
          <a:p>
            <a:r>
              <a:rPr lang="en-IN" dirty="0">
                <a:latin typeface="Berlin Sans FB" panose="020E0602020502020306" pitchFamily="34" charset="0"/>
                <a:ea typeface="Tahoma" panose="020B0604030504040204" pitchFamily="34" charset="0"/>
                <a:cs typeface="Tahoma" panose="020B0604030504040204" pitchFamily="34" charset="0"/>
              </a:rPr>
              <a:t>Recommendations </a:t>
            </a:r>
            <a:endParaRPr lang="en-US" dirty="0">
              <a:latin typeface="Berlin Sans FB" panose="020E0602020502020306" pitchFamily="34" charset="0"/>
              <a:ea typeface="Tahoma" panose="020B0604030504040204" pitchFamily="34" charset="0"/>
              <a:cs typeface="Tahoma" panose="020B0604030504040204" pitchFamily="34" charset="0"/>
            </a:endParaRPr>
          </a:p>
        </p:txBody>
      </p:sp>
      <p:sp>
        <p:nvSpPr>
          <p:cNvPr id="3" name="Text Placeholder 2">
            <a:extLst>
              <a:ext uri="{FF2B5EF4-FFF2-40B4-BE49-F238E27FC236}">
                <a16:creationId xmlns:a16="http://schemas.microsoft.com/office/drawing/2014/main" id="{B9136911-B582-CB5C-914D-58A0AE6AB75A}"/>
              </a:ext>
            </a:extLst>
          </p:cNvPr>
          <p:cNvSpPr>
            <a:spLocks noGrp="1"/>
          </p:cNvSpPr>
          <p:nvPr>
            <p:ph type="body" sz="quarter" idx="13"/>
          </p:nvPr>
        </p:nvSpPr>
        <p:spPr>
          <a:xfrm>
            <a:off x="356616" y="2971800"/>
            <a:ext cx="4828032" cy="490538"/>
          </a:xfrm>
        </p:spPr>
        <p:txBody>
          <a:bodyPr/>
          <a:lstStyle/>
          <a:p>
            <a:r>
              <a:rPr lang="en-US" sz="2400" dirty="0">
                <a:latin typeface="Tahoma" panose="020B0604030504040204" pitchFamily="34" charset="0"/>
                <a:ea typeface="Tahoma" panose="020B0604030504040204" pitchFamily="34" charset="0"/>
                <a:cs typeface="Tahoma" panose="020B0604030504040204" pitchFamily="34" charset="0"/>
              </a:rPr>
              <a:t>Upgrade Hardware</a:t>
            </a:r>
            <a:endParaRPr lang="en-PK" dirty="0">
              <a:latin typeface="Tahoma" panose="020B0604030504040204" pitchFamily="34" charset="0"/>
              <a:ea typeface="Tahoma" panose="020B0604030504040204" pitchFamily="34" charset="0"/>
              <a:cs typeface="Tahoma" panose="020B0604030504040204" pitchFamily="34" charset="0"/>
            </a:endParaRPr>
          </a:p>
        </p:txBody>
      </p:sp>
      <p:sp>
        <p:nvSpPr>
          <p:cNvPr id="4" name="Text Placeholder 3">
            <a:extLst>
              <a:ext uri="{FF2B5EF4-FFF2-40B4-BE49-F238E27FC236}">
                <a16:creationId xmlns:a16="http://schemas.microsoft.com/office/drawing/2014/main" id="{5AB49C3E-AD51-081C-CB26-BA65EB17C0A7}"/>
              </a:ext>
            </a:extLst>
          </p:cNvPr>
          <p:cNvSpPr>
            <a:spLocks noGrp="1"/>
          </p:cNvSpPr>
          <p:nvPr>
            <p:ph type="body" sz="quarter" idx="14"/>
          </p:nvPr>
        </p:nvSpPr>
        <p:spPr>
          <a:xfrm>
            <a:off x="5997669" y="2971800"/>
            <a:ext cx="4828032" cy="490538"/>
          </a:xfrm>
        </p:spPr>
        <p:txBody>
          <a:bodyPr/>
          <a:lstStyle/>
          <a:p>
            <a:r>
              <a:rPr lang="en-US" sz="2400" dirty="0">
                <a:latin typeface="Tahoma" panose="020B0604030504040204" pitchFamily="34" charset="0"/>
                <a:ea typeface="Tahoma" panose="020B0604030504040204" pitchFamily="34" charset="0"/>
                <a:cs typeface="Tahoma" panose="020B0604030504040204" pitchFamily="34" charset="0"/>
              </a:rPr>
              <a:t>Adopt Advanced Software</a:t>
            </a:r>
            <a:endParaRPr lang="en-PK" dirty="0">
              <a:latin typeface="Tahoma" panose="020B0604030504040204" pitchFamily="34" charset="0"/>
              <a:ea typeface="Tahoma" panose="020B0604030504040204" pitchFamily="34" charset="0"/>
              <a:cs typeface="Tahoma" panose="020B0604030504040204" pitchFamily="34" charset="0"/>
            </a:endParaRPr>
          </a:p>
        </p:txBody>
      </p:sp>
      <p:sp>
        <p:nvSpPr>
          <p:cNvPr id="5" name="Text Placeholder 4">
            <a:extLst>
              <a:ext uri="{FF2B5EF4-FFF2-40B4-BE49-F238E27FC236}">
                <a16:creationId xmlns:a16="http://schemas.microsoft.com/office/drawing/2014/main" id="{E194D589-C330-607E-B446-0DA52AACC4E4}"/>
              </a:ext>
            </a:extLst>
          </p:cNvPr>
          <p:cNvSpPr>
            <a:spLocks noGrp="1"/>
          </p:cNvSpPr>
          <p:nvPr>
            <p:ph type="body" sz="quarter" idx="15"/>
          </p:nvPr>
        </p:nvSpPr>
        <p:spPr/>
        <p:txBody>
          <a:bodyPr/>
          <a:lstStyle/>
          <a:p>
            <a:r>
              <a:rPr lang="en-US" sz="1800" dirty="0">
                <a:latin typeface="Tahoma" panose="020B0604030504040204" pitchFamily="34" charset="0"/>
                <a:ea typeface="Tahoma" panose="020B0604030504040204" pitchFamily="34" charset="0"/>
                <a:cs typeface="Tahoma" panose="020B0604030504040204" pitchFamily="34" charset="0"/>
              </a:rPr>
              <a:t>Equip agents with faster, more reliable tools (e.g., high-performance computers, better networking equipment) to reduce delays and improve efficiency in handling complex tasks, especially hardware-related tickets.</a:t>
            </a:r>
          </a:p>
          <a:p>
            <a:endParaRPr lang="en-US" sz="1800" dirty="0">
              <a:latin typeface="Tahoma" panose="020B0604030504040204" pitchFamily="34" charset="0"/>
              <a:ea typeface="Tahoma" panose="020B0604030504040204" pitchFamily="34" charset="0"/>
              <a:cs typeface="Tahoma" panose="020B0604030504040204" pitchFamily="34" charset="0"/>
            </a:endParaRPr>
          </a:p>
        </p:txBody>
      </p:sp>
      <p:sp>
        <p:nvSpPr>
          <p:cNvPr id="6" name="Text Placeholder 5">
            <a:extLst>
              <a:ext uri="{FF2B5EF4-FFF2-40B4-BE49-F238E27FC236}">
                <a16:creationId xmlns:a16="http://schemas.microsoft.com/office/drawing/2014/main" id="{7F8B4CE7-99C9-BD2D-17D0-2B34D13B367F}"/>
              </a:ext>
            </a:extLst>
          </p:cNvPr>
          <p:cNvSpPr>
            <a:spLocks noGrp="1"/>
          </p:cNvSpPr>
          <p:nvPr>
            <p:ph type="body" sz="quarter" idx="16"/>
          </p:nvPr>
        </p:nvSpPr>
        <p:spPr/>
        <p:txBody>
          <a:bodyPr/>
          <a:lstStyle/>
          <a:p>
            <a:r>
              <a:rPr lang="en-US" sz="1800" dirty="0">
                <a:latin typeface="Tahoma" panose="020B0604030504040204" pitchFamily="34" charset="0"/>
                <a:ea typeface="Tahoma" panose="020B0604030504040204" pitchFamily="34" charset="0"/>
                <a:cs typeface="Tahoma" panose="020B0604030504040204" pitchFamily="34" charset="0"/>
              </a:rPr>
              <a:t>Use automation tools to handle repetitive tasks like ticket categorization or status updates, freeing up agents to focus on complex issues and speeding up resolution times.  </a:t>
            </a:r>
          </a:p>
        </p:txBody>
      </p:sp>
    </p:spTree>
    <p:extLst>
      <p:ext uri="{BB962C8B-B14F-4D97-AF65-F5344CB8AC3E}">
        <p14:creationId xmlns:p14="http://schemas.microsoft.com/office/powerpoint/2010/main" val="616355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7AFFB-D98A-E781-B9DC-3F2EAA1B9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02A98-C260-7B44-F19E-01AA7ABADDFA}"/>
              </a:ext>
            </a:extLst>
          </p:cNvPr>
          <p:cNvSpPr>
            <a:spLocks noGrp="1"/>
          </p:cNvSpPr>
          <p:nvPr>
            <p:ph type="title"/>
          </p:nvPr>
        </p:nvSpPr>
        <p:spPr/>
        <p:txBody>
          <a:bodyPr/>
          <a:lstStyle/>
          <a:p>
            <a:r>
              <a:rPr lang="en-IN" dirty="0">
                <a:latin typeface="Berlin Sans FB" panose="020E0602020502020306" pitchFamily="34" charset="0"/>
                <a:ea typeface="Tahoma" panose="020B0604030504040204" pitchFamily="34" charset="0"/>
                <a:cs typeface="Tahoma" panose="020B0604030504040204" pitchFamily="34" charset="0"/>
              </a:rPr>
              <a:t>Recommendations </a:t>
            </a:r>
            <a:endParaRPr lang="en-US" dirty="0">
              <a:latin typeface="Berlin Sans FB" panose="020E0602020502020306" pitchFamily="34" charset="0"/>
              <a:ea typeface="Tahoma" panose="020B0604030504040204" pitchFamily="34" charset="0"/>
              <a:cs typeface="Tahoma" panose="020B0604030504040204" pitchFamily="34" charset="0"/>
            </a:endParaRPr>
          </a:p>
        </p:txBody>
      </p:sp>
      <p:sp>
        <p:nvSpPr>
          <p:cNvPr id="3" name="Text Placeholder 2">
            <a:extLst>
              <a:ext uri="{FF2B5EF4-FFF2-40B4-BE49-F238E27FC236}">
                <a16:creationId xmlns:a16="http://schemas.microsoft.com/office/drawing/2014/main" id="{0147A2E4-FA08-7BDB-51D7-19466E8AF274}"/>
              </a:ext>
            </a:extLst>
          </p:cNvPr>
          <p:cNvSpPr>
            <a:spLocks noGrp="1"/>
          </p:cNvSpPr>
          <p:nvPr>
            <p:ph type="body" sz="quarter" idx="13"/>
          </p:nvPr>
        </p:nvSpPr>
        <p:spPr/>
        <p:txBody>
          <a:bodyPr/>
          <a:lstStyle/>
          <a:p>
            <a:r>
              <a:rPr lang="en-US" sz="2400" dirty="0">
                <a:latin typeface="Tahoma" panose="020B0604030504040204" pitchFamily="34" charset="0"/>
                <a:ea typeface="Tahoma" panose="020B0604030504040204" pitchFamily="34" charset="0"/>
                <a:cs typeface="Tahoma" panose="020B0604030504040204" pitchFamily="34" charset="0"/>
              </a:rPr>
              <a:t>AI-Driven Ticket Routing</a:t>
            </a:r>
          </a:p>
        </p:txBody>
      </p:sp>
      <p:sp>
        <p:nvSpPr>
          <p:cNvPr id="5" name="Text Placeholder 4">
            <a:extLst>
              <a:ext uri="{FF2B5EF4-FFF2-40B4-BE49-F238E27FC236}">
                <a16:creationId xmlns:a16="http://schemas.microsoft.com/office/drawing/2014/main" id="{C4C6A302-FEEB-853D-A2BB-D03942C1E2ED}"/>
              </a:ext>
            </a:extLst>
          </p:cNvPr>
          <p:cNvSpPr>
            <a:spLocks noGrp="1"/>
          </p:cNvSpPr>
          <p:nvPr>
            <p:ph type="body" sz="quarter" idx="14"/>
          </p:nvPr>
        </p:nvSpPr>
        <p:spPr>
          <a:xfrm>
            <a:off x="649223" y="3462338"/>
            <a:ext cx="10590513" cy="2162471"/>
          </a:xfrm>
        </p:spPr>
        <p:txBody>
          <a:bodyPr/>
          <a:lstStyle/>
          <a:p>
            <a:pPr marL="0" indent="0">
              <a:buNone/>
            </a:pPr>
            <a:r>
              <a:rPr lang="en-US" sz="1800" dirty="0">
                <a:latin typeface="Tahoma" panose="020B0604030504040204" pitchFamily="34" charset="0"/>
                <a:ea typeface="Tahoma" panose="020B0604030504040204" pitchFamily="34" charset="0"/>
                <a:cs typeface="Tahoma" panose="020B0604030504040204" pitchFamily="34" charset="0"/>
              </a:rPr>
              <a:t>Implement AI tools to intelligently route tickets to the most qualified agents based on expertise and availability, ensuring quicker resolution and higher quality service.  </a:t>
            </a:r>
          </a:p>
          <a:p>
            <a:pPr marL="0" indent="0">
              <a:buNone/>
            </a:pPr>
            <a:r>
              <a:rPr lang="en-US" sz="1800" dirty="0">
                <a:latin typeface="Tahoma" panose="020B0604030504040204" pitchFamily="34" charset="0"/>
                <a:ea typeface="Tahoma" panose="020B0604030504040204" pitchFamily="34" charset="0"/>
                <a:cs typeface="Tahoma" panose="020B0604030504040204" pitchFamily="34" charset="0"/>
              </a:rPr>
              <a:t>AI can also prioritize tickets, helping to address critical issues faster and more efficiently</a:t>
            </a:r>
          </a:p>
        </p:txBody>
      </p:sp>
    </p:spTree>
    <p:extLst>
      <p:ext uri="{BB962C8B-B14F-4D97-AF65-F5344CB8AC3E}">
        <p14:creationId xmlns:p14="http://schemas.microsoft.com/office/powerpoint/2010/main" val="248390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5C01-2837-2D71-254F-BAEEC669F389}"/>
              </a:ext>
            </a:extLst>
          </p:cNvPr>
          <p:cNvSpPr>
            <a:spLocks noGrp="1"/>
          </p:cNvSpPr>
          <p:nvPr>
            <p:ph type="title"/>
          </p:nvPr>
        </p:nvSpPr>
        <p:spPr/>
        <p:txBody>
          <a:bodyPr/>
          <a:lstStyle/>
          <a:p>
            <a:r>
              <a:rPr lang="en-US" dirty="0">
                <a:latin typeface="Berlin Sans FB" panose="020E0602020502020306" pitchFamily="34" charset="0"/>
                <a:ea typeface="Tahoma" panose="020B0604030504040204" pitchFamily="34" charset="0"/>
                <a:cs typeface="Tahoma" panose="020B0604030504040204" pitchFamily="34" charset="0"/>
              </a:rPr>
              <a:t>Recommendations</a:t>
            </a:r>
            <a:r>
              <a:rPr lang="en-US" dirty="0">
                <a:latin typeface="Tahoma" panose="020B0604030504040204" pitchFamily="34" charset="0"/>
                <a:ea typeface="Tahoma" panose="020B0604030504040204" pitchFamily="34" charset="0"/>
                <a:cs typeface="Tahoma" panose="020B0604030504040204" pitchFamily="34" charset="0"/>
              </a:rPr>
              <a:t> </a:t>
            </a:r>
          </a:p>
        </p:txBody>
      </p:sp>
      <p:sp>
        <p:nvSpPr>
          <p:cNvPr id="3" name="Text Placeholder 2">
            <a:extLst>
              <a:ext uri="{FF2B5EF4-FFF2-40B4-BE49-F238E27FC236}">
                <a16:creationId xmlns:a16="http://schemas.microsoft.com/office/drawing/2014/main" id="{3C23C4BE-E1DD-7EED-DB71-4D5F3B63E693}"/>
              </a:ext>
            </a:extLst>
          </p:cNvPr>
          <p:cNvSpPr>
            <a:spLocks noGrp="1"/>
          </p:cNvSpPr>
          <p:nvPr>
            <p:ph type="body" sz="quarter" idx="13"/>
          </p:nvPr>
        </p:nvSpPr>
        <p:spPr>
          <a:xfrm>
            <a:off x="365760" y="2971800"/>
            <a:ext cx="11460479" cy="490538"/>
          </a:xfrm>
        </p:spPr>
        <p:txBody>
          <a:bodyPr/>
          <a:lstStyle/>
          <a:p>
            <a:r>
              <a:rPr lang="en-US" sz="2400" b="1" dirty="0">
                <a:latin typeface="Tahoma" panose="020B0604030504040204" pitchFamily="34" charset="0"/>
                <a:ea typeface="Tahoma" panose="020B0604030504040204" pitchFamily="34" charset="0"/>
                <a:cs typeface="Tahoma" panose="020B0604030504040204" pitchFamily="34" charset="0"/>
              </a:rPr>
              <a:t>Focus on Employee and Customer Satisfaction</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5" name="Text Placeholder 4">
            <a:extLst>
              <a:ext uri="{FF2B5EF4-FFF2-40B4-BE49-F238E27FC236}">
                <a16:creationId xmlns:a16="http://schemas.microsoft.com/office/drawing/2014/main" id="{43DF41ED-5729-1B31-0C04-21385523D7E1}"/>
              </a:ext>
            </a:extLst>
          </p:cNvPr>
          <p:cNvSpPr>
            <a:spLocks noGrp="1"/>
          </p:cNvSpPr>
          <p:nvPr>
            <p:ph type="body" sz="quarter" idx="15"/>
          </p:nvPr>
        </p:nvSpPr>
        <p:spPr>
          <a:xfrm>
            <a:off x="365760" y="3401568"/>
            <a:ext cx="11430000" cy="1682750"/>
          </a:xfrm>
        </p:spPr>
        <p:txBody>
          <a:bodyPr/>
          <a:lstStyle/>
          <a:p>
            <a:pPr marL="0" indent="0">
              <a:buNone/>
            </a:pPr>
            <a:r>
              <a:rPr lang="en-US" sz="1800" dirty="0">
                <a:latin typeface="Tahoma" panose="020B0604030504040204" pitchFamily="34" charset="0"/>
                <a:ea typeface="Tahoma" panose="020B0604030504040204" pitchFamily="34" charset="0"/>
                <a:cs typeface="Tahoma" panose="020B0604030504040204" pitchFamily="34" charset="0"/>
              </a:rPr>
              <a:t>Reducing agent workload stress by automating repetitive tasks, such as ticket categorization, allows agents to focus on more complex issues, improving job satisfaction. </a:t>
            </a:r>
            <a:br>
              <a:rPr lang="en-US" sz="1800" dirty="0">
                <a:latin typeface="Tahoma" panose="020B0604030504040204" pitchFamily="34" charset="0"/>
                <a:ea typeface="Tahoma" panose="020B0604030504040204" pitchFamily="34" charset="0"/>
                <a:cs typeface="Tahoma" panose="020B0604030504040204" pitchFamily="34" charset="0"/>
              </a:rPr>
            </a:br>
            <a:r>
              <a:rPr lang="en-US" sz="1800" dirty="0">
                <a:latin typeface="Tahoma" panose="020B0604030504040204" pitchFamily="34" charset="0"/>
                <a:ea typeface="Tahoma" panose="020B0604030504040204" pitchFamily="34" charset="0"/>
                <a:cs typeface="Tahoma" panose="020B0604030504040204" pitchFamily="34" charset="0"/>
              </a:rPr>
              <a:t>Prioritizing faster resolution of critical tickets also enhances service delivery, boosting both employee morale and customer satisfaction. Efficient workflows lead to a more productive and satisfied team, benefiting everyone.</a:t>
            </a:r>
          </a:p>
        </p:txBody>
      </p:sp>
    </p:spTree>
    <p:extLst>
      <p:ext uri="{BB962C8B-B14F-4D97-AF65-F5344CB8AC3E}">
        <p14:creationId xmlns:p14="http://schemas.microsoft.com/office/powerpoint/2010/main" val="3274647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CD4B1-F723-F95D-A84E-31F26E378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69AF0-A1F3-57C8-F219-1E097609E86B}"/>
              </a:ext>
            </a:extLst>
          </p:cNvPr>
          <p:cNvSpPr>
            <a:spLocks noGrp="1"/>
          </p:cNvSpPr>
          <p:nvPr>
            <p:ph type="title"/>
          </p:nvPr>
        </p:nvSpPr>
        <p:spPr>
          <a:xfrm>
            <a:off x="381000" y="1463040"/>
            <a:ext cx="10515600" cy="575321"/>
          </a:xfrm>
        </p:spPr>
        <p:txBody>
          <a:bodyPr/>
          <a:lstStyle/>
          <a:p>
            <a:r>
              <a:rPr lang="en-US" dirty="0">
                <a:latin typeface="Berlin Sans FB" panose="020E0602020502020306" pitchFamily="34" charset="0"/>
                <a:ea typeface="Tahoma" panose="020B0604030504040204" pitchFamily="34" charset="0"/>
                <a:cs typeface="Tahoma" panose="020B0604030504040204" pitchFamily="34" charset="0"/>
              </a:rPr>
              <a:t>Recommendations </a:t>
            </a:r>
          </a:p>
        </p:txBody>
      </p:sp>
      <p:sp>
        <p:nvSpPr>
          <p:cNvPr id="3" name="Text Placeholder 2">
            <a:extLst>
              <a:ext uri="{FF2B5EF4-FFF2-40B4-BE49-F238E27FC236}">
                <a16:creationId xmlns:a16="http://schemas.microsoft.com/office/drawing/2014/main" id="{1906C684-FB5C-A83C-A38D-54232991603C}"/>
              </a:ext>
            </a:extLst>
          </p:cNvPr>
          <p:cNvSpPr>
            <a:spLocks noGrp="1"/>
          </p:cNvSpPr>
          <p:nvPr>
            <p:ph type="body" sz="quarter" idx="13"/>
          </p:nvPr>
        </p:nvSpPr>
        <p:spPr>
          <a:xfrm>
            <a:off x="193576" y="2480248"/>
            <a:ext cx="10768582" cy="490538"/>
          </a:xfrm>
        </p:spPr>
        <p:txBody>
          <a:bodyPr/>
          <a:lstStyle/>
          <a:p>
            <a:r>
              <a:rPr lang="en-US" sz="2400" b="1" dirty="0">
                <a:latin typeface="Tahoma" panose="020B0604030504040204" pitchFamily="34" charset="0"/>
                <a:ea typeface="Tahoma" panose="020B0604030504040204" pitchFamily="34" charset="0"/>
                <a:cs typeface="Tahoma" panose="020B0604030504040204" pitchFamily="34" charset="0"/>
              </a:rPr>
              <a:t>Optimize Resource Allocation</a:t>
            </a:r>
          </a:p>
          <a:p>
            <a:endParaRPr lang="en-US" sz="2400" dirty="0">
              <a:latin typeface="Tahoma" panose="020B0604030504040204" pitchFamily="34" charset="0"/>
              <a:ea typeface="Tahoma" panose="020B0604030504040204" pitchFamily="34" charset="0"/>
              <a:cs typeface="Tahoma" panose="020B0604030504040204" pitchFamily="34" charset="0"/>
            </a:endParaRPr>
          </a:p>
          <a:p>
            <a:endParaRPr lang="en-US" sz="2400" b="1" dirty="0">
              <a:latin typeface="Tahoma" panose="020B0604030504040204" pitchFamily="34" charset="0"/>
              <a:ea typeface="Tahoma" panose="020B0604030504040204" pitchFamily="34" charset="0"/>
              <a:cs typeface="Tahoma" panose="020B0604030504040204" pitchFamily="34" charset="0"/>
            </a:endParaRPr>
          </a:p>
        </p:txBody>
      </p:sp>
      <p:sp>
        <p:nvSpPr>
          <p:cNvPr id="5" name="Text Placeholder 4">
            <a:extLst>
              <a:ext uri="{FF2B5EF4-FFF2-40B4-BE49-F238E27FC236}">
                <a16:creationId xmlns:a16="http://schemas.microsoft.com/office/drawing/2014/main" id="{E8F64B01-3267-4407-442F-F6BB529030C2}"/>
              </a:ext>
            </a:extLst>
          </p:cNvPr>
          <p:cNvSpPr>
            <a:spLocks noGrp="1"/>
          </p:cNvSpPr>
          <p:nvPr>
            <p:ph type="body" sz="quarter" idx="15"/>
          </p:nvPr>
        </p:nvSpPr>
        <p:spPr>
          <a:xfrm>
            <a:off x="193576" y="2887287"/>
            <a:ext cx="12068471" cy="3343127"/>
          </a:xfrm>
        </p:spPr>
        <p:txBody>
          <a:bodyPr/>
          <a:lstStyle/>
          <a:p>
            <a:pPr marL="0" indent="0">
              <a:buNone/>
            </a:pPr>
            <a:r>
              <a:rPr lang="en-US" sz="1800" dirty="0">
                <a:latin typeface="Tahoma" panose="020B0604030504040204" pitchFamily="34" charset="0"/>
                <a:ea typeface="Tahoma" panose="020B0604030504040204" pitchFamily="34" charset="0"/>
                <a:cs typeface="Tahoma" panose="020B0604030504040204" pitchFamily="34" charset="0"/>
              </a:rPr>
              <a:t>1. Reallocate Agents Based on Ticket Volume and Complexity:</a:t>
            </a:r>
          </a:p>
          <a:p>
            <a:pPr marL="0" indent="0">
              <a:buNone/>
            </a:pPr>
            <a:r>
              <a:rPr lang="en-US" sz="1800" dirty="0">
                <a:latin typeface="Tahoma" panose="020B0604030504040204" pitchFamily="34" charset="0"/>
                <a:ea typeface="Tahoma" panose="020B0604030504040204" pitchFamily="34" charset="0"/>
                <a:cs typeface="Tahoma" panose="020B0604030504040204" pitchFamily="34" charset="0"/>
              </a:rPr>
              <a:t>By tracking ticket volume and complexity, agents can be reassigned to areas with higher demand, ensuring tasks are handled by those with the right expertise. This helps balance workloads and prevents delays, improving resolution times.</a:t>
            </a:r>
          </a:p>
          <a:p>
            <a:pPr marL="0" indent="0">
              <a:buNone/>
            </a:pPr>
            <a:r>
              <a:rPr lang="en-US" sz="1800" dirty="0">
                <a:latin typeface="Tahoma" panose="020B0604030504040204" pitchFamily="34" charset="0"/>
                <a:ea typeface="Tahoma" panose="020B0604030504040204" pitchFamily="34" charset="0"/>
                <a:cs typeface="Tahoma" panose="020B0604030504040204" pitchFamily="34" charset="0"/>
              </a:rPr>
              <a:t>2. Use Analytics to Predict Demand and Adjust Staffing:</a:t>
            </a:r>
          </a:p>
          <a:p>
            <a:pPr marL="0" indent="0">
              <a:buNone/>
            </a:pPr>
            <a:r>
              <a:rPr lang="en-US" sz="1800" dirty="0">
                <a:latin typeface="Tahoma" panose="020B0604030504040204" pitchFamily="34" charset="0"/>
                <a:ea typeface="Tahoma" panose="020B0604030504040204" pitchFamily="34" charset="0"/>
                <a:cs typeface="Tahoma" panose="020B0604030504040204" pitchFamily="34" charset="0"/>
              </a:rPr>
              <a:t>Analytics tools can forecast ticket trends, allowing for proactive staffing adjustments during peak times. This ensures the right number of agents are available, optimizing efficiency and preventing both overstaffing and understaffing.</a:t>
            </a:r>
          </a:p>
          <a:p>
            <a:pPr marL="0" indent="0">
              <a:buNone/>
            </a:pPr>
            <a:endParaRPr lang="en-US" sz="1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11542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C87D0-06B5-1B86-2118-6FAB0F06B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F9F97-7242-4951-A826-B89CFCDC6FF2}"/>
              </a:ext>
            </a:extLst>
          </p:cNvPr>
          <p:cNvSpPr>
            <a:spLocks noGrp="1"/>
          </p:cNvSpPr>
          <p:nvPr>
            <p:ph type="title"/>
          </p:nvPr>
        </p:nvSpPr>
        <p:spPr>
          <a:xfrm>
            <a:off x="83299" y="29672"/>
            <a:ext cx="4397830" cy="697304"/>
          </a:xfrm>
        </p:spPr>
        <p:txBody>
          <a:bodyPr/>
          <a:lstStyle/>
          <a:p>
            <a:pPr algn="ctr"/>
            <a:r>
              <a:rPr lang="en-US" sz="5000" dirty="0">
                <a:latin typeface="Berlin Sans FB" panose="020E0602020502020306" pitchFamily="34" charset="0"/>
                <a:ea typeface="Tahoma" panose="020B0604030504040204" pitchFamily="34" charset="0"/>
                <a:cs typeface="Tahoma" panose="020B0604030504040204" pitchFamily="34" charset="0"/>
              </a:rPr>
              <a:t>dashboard</a:t>
            </a:r>
          </a:p>
        </p:txBody>
      </p:sp>
      <p:pic>
        <p:nvPicPr>
          <p:cNvPr id="4" name="Picture 3">
            <a:extLst>
              <a:ext uri="{FF2B5EF4-FFF2-40B4-BE49-F238E27FC236}">
                <a16:creationId xmlns:a16="http://schemas.microsoft.com/office/drawing/2014/main" id="{6E1B23A3-D1D2-37FC-8647-432BD59C8EA3}"/>
              </a:ext>
            </a:extLst>
          </p:cNvPr>
          <p:cNvPicPr>
            <a:picLocks noChangeAspect="1"/>
          </p:cNvPicPr>
          <p:nvPr/>
        </p:nvPicPr>
        <p:blipFill>
          <a:blip r:embed="rId2"/>
          <a:stretch>
            <a:fillRect/>
          </a:stretch>
        </p:blipFill>
        <p:spPr>
          <a:xfrm>
            <a:off x="83299" y="1391478"/>
            <a:ext cx="9819861" cy="4179063"/>
          </a:xfrm>
          <a:prstGeom prst="rect">
            <a:avLst/>
          </a:prstGeom>
        </p:spPr>
      </p:pic>
    </p:spTree>
    <p:extLst>
      <p:ext uri="{BB962C8B-B14F-4D97-AF65-F5344CB8AC3E}">
        <p14:creationId xmlns:p14="http://schemas.microsoft.com/office/powerpoint/2010/main" val="2279016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8A6F-C726-5864-7345-30911B679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85991-46ED-9C3A-A086-1BA25C1614F0}"/>
              </a:ext>
            </a:extLst>
          </p:cNvPr>
          <p:cNvSpPr>
            <a:spLocks noGrp="1"/>
          </p:cNvSpPr>
          <p:nvPr>
            <p:ph type="title"/>
          </p:nvPr>
        </p:nvSpPr>
        <p:spPr>
          <a:xfrm>
            <a:off x="0" y="1399032"/>
            <a:ext cx="4100052" cy="1682749"/>
          </a:xfrm>
        </p:spPr>
        <p:txBody>
          <a:bodyPr/>
          <a:lstStyle/>
          <a:p>
            <a:r>
              <a:rPr lang="en-IN" dirty="0">
                <a:solidFill>
                  <a:schemeClr val="accent6">
                    <a:lumMod val="50000"/>
                  </a:schemeClr>
                </a:solidFill>
                <a:latin typeface="Berlin Sans FB" panose="020E0602020502020306" pitchFamily="34" charset="0"/>
                <a:ea typeface="Tahoma" panose="020B0604030504040204" pitchFamily="34" charset="0"/>
                <a:cs typeface="Tahoma" panose="020B0604030504040204" pitchFamily="34" charset="0"/>
              </a:rPr>
              <a:t>CONCLUSION  </a:t>
            </a:r>
            <a:endParaRPr lang="en-US" dirty="0">
              <a:solidFill>
                <a:schemeClr val="accent6">
                  <a:lumMod val="50000"/>
                </a:schemeClr>
              </a:solidFill>
              <a:latin typeface="Berlin Sans FB" panose="020E0602020502020306" pitchFamily="34" charset="0"/>
              <a:ea typeface="Tahoma" panose="020B0604030504040204" pitchFamily="34" charset="0"/>
              <a:cs typeface="Tahoma" panose="020B0604030504040204" pitchFamily="34" charset="0"/>
            </a:endParaRPr>
          </a:p>
        </p:txBody>
      </p:sp>
      <p:sp>
        <p:nvSpPr>
          <p:cNvPr id="5" name="Text Placeholder 4">
            <a:extLst>
              <a:ext uri="{FF2B5EF4-FFF2-40B4-BE49-F238E27FC236}">
                <a16:creationId xmlns:a16="http://schemas.microsoft.com/office/drawing/2014/main" id="{75212A61-033F-8DD0-42D0-368A32D67E27}"/>
              </a:ext>
            </a:extLst>
          </p:cNvPr>
          <p:cNvSpPr>
            <a:spLocks noGrp="1"/>
          </p:cNvSpPr>
          <p:nvPr>
            <p:ph type="body" sz="quarter" idx="15"/>
          </p:nvPr>
        </p:nvSpPr>
        <p:spPr>
          <a:xfrm>
            <a:off x="5973097" y="680531"/>
            <a:ext cx="6152642" cy="1682750"/>
          </a:xfrm>
        </p:spPr>
        <p:txBody>
          <a:bodyPr/>
          <a:lstStyle/>
          <a:p>
            <a:pPr marL="0" indent="0">
              <a:buNone/>
            </a:pPr>
            <a:r>
              <a:rPr lang="en-US" sz="1800" dirty="0">
                <a:latin typeface="Tahoma" panose="020B0604030504040204" pitchFamily="34" charset="0"/>
                <a:ea typeface="Tahoma" panose="020B0604030504040204" pitchFamily="34" charset="0"/>
                <a:cs typeface="Tahoma" panose="020B0604030504040204" pitchFamily="34" charset="0"/>
              </a:rPr>
              <a:t>In conclusion, the IT support team has managed to maintain a steady increase in customer satisfaction despite rising ticket volumes, demonstrating operational resilience. However, resolution times, particularly for hardware issues, indicate areas for improvement. By reallocating resources, providing targeted training, and</a:t>
            </a:r>
          </a:p>
          <a:p>
            <a:pPr marL="0" indent="0">
              <a:buFont typeface="Arial" panose="020B0604020202020204" pitchFamily="34" charset="0"/>
              <a:buNone/>
            </a:pPr>
            <a:r>
              <a:rPr lang="en-US" sz="1800" dirty="0">
                <a:latin typeface="Tahoma" panose="020B0604030504040204" pitchFamily="34" charset="0"/>
                <a:ea typeface="Tahoma" panose="020B0604030504040204" pitchFamily="34" charset="0"/>
                <a:cs typeface="Tahoma" panose="020B0604030504040204" pitchFamily="34" charset="0"/>
              </a:rPr>
              <a:t>leveraging the expertise of experienced team members, efficiency can be enhanced. Investing in advanced technology and optimizing workflows will further reduce resolution times and improve service quality. With data- driven decisions and strategic resource management,</a:t>
            </a:r>
          </a:p>
          <a:p>
            <a:pPr marL="0" indent="0">
              <a:buFont typeface="Arial" panose="020B0604020202020204" pitchFamily="34" charset="0"/>
              <a:buNone/>
            </a:pPr>
            <a:r>
              <a:rPr lang="en-US" sz="1800" dirty="0">
                <a:latin typeface="Tahoma" panose="020B0604030504040204" pitchFamily="34" charset="0"/>
                <a:ea typeface="Tahoma" panose="020B0604030504040204" pitchFamily="34" charset="0"/>
                <a:cs typeface="Tahoma" panose="020B0604030504040204" pitchFamily="34" charset="0"/>
              </a:rPr>
              <a:t>the team can continue to deliver high-quality support while adapting to growing demands.</a:t>
            </a:r>
          </a:p>
          <a:p>
            <a:pPr marL="0" indent="0">
              <a:buNone/>
            </a:pPr>
            <a:endParaRPr lang="en-US" sz="1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60186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5D9C8-8D57-DAB1-630B-EE0E1FE4F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CBC477-A06A-7C7F-7ACF-671F0841D620}"/>
              </a:ext>
            </a:extLst>
          </p:cNvPr>
          <p:cNvSpPr>
            <a:spLocks noGrp="1"/>
          </p:cNvSpPr>
          <p:nvPr>
            <p:ph type="title"/>
          </p:nvPr>
        </p:nvSpPr>
        <p:spPr>
          <a:xfrm>
            <a:off x="1179871" y="1426464"/>
            <a:ext cx="8981767" cy="1702816"/>
          </a:xfrm>
        </p:spPr>
        <p:txBody>
          <a:bodyPr/>
          <a:lstStyle/>
          <a:p>
            <a:r>
              <a:rPr lang="en-US" dirty="0"/>
              <a:t>Thank You</a:t>
            </a:r>
          </a:p>
        </p:txBody>
      </p:sp>
    </p:spTree>
    <p:extLst>
      <p:ext uri="{BB962C8B-B14F-4D97-AF65-F5344CB8AC3E}">
        <p14:creationId xmlns:p14="http://schemas.microsoft.com/office/powerpoint/2010/main" val="425741038"/>
      </p:ext>
    </p:extLst>
  </p:cSld>
  <p:clrMapOvr>
    <a:masterClrMapping/>
  </p:clrMapOvr>
</p:sld>
</file>

<file path=ppt/theme/theme1.xml><?xml version="1.0" encoding="utf-8"?>
<a:theme xmlns:a="http://schemas.openxmlformats.org/drawingml/2006/main" name="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Custom 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_Status_Report_Win32_jx_v12" id="{5D6FBA16-B4D1-4307-B1D7-61285FA0D9C0}" vid="{1DA9E459-46CB-4408-AA4C-63950E2E54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1F98F7-6576-47F1-AD63-56E26C33974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783CE7D-BFC6-4030-A335-E7F88DB664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B4CAA5-BE7A-46AB-97ED-63B24C46A3A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805</TotalTime>
  <Words>1496</Words>
  <Application>Microsoft Office PowerPoint</Application>
  <PresentationFormat>Widescreen</PresentationFormat>
  <Paragraphs>152</Paragraphs>
  <Slides>23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Bahnschrift SemiLight</vt:lpstr>
      <vt:lpstr>Berlin Sans FB</vt:lpstr>
      <vt:lpstr>Calibri</vt:lpstr>
      <vt:lpstr>Lato</vt:lpstr>
      <vt:lpstr>Tahoma</vt:lpstr>
      <vt:lpstr>Wingdings</vt:lpstr>
      <vt:lpstr>Office Theme</vt:lpstr>
      <vt:lpstr>IT TICKET ANALYSIS</vt:lpstr>
      <vt:lpstr>INTRODUCTION</vt:lpstr>
      <vt:lpstr>PROBLEM STATEMENT</vt:lpstr>
      <vt:lpstr>Data  OVERVIEW </vt:lpstr>
      <vt:lpstr>Attributes of data tickets sheet </vt:lpstr>
      <vt:lpstr>Attributes of data it agents  </vt:lpstr>
      <vt:lpstr> </vt:lpstr>
      <vt:lpstr> </vt:lpstr>
      <vt:lpstr> </vt:lpstr>
      <vt:lpstr> </vt:lpstr>
      <vt:lpstr>PowerPoint Presentation</vt:lpstr>
      <vt:lpstr> </vt:lpstr>
      <vt:lpstr> </vt:lpstr>
      <vt:lpstr>PowerPoint Presentation</vt:lpstr>
      <vt:lpstr> </vt:lpstr>
      <vt:lpstr> </vt:lpstr>
      <vt:lpstr>Recommendations </vt:lpstr>
      <vt:lpstr>Recommendations </vt:lpstr>
      <vt:lpstr>Recommendations </vt:lpstr>
      <vt:lpstr>Recommendations </vt:lpstr>
      <vt:lpstr>dashboard</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ASHUTOSH KAR</dc:creator>
  <cp:lastModifiedBy>ASHUTOSH KAR</cp:lastModifiedBy>
  <cp:revision>3</cp:revision>
  <dcterms:created xsi:type="dcterms:W3CDTF">2022-06-28T06:29:45Z</dcterms:created>
  <dcterms:modified xsi:type="dcterms:W3CDTF">2026-09-25T01:20:52Z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